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5" r:id="rId4"/>
  </p:sldMasterIdLst>
  <p:notesMasterIdLst>
    <p:notesMasterId r:id="rId24"/>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9"/>
    <p:sldId id="271" r:id="rId8"/>
    <p:sldId id="272" r:id="rId7"/>
    <p:sldId id="273" r:id="rId6"/>
    <p:sldId id="274" r:id="rId5"/>
    <p:sldId id="275" r:id="rId29"/>
    <p:sldId id="276" r:id="rId30"/>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2A84"/>
    <a:srgbClr val="401F68"/>
    <a:srgbClr val="3F1F68"/>
    <a:srgbClr val="ED5540"/>
    <a:srgbClr val="FFC622"/>
    <a:srgbClr val="00865B"/>
    <a:srgbClr val="7FCECD"/>
    <a:srgbClr val="5191CD"/>
    <a:srgbClr val="57B946"/>
    <a:srgbClr val="D9C8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66"/>
    <p:restoredTop sz="94830"/>
  </p:normalViewPr>
  <p:slideViewPr>
    <p:cSldViewPr snapToGrid="0" showGuides="1">
      <p:cViewPr varScale="1">
        <p:scale>
          <a:sx n="121" d="100"/>
          <a:sy n="121" d="100"/>
        </p:scale>
        <p:origin x="896" y="176"/>
      </p:cViewPr>
      <p:guideLst>
        <p:guide orient="horz" pos="2160"/>
        <p:guide pos="3840"/>
      </p:guideLst>
    </p:cSldViewPr>
  </p:slideViewPr>
  <p:notesTextViewPr>
    <p:cViewPr>
      <p:scale>
        <a:sx n="1" d="1"/>
        <a:sy n="1" d="1"/>
      </p:scale>
      <p:origin x="0" y="0"/>
    </p:cViewPr>
  </p:notesTextViewPr>
  <p:sorterViewPr>
    <p:cViewPr>
      <p:scale>
        <a:sx n="123" d="100"/>
        <a:sy n="123"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9.xml"/><Relationship Id="rId6" Type="http://schemas.openxmlformats.org/officeDocument/2006/relationships/slide" Target="slides/slide18.xml"/><Relationship Id="rId7" Type="http://schemas.openxmlformats.org/officeDocument/2006/relationships/slide" Target="slides/slide17.xml"/><Relationship Id="rId8" Type="http://schemas.openxmlformats.org/officeDocument/2006/relationships/slide" Target="slides/slide16.xml"/><Relationship Id="rId9" Type="http://schemas.openxmlformats.org/officeDocument/2006/relationships/slide" Target="slides/slide15.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20.xml"/><Relationship Id="rId30"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66F302-C2A4-DD49-A872-2BB2B3F2F0AF}" type="datetimeFigureOut">
              <a:rPr lang="en-US" smtClean="0"/>
              <a:t>2/22/26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9966F-DF03-C541-8CA6-08220F08542C}" type="slidenum">
              <a:rPr lang="en-US" smtClean="0"/>
              <a:t>‹#›</a:t>
            </a:fld>
            <a:endParaRPr lang="en-US"/>
          </a:p>
        </p:txBody>
      </p:sp>
    </p:spTree>
    <p:extLst>
      <p:ext uri="{BB962C8B-B14F-4D97-AF65-F5344CB8AC3E}">
        <p14:creationId xmlns:p14="http://schemas.microsoft.com/office/powerpoint/2010/main" val="2922677044"/>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Today's talk shifts our focus away from traumatic diaphragm injury to non-traumatic causes of diaphragm dysfunction in adults. This is a topic that spans multiple specialties — thoracic surgery, neurology, pulmonary medicine, and critical care — and is frequently under-recognized.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talk you should be able to recognize and work up diaphragm dysfunction, distinguish between the major non-traumatic etiologies, and make rational management decisions including when to offer plication or diaphragm pacing.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anatomy and physiology relevant to understanding why the diaphragm fails in these conditions.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phrenic nerve is the sole motor supply to the diaphragm — there is no redundancy. Its long course from C3–C5 through the neck and mediastinum creates many opportunities for injury. The left phrenic nerve is particularly vulnerable given its longer course over the aortic arch and pericardium. This is why left-sided palsy predominates after cardiac surgery.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important for counseling patients. Unilateral paralysis in a healthy adult is often surprisingly well tolerated because the contralateral diaphragm and accessory muscles compensate. However, place that same patient supine — as in sleep or postoperatively — and the FVC can drop 40–50%, explaining the classic complaint of orthopnea. Bilateral dysfunction is a different beast entirely and typically requires ventilatory support.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go through the major non-traumatic etiologies systematically.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etiologies span three broad categories. Neurological causes include iatrogenic injury and inflammatory neuropathies. Neuromuscular disorders — such as ALS and muscular dystrophies — affect the motor unit below the phrenic nerve. Compressive or structural causes include mediastinal masses or degenerative cervical disease. A substantial minority — roughly 10–20% of unilateral cases — remain idiopathic even after a complete workup.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Iatrogenic phrenic injury is the most common identifiable cause in surgical patients. Cardiac surgery is the classic setting — cold cardioplegia and ice slush directly cool the phrenic nerve as it runs along the pericardium. For cryoablation of atrial fibrillation, fluoroscopic monitoring of the phrenic nerve is now standard to prevent injury. Always ask about prior cardiac, thoracic, or cervical surgery when evaluating unexplained hemidiaphragm elevation.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Parsonage-Turner syndrome is one of the most underdiagnosed conditions in this space. Many of these patients are worked up extensively for cardiac and pulmonary disease before the correct diagnosis is made. The key teaching point: phrenic-predominant PTS presents with dyspnea alone, without arm pain — the classic description. MRI brachial plexus has become increasingly useful to confirm the diagnosis. Most patients recover over 2–3 years, so the bar for surgical intervention is high — reserve plication for those without recovery at 18–24 months.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Cervical SCI is the most clinically impactful cause of bilateral diaphragm dysfunction. The level of injury relative to C3–C4–C5 is everything. Patients with complete injury at or above C3 have no diaphragm function whatsoever. Degenerative cervical myelopathy is an increasingly recognized cause of slowly progressive dyspnea that gets misattributed to cardiopulmonary disease — always look at the C-spine MRI in unexplained exertional dyspnea in older patients with neck pain.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neuromuscular disease, the diaphragm is often the rate-limiting organ for survival. In ALS, initiating NIV before the FVC drops below 50% has level I evidence for survival benefit. Pompe disease deserves special mention — it's treatable, but only if diagnosed. Any adult with unexplained proximal weakness and respiratory failure should have GAA enzyme activity measured. Ventilator-induced diaphragm dysfunction (VIDD) is a critical care phenomenon: the diaphragm atrophies within 18–69 hours of controlled mechanical ventilation — a compelling argument for spontaneous breathing modes in the ICU.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now discuss how to make the diagnosis.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sensitive symptom is orthopnea — patients with bilateral dysfunction literally cannot lie flat. Unilateral paralysis is often asymptomatic at rest and only becomes apparent with exertion or in the setting of underlying pulmonary disease. On exam, look for accessory muscle use at rest, which suggests significant bilateral involvement. A careful neurologic exam often points toward the etiology before imaging is obtained.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sniff test under fluoroscopy remains the most accessible functional test. Ultrasound is increasingly replacing fluoroscopy — the thickening fraction is measurable at the bedside without radiation. Phrenic NCS/EMG is essential to distinguish upper motor neuron lesions (SCI, myelopathy) from lower motor neuron or peripheral nerve causes. The presence of denervation on needle EMG of the diaphragm is definitive evidence of phrenic neuropathy and helps guide prognosis. Don't forget to compare supine and upright spirometry — a &gt;20% drop is a red flag.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Management depends entirely on etiology, laterality, severity, and prognosis for recovery.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first step is always treating the underlying cause. For iatrogenic injury and PTS, watchful waiting with optimization of respiratory reserve is the appropriate initial approach. NIV is the cornerstone of management for bilateral dysfunction from any neuromuscular cause. For ALS patients specifically, NIV initiation at the right time is one of the highest-yield interventions we have.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Diaphragm plication is a well-established and durable procedure for symptomatic unilateral paralysis. The VATS approach has essentially replaced open thoracotomy at high-volume centers. The key patient selection criteria: symptoms that meaningfully limit quality of life, duration of paralysis beyond the window for spontaneous recovery, and no expectation of neurologic improvement. Functional gains are significant — typically a 15–25% improvement in FVC — and are maintained long-term.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Diaphragm pacing is transformative for appropriately selected SCI patients. The NeuRx DPS system uses laparoscopically placed intramuscular electrodes and has FDA approval for SCI and as a compassionate use device in ALS. The critical prerequisite is an intact lower motor neuron — if the phrenic nerve is irreversibly damaged, there is nothing to stimulate. The ALS experience has been sobering — the VITALS trial showed no benefit and potential harm — so this should not be offered routinely in ALS outside of trials.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the key messages are to know the phrenic nerve anatomy, maintain a broad differential with particular attention to surgical history and Parsonage-Turner, use functional testing — especially the supine FVC drop and diaphragm ultrasound — to quantify dysfunction, and individualize management based on etiology, laterality, and prognosis for recovery.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selected references anchor the evidence presented today. The van Alfen brachial plexus series remains the most comprehensive description of Parsonage-Turner. The VITALS trial is essential reading for anyone considering diaphragm pacing in ALS.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9.png"/><Relationship Id="rId5" Type="http://schemas.openxmlformats.org/officeDocument/2006/relationships/image" Target="../media/image10.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3.png"/><Relationship Id="rId5" Type="http://schemas.openxmlformats.org/officeDocument/2006/relationships/image" Target="../media/image11.svg"/><Relationship Id="rId6"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4_Title Slide">
    <p:bg>
      <p:bgPr>
        <a:solidFill>
          <a:srgbClr val="002060"/>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CC80DDE-5F41-EE3C-EB7B-9FBEFB63CCBF}"/>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p>
        </p:txBody>
      </p:sp>
      <p:pic>
        <p:nvPicPr>
          <p:cNvPr id="6" name="Graphic 5">
            <a:extLst>
              <a:ext uri="{FF2B5EF4-FFF2-40B4-BE49-F238E27FC236}">
                <a16:creationId xmlns:a16="http://schemas.microsoft.com/office/drawing/2014/main" id="{EE1DC21C-4F9E-0208-0F33-5EDF26C2E74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7466" t="-148" r="7377" b="148"/>
          <a:stretch/>
        </p:blipFill>
        <p:spPr>
          <a:xfrm>
            <a:off x="2544076" y="-1"/>
            <a:ext cx="9650579" cy="6858000"/>
          </a:xfrm>
          <a:prstGeom prst="rect">
            <a:avLst/>
          </a:prstGeom>
        </p:spPr>
      </p:pic>
      <p:pic>
        <p:nvPicPr>
          <p:cNvPr id="8" name="Picture 7" descr="A black and purple rectangle&#10;&#10;Description automatically generated">
            <a:extLst>
              <a:ext uri="{FF2B5EF4-FFF2-40B4-BE49-F238E27FC236}">
                <a16:creationId xmlns:a16="http://schemas.microsoft.com/office/drawing/2014/main" id="{698B5895-ED31-F534-FBC8-F8EAF2BE7248}"/>
              </a:ext>
            </a:extLst>
          </p:cNvPr>
          <p:cNvPicPr>
            <a:picLocks noChangeAspect="1"/>
          </p:cNvPicPr>
          <p:nvPr/>
        </p:nvPicPr>
        <p:blipFill rotWithShape="1">
          <a:blip r:embed="rId4"/>
          <a:srcRect r="26250"/>
          <a:stretch/>
        </p:blipFill>
        <p:spPr>
          <a:xfrm>
            <a:off x="0" y="0"/>
            <a:ext cx="8991600" cy="6858000"/>
          </a:xfrm>
          <a:prstGeom prst="rect">
            <a:avLst/>
          </a:prstGeom>
        </p:spPr>
      </p:pic>
      <p:sp>
        <p:nvSpPr>
          <p:cNvPr id="2" name="Title 1"/>
          <p:cNvSpPr>
            <a:spLocks noGrp="1"/>
          </p:cNvSpPr>
          <p:nvPr>
            <p:ph type="ctrTitle"/>
          </p:nvPr>
        </p:nvSpPr>
        <p:spPr>
          <a:xfrm>
            <a:off x="370418" y="2011680"/>
            <a:ext cx="6232649" cy="2387600"/>
          </a:xfrm>
        </p:spPr>
        <p:txBody>
          <a:bodyPr anchor="b"/>
          <a:lstStyle>
            <a:lvl1pPr algn="l">
              <a:defRPr sz="5200" spc="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370416" y="4450080"/>
            <a:ext cx="8350251" cy="806099"/>
          </a:xfrm>
        </p:spPr>
        <p:txBody>
          <a:bodyPr>
            <a:noAutofit/>
          </a:bodyPr>
          <a:lstStyle>
            <a:lvl1pPr marL="0" indent="0" algn="l">
              <a:lnSpc>
                <a:spcPct val="90000"/>
              </a:lnSpc>
              <a:buNone/>
              <a:defRPr sz="2400" b="0" i="0">
                <a:solidFill>
                  <a:schemeClr val="bg1"/>
                </a:solidFill>
                <a:latin typeface="+mn-lt"/>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4" name="Text Placeholder 13">
            <a:extLst>
              <a:ext uri="{FF2B5EF4-FFF2-40B4-BE49-F238E27FC236}">
                <a16:creationId xmlns:a16="http://schemas.microsoft.com/office/drawing/2014/main" id="{9AE824A5-746D-85C5-A198-2205E97BEC3A}"/>
              </a:ext>
            </a:extLst>
          </p:cNvPr>
          <p:cNvSpPr>
            <a:spLocks noGrp="1"/>
          </p:cNvSpPr>
          <p:nvPr>
            <p:ph type="body" sz="quarter" idx="12" hasCustomPrompt="1"/>
          </p:nvPr>
        </p:nvSpPr>
        <p:spPr>
          <a:xfrm>
            <a:off x="348644" y="5968182"/>
            <a:ext cx="3054955" cy="379777"/>
          </a:xfrm>
        </p:spPr>
        <p:txBody>
          <a:bodyPr>
            <a:noAutofit/>
          </a:bodyPr>
          <a:lstStyle>
            <a:lvl1pPr>
              <a:defRPr sz="2400" b="0" i="0">
                <a:solidFill>
                  <a:schemeClr val="bg1"/>
                </a:solidFill>
                <a:latin typeface="+mn-lt"/>
              </a:defRPr>
            </a:lvl1pPr>
            <a:lvl2pPr>
              <a:defRPr sz="1067" b="0" i="0">
                <a:latin typeface="Aptos Light" panose="020B0004020202020204" pitchFamily="34" charset="0"/>
              </a:defRPr>
            </a:lvl2pPr>
            <a:lvl3pPr marL="8466" indent="0">
              <a:buNone/>
              <a:defRPr sz="1067" b="0" i="0">
                <a:latin typeface="Aptos Light" panose="020B0004020202020204" pitchFamily="34" charset="0"/>
              </a:defRPr>
            </a:lvl3pPr>
            <a:lvl4pPr marL="232828" indent="0">
              <a:buNone/>
              <a:defRPr sz="1067" b="0" i="0">
                <a:latin typeface="Aptos Light" panose="020B0004020202020204" pitchFamily="34" charset="0"/>
              </a:defRPr>
            </a:lvl4pPr>
            <a:lvl5pPr marL="459305" indent="0">
              <a:buNone/>
              <a:defRPr sz="1067" b="0" i="0">
                <a:latin typeface="Aptos Light" panose="020B0004020202020204" pitchFamily="34" charset="0"/>
              </a:defRPr>
            </a:lvl5pPr>
          </a:lstStyle>
          <a:p>
            <a:pPr lvl="0"/>
            <a:r>
              <a:rPr lang="en-US" dirty="0"/>
              <a:t>Date goes here</a:t>
            </a:r>
          </a:p>
        </p:txBody>
      </p:sp>
      <p:pic>
        <p:nvPicPr>
          <p:cNvPr id="11" name="Picture 10" descr="A close-up of a black background&#10;&#10;Description automatically generated">
            <a:extLst>
              <a:ext uri="{FF2B5EF4-FFF2-40B4-BE49-F238E27FC236}">
                <a16:creationId xmlns:a16="http://schemas.microsoft.com/office/drawing/2014/main" id="{70B404AA-6868-9861-CB35-1A69CCFBB699}"/>
              </a:ext>
            </a:extLst>
          </p:cNvPr>
          <p:cNvPicPr>
            <a:picLocks noChangeAspect="1"/>
          </p:cNvPicPr>
          <p:nvPr/>
        </p:nvPicPr>
        <p:blipFill>
          <a:blip r:embed="rId5"/>
          <a:stretch>
            <a:fillRect/>
          </a:stretch>
        </p:blipFill>
        <p:spPr>
          <a:xfrm>
            <a:off x="513212" y="313267"/>
            <a:ext cx="2257273" cy="421109"/>
          </a:xfrm>
          <a:prstGeom prst="rect">
            <a:avLst/>
          </a:prstGeom>
        </p:spPr>
      </p:pic>
      <p:pic>
        <p:nvPicPr>
          <p:cNvPr id="9" name="Picture 8" descr="A close-up of a black background&#10;&#10;Description automatically generated">
            <a:extLst>
              <a:ext uri="{FF2B5EF4-FFF2-40B4-BE49-F238E27FC236}">
                <a16:creationId xmlns:a16="http://schemas.microsoft.com/office/drawing/2014/main" id="{6B50AED2-E296-8EC6-0C25-865058CB2E4F}"/>
              </a:ext>
            </a:extLst>
          </p:cNvPr>
          <p:cNvPicPr>
            <a:picLocks noChangeAspect="1"/>
          </p:cNvPicPr>
          <p:nvPr/>
        </p:nvPicPr>
        <p:blipFill>
          <a:blip r:embed="rId5"/>
          <a:stretch>
            <a:fillRect/>
          </a:stretch>
        </p:blipFill>
        <p:spPr>
          <a:xfrm>
            <a:off x="513212" y="313267"/>
            <a:ext cx="2257273" cy="421109"/>
          </a:xfrm>
          <a:prstGeom prst="rect">
            <a:avLst/>
          </a:prstGeom>
        </p:spPr>
      </p:pic>
      <p:pic>
        <p:nvPicPr>
          <p:cNvPr id="4" name="Picture 3" descr="A close-up of a black background&#10;&#10;Description automatically generated">
            <a:extLst>
              <a:ext uri="{FF2B5EF4-FFF2-40B4-BE49-F238E27FC236}">
                <a16:creationId xmlns:a16="http://schemas.microsoft.com/office/drawing/2014/main" id="{1BB464D5-BC3C-3EAB-C9A0-620A7EF187D2}"/>
              </a:ext>
            </a:extLst>
          </p:cNvPr>
          <p:cNvPicPr>
            <a:picLocks noChangeAspect="1"/>
          </p:cNvPicPr>
          <p:nvPr/>
        </p:nvPicPr>
        <p:blipFill>
          <a:blip r:embed="rId5"/>
          <a:stretch>
            <a:fillRect/>
          </a:stretch>
        </p:blipFill>
        <p:spPr>
          <a:xfrm>
            <a:off x="513212" y="313267"/>
            <a:ext cx="2257273" cy="421109"/>
          </a:xfrm>
          <a:prstGeom prst="rect">
            <a:avLst/>
          </a:prstGeom>
        </p:spPr>
      </p:pic>
      <p:pic>
        <p:nvPicPr>
          <p:cNvPr id="5" name="Picture 4" descr="A close-up of a black background&#10;&#10;Description automatically generated">
            <a:extLst>
              <a:ext uri="{FF2B5EF4-FFF2-40B4-BE49-F238E27FC236}">
                <a16:creationId xmlns:a16="http://schemas.microsoft.com/office/drawing/2014/main" id="{44509C4F-D646-F4FE-6DE9-9CD5142CF150}"/>
              </a:ext>
            </a:extLst>
          </p:cNvPr>
          <p:cNvPicPr>
            <a:picLocks noChangeAspect="1"/>
          </p:cNvPicPr>
          <p:nvPr/>
        </p:nvPicPr>
        <p:blipFill>
          <a:blip r:embed="rId5"/>
          <a:stretch>
            <a:fillRect/>
          </a:stretch>
        </p:blipFill>
        <p:spPr>
          <a:xfrm>
            <a:off x="513212" y="313267"/>
            <a:ext cx="2257273" cy="421109"/>
          </a:xfrm>
          <a:prstGeom prst="rect">
            <a:avLst/>
          </a:prstGeom>
        </p:spPr>
      </p:pic>
      <p:pic>
        <p:nvPicPr>
          <p:cNvPr id="7" name="Picture 6" descr="A close-up of a black background&#10;&#10;Description automatically generated">
            <a:extLst>
              <a:ext uri="{FF2B5EF4-FFF2-40B4-BE49-F238E27FC236}">
                <a16:creationId xmlns:a16="http://schemas.microsoft.com/office/drawing/2014/main" id="{E8CBB750-1EF2-9278-90F3-8D15BC15E25B}"/>
              </a:ext>
            </a:extLst>
          </p:cNvPr>
          <p:cNvPicPr>
            <a:picLocks noChangeAspect="1"/>
          </p:cNvPicPr>
          <p:nvPr userDrawn="1"/>
        </p:nvPicPr>
        <p:blipFill>
          <a:blip r:embed="rId5"/>
          <a:stretch>
            <a:fillRect/>
          </a:stretch>
        </p:blipFill>
        <p:spPr>
          <a:xfrm>
            <a:off x="513212" y="313267"/>
            <a:ext cx="2257273" cy="421109"/>
          </a:xfrm>
          <a:prstGeom prst="rect">
            <a:avLst/>
          </a:prstGeom>
        </p:spPr>
      </p:pic>
    </p:spTree>
    <p:extLst>
      <p:ext uri="{BB962C8B-B14F-4D97-AF65-F5344CB8AC3E}">
        <p14:creationId xmlns:p14="http://schemas.microsoft.com/office/powerpoint/2010/main" val="20372208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16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70418" y="2505665"/>
            <a:ext cx="6232649" cy="2387600"/>
          </a:xfrm>
        </p:spPr>
        <p:txBody>
          <a:bodyPr anchor="b"/>
          <a:lstStyle>
            <a:lvl1pPr algn="l">
              <a:defRPr sz="5200" spc="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370416" y="4945703"/>
            <a:ext cx="5217583" cy="806099"/>
          </a:xfrm>
        </p:spPr>
        <p:txBody>
          <a:bodyPr>
            <a:noAutofit/>
          </a:bodyPr>
          <a:lstStyle>
            <a:lvl1pPr marL="0" indent="0" algn="l">
              <a:lnSpc>
                <a:spcPct val="90000"/>
              </a:lnSpc>
              <a:buNone/>
              <a:defRPr sz="2400" b="0" i="0">
                <a:solidFill>
                  <a:schemeClr val="bg1"/>
                </a:solidFill>
                <a:latin typeface="+mn-lt"/>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4" name="Text Placeholder 13">
            <a:extLst>
              <a:ext uri="{FF2B5EF4-FFF2-40B4-BE49-F238E27FC236}">
                <a16:creationId xmlns:a16="http://schemas.microsoft.com/office/drawing/2014/main" id="{9AE824A5-746D-85C5-A198-2205E97BEC3A}"/>
              </a:ext>
            </a:extLst>
          </p:cNvPr>
          <p:cNvSpPr>
            <a:spLocks noGrp="1"/>
          </p:cNvSpPr>
          <p:nvPr>
            <p:ph type="body" sz="quarter" idx="12" hasCustomPrompt="1"/>
          </p:nvPr>
        </p:nvSpPr>
        <p:spPr>
          <a:xfrm>
            <a:off x="365760" y="5971032"/>
            <a:ext cx="3054096" cy="379777"/>
          </a:xfrm>
        </p:spPr>
        <p:txBody>
          <a:bodyPr>
            <a:noAutofit/>
          </a:bodyPr>
          <a:lstStyle>
            <a:lvl1pPr>
              <a:defRPr sz="2400" b="0" i="0">
                <a:solidFill>
                  <a:schemeClr val="bg1"/>
                </a:solidFill>
                <a:latin typeface="+mn-lt"/>
              </a:defRPr>
            </a:lvl1pPr>
            <a:lvl2pPr>
              <a:defRPr sz="1067" b="0" i="0">
                <a:latin typeface="Aptos Light" panose="020B0004020202020204" pitchFamily="34" charset="0"/>
              </a:defRPr>
            </a:lvl2pPr>
            <a:lvl3pPr marL="8466" indent="0">
              <a:buNone/>
              <a:defRPr sz="1067" b="0" i="0">
                <a:latin typeface="Aptos Light" panose="020B0004020202020204" pitchFamily="34" charset="0"/>
              </a:defRPr>
            </a:lvl3pPr>
            <a:lvl4pPr marL="232828" indent="0">
              <a:buNone/>
              <a:defRPr sz="1067" b="0" i="0">
                <a:latin typeface="Aptos Light" panose="020B0004020202020204" pitchFamily="34" charset="0"/>
              </a:defRPr>
            </a:lvl4pPr>
            <a:lvl5pPr marL="459305" indent="0">
              <a:buNone/>
              <a:defRPr sz="1067" b="0" i="0">
                <a:latin typeface="Aptos Light" panose="020B0004020202020204" pitchFamily="34" charset="0"/>
              </a:defRPr>
            </a:lvl5pPr>
          </a:lstStyle>
          <a:p>
            <a:pPr lvl="0"/>
            <a:r>
              <a:rPr lang="en-US" dirty="0"/>
              <a:t>Date goes here</a:t>
            </a:r>
          </a:p>
        </p:txBody>
      </p:sp>
      <p:pic>
        <p:nvPicPr>
          <p:cNvPr id="11" name="Picture 10" descr="A close-up of a black background&#10;&#10;Description automatically generated">
            <a:extLst>
              <a:ext uri="{FF2B5EF4-FFF2-40B4-BE49-F238E27FC236}">
                <a16:creationId xmlns:a16="http://schemas.microsoft.com/office/drawing/2014/main" id="{70B404AA-6868-9861-CB35-1A69CCFBB699}"/>
              </a:ext>
            </a:extLst>
          </p:cNvPr>
          <p:cNvPicPr>
            <a:picLocks noChangeAspect="1"/>
          </p:cNvPicPr>
          <p:nvPr/>
        </p:nvPicPr>
        <p:blipFill>
          <a:blip r:embed="rId2"/>
          <a:stretch>
            <a:fillRect/>
          </a:stretch>
        </p:blipFill>
        <p:spPr>
          <a:xfrm>
            <a:off x="513212" y="313267"/>
            <a:ext cx="2257273" cy="421109"/>
          </a:xfrm>
          <a:prstGeom prst="rect">
            <a:avLst/>
          </a:prstGeom>
        </p:spPr>
      </p:pic>
      <p:pic>
        <p:nvPicPr>
          <p:cNvPr id="8" name="Picture 7" descr="A close-up of a black background&#10;&#10;Description automatically generated">
            <a:extLst>
              <a:ext uri="{FF2B5EF4-FFF2-40B4-BE49-F238E27FC236}">
                <a16:creationId xmlns:a16="http://schemas.microsoft.com/office/drawing/2014/main" id="{92DEC7B5-1387-08D4-38D9-F9D1AE0596F9}"/>
              </a:ext>
            </a:extLst>
          </p:cNvPr>
          <p:cNvPicPr>
            <a:picLocks noChangeAspect="1"/>
          </p:cNvPicPr>
          <p:nvPr/>
        </p:nvPicPr>
        <p:blipFill>
          <a:blip r:embed="rId2"/>
          <a:stretch>
            <a:fillRect/>
          </a:stretch>
        </p:blipFill>
        <p:spPr>
          <a:xfrm>
            <a:off x="513212" y="313267"/>
            <a:ext cx="2257273" cy="421109"/>
          </a:xfrm>
          <a:prstGeom prst="rect">
            <a:avLst/>
          </a:prstGeom>
        </p:spPr>
      </p:pic>
    </p:spTree>
    <p:extLst>
      <p:ext uri="{BB962C8B-B14F-4D97-AF65-F5344CB8AC3E}">
        <p14:creationId xmlns:p14="http://schemas.microsoft.com/office/powerpoint/2010/main" val="141369956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CC80DDE-5F41-EE3C-EB7B-9FBEFB63CCBF}"/>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p>
        </p:txBody>
      </p:sp>
      <p:pic>
        <p:nvPicPr>
          <p:cNvPr id="7" name="Picture 6" descr="A black and purple rectangle&#10;&#10;Description automatically generated">
            <a:extLst>
              <a:ext uri="{FF2B5EF4-FFF2-40B4-BE49-F238E27FC236}">
                <a16:creationId xmlns:a16="http://schemas.microsoft.com/office/drawing/2014/main" id="{F8189EB8-ABA9-C994-0266-747B17E89C47}"/>
              </a:ext>
            </a:extLst>
          </p:cNvPr>
          <p:cNvPicPr>
            <a:picLocks noChangeAspect="1"/>
          </p:cNvPicPr>
          <p:nvPr/>
        </p:nvPicPr>
        <p:blipFill rotWithShape="1">
          <a:blip r:embed="rId2"/>
          <a:srcRect r="26250"/>
          <a:stretch/>
        </p:blipFill>
        <p:spPr>
          <a:xfrm>
            <a:off x="0" y="0"/>
            <a:ext cx="8991600" cy="6858000"/>
          </a:xfrm>
          <a:prstGeom prst="rect">
            <a:avLst/>
          </a:prstGeom>
        </p:spPr>
      </p:pic>
      <p:sp>
        <p:nvSpPr>
          <p:cNvPr id="2" name="Title 1"/>
          <p:cNvSpPr>
            <a:spLocks noGrp="1"/>
          </p:cNvSpPr>
          <p:nvPr>
            <p:ph type="ctrTitle"/>
          </p:nvPr>
        </p:nvSpPr>
        <p:spPr>
          <a:xfrm>
            <a:off x="370419" y="2505665"/>
            <a:ext cx="6072584" cy="2387600"/>
          </a:xfrm>
        </p:spPr>
        <p:txBody>
          <a:bodyPr anchor="b"/>
          <a:lstStyle>
            <a:lvl1pPr algn="l">
              <a:defRPr sz="4200" spc="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370418" y="4945703"/>
            <a:ext cx="6072587" cy="806099"/>
          </a:xfrm>
        </p:spPr>
        <p:txBody>
          <a:bodyPr>
            <a:noAutofit/>
          </a:bodyPr>
          <a:lstStyle>
            <a:lvl1pPr marL="0" indent="0" algn="l">
              <a:lnSpc>
                <a:spcPct val="90000"/>
              </a:lnSpc>
              <a:buNone/>
              <a:defRPr sz="2000" b="0" i="0">
                <a:solidFill>
                  <a:schemeClr val="bg1"/>
                </a:solidFill>
                <a:latin typeface="+mn-lt"/>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158037704"/>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72189" y="0"/>
            <a:ext cx="11453628" cy="1143000"/>
          </a:xfrm>
        </p:spPr>
        <p:txBody>
          <a:bodyPr/>
          <a:lstStyle>
            <a:lvl1pPr>
              <a:lnSpc>
                <a:spcPct val="90000"/>
              </a:lnSpc>
              <a:defRPr spc="0" baseline="0">
                <a:latin typeface="+mj-lt"/>
              </a:defRPr>
            </a:lvl1pPr>
          </a:lstStyle>
          <a:p>
            <a:r>
              <a:rPr lang="en-US"/>
              <a:t>Click to edit Master title style</a:t>
            </a:r>
            <a:endParaRPr lang="en-US" dirty="0"/>
          </a:p>
        </p:txBody>
      </p:sp>
      <p:sp>
        <p:nvSpPr>
          <p:cNvPr id="3" name="Content Placeholder 2"/>
          <p:cNvSpPr>
            <a:spLocks noGrp="1"/>
          </p:cNvSpPr>
          <p:nvPr>
            <p:ph idx="1"/>
          </p:nvPr>
        </p:nvSpPr>
        <p:spPr>
          <a:xfrm>
            <a:off x="372189" y="1960537"/>
            <a:ext cx="11453628" cy="4376468"/>
          </a:xfrm>
        </p:spPr>
        <p:txBody>
          <a:bodyPr/>
          <a:lstStyle>
            <a:lvl1pPr>
              <a:lnSpc>
                <a:spcPct val="114000"/>
              </a:lnSpc>
              <a:spcAft>
                <a:spcPts val="400"/>
              </a:spcAft>
              <a:defRPr sz="1800"/>
            </a:lvl1pPr>
            <a:lvl2pPr>
              <a:lnSpc>
                <a:spcPct val="114000"/>
              </a:lnSpc>
              <a:spcAft>
                <a:spcPts val="600"/>
              </a:spcAft>
              <a:defRPr/>
            </a:lvl2pPr>
            <a:lvl3pPr>
              <a:lnSpc>
                <a:spcPct val="114000"/>
              </a:lnSpc>
              <a:spcAft>
                <a:spcPts val="600"/>
              </a:spcAft>
              <a:defRPr/>
            </a:lvl3pPr>
            <a:lvl4pPr>
              <a:lnSpc>
                <a:spcPct val="114000"/>
              </a:lnSpc>
              <a:spcAft>
                <a:spcPts val="600"/>
              </a:spcAft>
              <a:defRPr/>
            </a:lvl4pPr>
            <a:lvl5pPr>
              <a:lnSpc>
                <a:spcPct val="114000"/>
              </a:lnSpc>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12">
            <a:extLst>
              <a:ext uri="{FF2B5EF4-FFF2-40B4-BE49-F238E27FC236}">
                <a16:creationId xmlns:a16="http://schemas.microsoft.com/office/drawing/2014/main" id="{4D5A83BB-9D8E-880B-93F2-512308F05947}"/>
              </a:ext>
            </a:extLst>
          </p:cNvPr>
          <p:cNvSpPr>
            <a:spLocks noGrp="1"/>
          </p:cNvSpPr>
          <p:nvPr>
            <p:ph type="body" sz="quarter" idx="13" hasCustomPrompt="1"/>
          </p:nvPr>
        </p:nvSpPr>
        <p:spPr>
          <a:xfrm>
            <a:off x="372534" y="1170432"/>
            <a:ext cx="11453627" cy="573617"/>
          </a:xfrm>
        </p:spPr>
        <p:txBody>
          <a:bodyPr>
            <a:noAutofit/>
          </a:bodyPr>
          <a:lstStyle>
            <a:lvl1pPr>
              <a:lnSpc>
                <a:spcPct val="100000"/>
              </a:lnSpc>
              <a:defRPr sz="2000" b="0" i="0">
                <a:latin typeface="+mn-lt"/>
              </a:defRPr>
            </a:lvl1pPr>
            <a:lvl3pPr marL="8466" indent="0">
              <a:buNone/>
              <a:defRPr/>
            </a:lvl3pPr>
            <a:lvl4pPr marL="232828" indent="0">
              <a:buNone/>
              <a:defRPr/>
            </a:lvl4pPr>
            <a:lvl5pPr marL="459305" indent="0">
              <a:buNone/>
              <a:defRPr/>
            </a:lvl5pPr>
          </a:lstStyle>
          <a:p>
            <a:pPr lvl="0"/>
            <a:r>
              <a:rPr lang="en-US" dirty="0"/>
              <a:t>Subhead if necessary</a:t>
            </a:r>
          </a:p>
        </p:txBody>
      </p:sp>
      <p:sp>
        <p:nvSpPr>
          <p:cNvPr id="4" name="Slide Number Placeholder 6">
            <a:extLst>
              <a:ext uri="{FF2B5EF4-FFF2-40B4-BE49-F238E27FC236}">
                <a16:creationId xmlns:a16="http://schemas.microsoft.com/office/drawing/2014/main" id="{724F641B-1C8C-A657-2A4F-9946CE9F3E93}"/>
              </a:ext>
            </a:extLst>
          </p:cNvPr>
          <p:cNvSpPr>
            <a:spLocks noGrp="1"/>
          </p:cNvSpPr>
          <p:nvPr>
            <p:ph type="sldNum" sz="quarter" idx="12"/>
          </p:nvPr>
        </p:nvSpPr>
        <p:spPr>
          <a:xfrm>
            <a:off x="11346640" y="6583477"/>
            <a:ext cx="497708" cy="275167"/>
          </a:xfrm>
          <a:prstGeom prst="rect">
            <a:avLst/>
          </a:prstGeom>
        </p:spPr>
        <p:txBody>
          <a:bodyPr anchor="ctr" anchorCtr="0"/>
          <a:lstStyle>
            <a:lvl1pPr algn="r">
              <a:defRPr sz="930" b="1">
                <a:solidFill>
                  <a:schemeClr val="bg1"/>
                </a:solidFill>
              </a:defRPr>
            </a:lvl1pPr>
          </a:lstStyle>
          <a:p>
            <a:fld id="{0D558541-60C9-42A2-8392-FF12533A6B7A}" type="slidenum">
              <a:rPr lang="en-US" smtClean="0"/>
              <a:pPr/>
              <a:t>‹#›</a:t>
            </a:fld>
            <a:endParaRPr lang="en-US" dirty="0"/>
          </a:p>
        </p:txBody>
      </p:sp>
    </p:spTree>
    <p:extLst>
      <p:ext uri="{BB962C8B-B14F-4D97-AF65-F5344CB8AC3E}">
        <p14:creationId xmlns:p14="http://schemas.microsoft.com/office/powerpoint/2010/main" val="227765474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Columns-Typ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90000"/>
              </a:lnSpc>
              <a:defRPr spc="0" baseline="0">
                <a:latin typeface="+mj-lt"/>
              </a:defRPr>
            </a:lvl1pPr>
          </a:lstStyle>
          <a:p>
            <a:r>
              <a:rPr lang="en-US"/>
              <a:t>Click to edit Master title style</a:t>
            </a:r>
            <a:endParaRPr lang="en-US" dirty="0"/>
          </a:p>
        </p:txBody>
      </p:sp>
      <p:sp>
        <p:nvSpPr>
          <p:cNvPr id="3" name="Content Placeholder 2"/>
          <p:cNvSpPr>
            <a:spLocks noGrp="1"/>
          </p:cNvSpPr>
          <p:nvPr>
            <p:ph idx="1"/>
          </p:nvPr>
        </p:nvSpPr>
        <p:spPr>
          <a:xfrm>
            <a:off x="372189" y="1956816"/>
            <a:ext cx="5559552" cy="4456684"/>
          </a:xfrm>
        </p:spPr>
        <p:txBody>
          <a:bodyPr/>
          <a:lstStyle>
            <a:lvl1pPr>
              <a:lnSpc>
                <a:spcPct val="114000"/>
              </a:lnSpc>
              <a:spcAft>
                <a:spcPts val="400"/>
              </a:spcAft>
              <a:defRPr sz="1800"/>
            </a:lvl1pPr>
            <a:lvl2pPr>
              <a:lnSpc>
                <a:spcPct val="114000"/>
              </a:lnSpc>
              <a:spcAft>
                <a:spcPts val="600"/>
              </a:spcAft>
              <a:defRPr/>
            </a:lvl2pPr>
            <a:lvl3pPr>
              <a:lnSpc>
                <a:spcPct val="114000"/>
              </a:lnSpc>
              <a:spcAft>
                <a:spcPts val="600"/>
              </a:spcAft>
              <a:defRPr/>
            </a:lvl3pPr>
            <a:lvl4pPr>
              <a:lnSpc>
                <a:spcPct val="114000"/>
              </a:lnSpc>
              <a:spcAft>
                <a:spcPts val="600"/>
              </a:spcAft>
              <a:defRPr/>
            </a:lvl4pPr>
            <a:lvl5pPr>
              <a:lnSpc>
                <a:spcPct val="114000"/>
              </a:lnSpc>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12">
            <a:extLst>
              <a:ext uri="{FF2B5EF4-FFF2-40B4-BE49-F238E27FC236}">
                <a16:creationId xmlns:a16="http://schemas.microsoft.com/office/drawing/2014/main" id="{4D5A83BB-9D8E-880B-93F2-512308F05947}"/>
              </a:ext>
            </a:extLst>
          </p:cNvPr>
          <p:cNvSpPr>
            <a:spLocks noGrp="1"/>
          </p:cNvSpPr>
          <p:nvPr>
            <p:ph type="body" sz="quarter" idx="13" hasCustomPrompt="1"/>
          </p:nvPr>
        </p:nvSpPr>
        <p:spPr>
          <a:xfrm>
            <a:off x="372534" y="1170432"/>
            <a:ext cx="11453627" cy="573617"/>
          </a:xfrm>
        </p:spPr>
        <p:txBody>
          <a:bodyPr>
            <a:noAutofit/>
          </a:bodyPr>
          <a:lstStyle>
            <a:lvl1pPr>
              <a:lnSpc>
                <a:spcPct val="100000"/>
              </a:lnSpc>
              <a:defRPr sz="2000" b="0" i="0">
                <a:latin typeface="+mn-lt"/>
              </a:defRPr>
            </a:lvl1pPr>
            <a:lvl3pPr marL="8466" indent="0">
              <a:buNone/>
              <a:defRPr/>
            </a:lvl3pPr>
            <a:lvl4pPr marL="232828" indent="0">
              <a:buNone/>
              <a:defRPr/>
            </a:lvl4pPr>
            <a:lvl5pPr marL="459305" indent="0">
              <a:buNone/>
              <a:defRPr/>
            </a:lvl5pPr>
          </a:lstStyle>
          <a:p>
            <a:pPr lvl="0"/>
            <a:r>
              <a:rPr lang="en-US" dirty="0"/>
              <a:t>Subhead if necessary</a:t>
            </a:r>
          </a:p>
        </p:txBody>
      </p:sp>
      <p:sp>
        <p:nvSpPr>
          <p:cNvPr id="8" name="Content Placeholder 2">
            <a:extLst>
              <a:ext uri="{FF2B5EF4-FFF2-40B4-BE49-F238E27FC236}">
                <a16:creationId xmlns:a16="http://schemas.microsoft.com/office/drawing/2014/main" id="{03C4D9A7-680D-EAB5-E2D1-74AB49916B6A}"/>
              </a:ext>
            </a:extLst>
          </p:cNvPr>
          <p:cNvSpPr>
            <a:spLocks noGrp="1"/>
          </p:cNvSpPr>
          <p:nvPr>
            <p:ph idx="14"/>
          </p:nvPr>
        </p:nvSpPr>
        <p:spPr>
          <a:xfrm>
            <a:off x="6272784" y="1956816"/>
            <a:ext cx="5559552" cy="4456684"/>
          </a:xfrm>
        </p:spPr>
        <p:txBody>
          <a:bodyPr/>
          <a:lstStyle>
            <a:lvl1pPr>
              <a:lnSpc>
                <a:spcPct val="114000"/>
              </a:lnSpc>
              <a:spcAft>
                <a:spcPts val="400"/>
              </a:spcAft>
              <a:defRPr sz="1800"/>
            </a:lvl1pPr>
            <a:lvl2pPr>
              <a:lnSpc>
                <a:spcPct val="114000"/>
              </a:lnSpc>
              <a:spcAft>
                <a:spcPts val="600"/>
              </a:spcAft>
              <a:defRPr/>
            </a:lvl2pPr>
            <a:lvl3pPr>
              <a:lnSpc>
                <a:spcPct val="114000"/>
              </a:lnSpc>
              <a:spcAft>
                <a:spcPts val="600"/>
              </a:spcAft>
              <a:defRPr/>
            </a:lvl3pPr>
            <a:lvl4pPr>
              <a:lnSpc>
                <a:spcPct val="114000"/>
              </a:lnSpc>
              <a:spcAft>
                <a:spcPts val="600"/>
              </a:spcAft>
              <a:defRPr/>
            </a:lvl4pPr>
            <a:lvl5pPr>
              <a:lnSpc>
                <a:spcPct val="114000"/>
              </a:lnSpc>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6">
            <a:extLst>
              <a:ext uri="{FF2B5EF4-FFF2-40B4-BE49-F238E27FC236}">
                <a16:creationId xmlns:a16="http://schemas.microsoft.com/office/drawing/2014/main" id="{207A1DDC-E243-D1AE-BC8A-40F11B37B41C}"/>
              </a:ext>
            </a:extLst>
          </p:cNvPr>
          <p:cNvSpPr>
            <a:spLocks noGrp="1"/>
          </p:cNvSpPr>
          <p:nvPr>
            <p:ph type="sldNum" sz="quarter" idx="12"/>
          </p:nvPr>
        </p:nvSpPr>
        <p:spPr>
          <a:xfrm>
            <a:off x="11346640" y="6583477"/>
            <a:ext cx="497708" cy="275167"/>
          </a:xfrm>
          <a:prstGeom prst="rect">
            <a:avLst/>
          </a:prstGeom>
        </p:spPr>
        <p:txBody>
          <a:bodyPr anchor="ctr" anchorCtr="0"/>
          <a:lstStyle>
            <a:lvl1pPr algn="r">
              <a:defRPr sz="930" b="1">
                <a:solidFill>
                  <a:schemeClr val="bg1"/>
                </a:solidFill>
              </a:defRPr>
            </a:lvl1pPr>
          </a:lstStyle>
          <a:p>
            <a:fld id="{0D558541-60C9-42A2-8392-FF12533A6B7A}" type="slidenum">
              <a:rPr lang="en-US" smtClean="0"/>
              <a:pPr/>
              <a:t>‹#›</a:t>
            </a:fld>
            <a:endParaRPr lang="en-US" dirty="0"/>
          </a:p>
        </p:txBody>
      </p:sp>
    </p:spTree>
    <p:extLst>
      <p:ext uri="{BB962C8B-B14F-4D97-AF65-F5344CB8AC3E}">
        <p14:creationId xmlns:p14="http://schemas.microsoft.com/office/powerpoint/2010/main" val="1129539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Pic">
    <p:spTree>
      <p:nvGrpSpPr>
        <p:cNvPr id="1" name=""/>
        <p:cNvGrpSpPr/>
        <p:nvPr/>
      </p:nvGrpSpPr>
      <p:grpSpPr>
        <a:xfrm>
          <a:off x="0" y="0"/>
          <a:ext cx="0" cy="0"/>
          <a:chOff x="0" y="0"/>
          <a:chExt cx="0" cy="0"/>
        </a:xfrm>
      </p:grpSpPr>
      <p:sp>
        <p:nvSpPr>
          <p:cNvPr id="2" name="Title 1"/>
          <p:cNvSpPr>
            <a:spLocks noGrp="1"/>
          </p:cNvSpPr>
          <p:nvPr>
            <p:ph type="title"/>
          </p:nvPr>
        </p:nvSpPr>
        <p:spPr>
          <a:xfrm>
            <a:off x="372188" y="0"/>
            <a:ext cx="7708392" cy="1143000"/>
          </a:xfrm>
        </p:spPr>
        <p:txBody>
          <a:bodyPr/>
          <a:lstStyle>
            <a:lvl1pPr>
              <a:defRPr spc="0" baseline="0">
                <a:latin typeface="+mj-lt"/>
              </a:defRPr>
            </a:lvl1pPr>
          </a:lstStyle>
          <a:p>
            <a:r>
              <a:rPr lang="en-US"/>
              <a:t>Click to edit Master title style</a:t>
            </a:r>
            <a:endParaRPr lang="en-US" dirty="0"/>
          </a:p>
        </p:txBody>
      </p:sp>
      <p:sp>
        <p:nvSpPr>
          <p:cNvPr id="3" name="Content Placeholder 2"/>
          <p:cNvSpPr>
            <a:spLocks noGrp="1"/>
          </p:cNvSpPr>
          <p:nvPr>
            <p:ph idx="1"/>
          </p:nvPr>
        </p:nvSpPr>
        <p:spPr>
          <a:xfrm>
            <a:off x="372189" y="1956816"/>
            <a:ext cx="6690764" cy="4456684"/>
          </a:xfrm>
        </p:spPr>
        <p:txBody>
          <a:bodyPr/>
          <a:lstStyle>
            <a:lvl1pPr>
              <a:lnSpc>
                <a:spcPct val="114000"/>
              </a:lnSpc>
              <a:spcAft>
                <a:spcPts val="400"/>
              </a:spcAft>
              <a:defRPr/>
            </a:lvl1pPr>
            <a:lvl2pPr>
              <a:lnSpc>
                <a:spcPct val="114000"/>
              </a:lnSpc>
              <a:spcBef>
                <a:spcPts val="0"/>
              </a:spcBef>
              <a:spcAft>
                <a:spcPts val="600"/>
              </a:spcAft>
              <a:defRPr/>
            </a:lvl2pPr>
            <a:lvl3pPr>
              <a:lnSpc>
                <a:spcPct val="114000"/>
              </a:lnSpc>
              <a:spcBef>
                <a:spcPts val="0"/>
              </a:spcBef>
              <a:spcAft>
                <a:spcPts val="600"/>
              </a:spcAft>
              <a:defRPr/>
            </a:lvl3pPr>
            <a:lvl4pPr>
              <a:lnSpc>
                <a:spcPct val="114000"/>
              </a:lnSpc>
              <a:spcBef>
                <a:spcPts val="0"/>
              </a:spcBef>
              <a:spcAft>
                <a:spcPts val="600"/>
              </a:spcAft>
              <a:defRPr/>
            </a:lvl4pPr>
            <a:lvl5pPr>
              <a:lnSpc>
                <a:spcPct val="114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7">
            <a:extLst>
              <a:ext uri="{FF2B5EF4-FFF2-40B4-BE49-F238E27FC236}">
                <a16:creationId xmlns:a16="http://schemas.microsoft.com/office/drawing/2014/main" id="{0D4D9DA8-B2E1-9255-0F3F-667449A80D90}"/>
              </a:ext>
            </a:extLst>
          </p:cNvPr>
          <p:cNvSpPr>
            <a:spLocks noGrp="1"/>
          </p:cNvSpPr>
          <p:nvPr>
            <p:ph type="pic" sz="quarter" idx="13"/>
          </p:nvPr>
        </p:nvSpPr>
        <p:spPr>
          <a:xfrm>
            <a:off x="8077200" y="0"/>
            <a:ext cx="4114800" cy="6553200"/>
          </a:xfrm>
          <a:noFill/>
        </p:spPr>
        <p:txBody>
          <a:bodyPr>
            <a:normAutofit/>
          </a:bodyPr>
          <a:lstStyle>
            <a:lvl1pPr>
              <a:defRPr sz="1200" b="0"/>
            </a:lvl1pPr>
          </a:lstStyle>
          <a:p>
            <a:r>
              <a:rPr lang="en-US"/>
              <a:t>Click icon to add picture</a:t>
            </a:r>
            <a:endParaRPr lang="en-US" dirty="0"/>
          </a:p>
        </p:txBody>
      </p:sp>
      <p:sp>
        <p:nvSpPr>
          <p:cNvPr id="7" name="Text Placeholder 12">
            <a:extLst>
              <a:ext uri="{FF2B5EF4-FFF2-40B4-BE49-F238E27FC236}">
                <a16:creationId xmlns:a16="http://schemas.microsoft.com/office/drawing/2014/main" id="{703186F7-99CC-7E47-8AD7-CF937E00F69A}"/>
              </a:ext>
            </a:extLst>
          </p:cNvPr>
          <p:cNvSpPr>
            <a:spLocks noGrp="1"/>
          </p:cNvSpPr>
          <p:nvPr>
            <p:ph type="body" sz="quarter" idx="14" hasCustomPrompt="1"/>
          </p:nvPr>
        </p:nvSpPr>
        <p:spPr>
          <a:xfrm>
            <a:off x="374904" y="1170432"/>
            <a:ext cx="7711016" cy="573617"/>
          </a:xfrm>
        </p:spPr>
        <p:txBody>
          <a:bodyPr/>
          <a:lstStyle>
            <a:lvl1pPr>
              <a:lnSpc>
                <a:spcPct val="100000"/>
              </a:lnSpc>
              <a:defRPr sz="2000" b="0" i="0">
                <a:latin typeface="+mn-lt"/>
              </a:defRPr>
            </a:lvl1pPr>
            <a:lvl3pPr marL="8466" indent="0">
              <a:buNone/>
              <a:defRPr/>
            </a:lvl3pPr>
            <a:lvl4pPr marL="232828" indent="0">
              <a:buNone/>
              <a:defRPr/>
            </a:lvl4pPr>
            <a:lvl5pPr marL="459305" indent="0">
              <a:buNone/>
              <a:defRPr/>
            </a:lvl5pPr>
          </a:lstStyle>
          <a:p>
            <a:pPr lvl="0"/>
            <a:r>
              <a:rPr lang="en-US" dirty="0"/>
              <a:t>Subhead if necessary</a:t>
            </a:r>
          </a:p>
        </p:txBody>
      </p:sp>
      <p:sp>
        <p:nvSpPr>
          <p:cNvPr id="4" name="Slide Number Placeholder 6">
            <a:extLst>
              <a:ext uri="{FF2B5EF4-FFF2-40B4-BE49-F238E27FC236}">
                <a16:creationId xmlns:a16="http://schemas.microsoft.com/office/drawing/2014/main" id="{9820A9D7-C92F-50D2-3DD3-3AB689B7B2B5}"/>
              </a:ext>
            </a:extLst>
          </p:cNvPr>
          <p:cNvSpPr>
            <a:spLocks noGrp="1"/>
          </p:cNvSpPr>
          <p:nvPr>
            <p:ph type="sldNum" sz="quarter" idx="12"/>
          </p:nvPr>
        </p:nvSpPr>
        <p:spPr>
          <a:xfrm>
            <a:off x="11346640" y="6583477"/>
            <a:ext cx="497708" cy="275167"/>
          </a:xfrm>
          <a:prstGeom prst="rect">
            <a:avLst/>
          </a:prstGeom>
        </p:spPr>
        <p:txBody>
          <a:bodyPr anchor="ctr" anchorCtr="0"/>
          <a:lstStyle>
            <a:lvl1pPr algn="r">
              <a:defRPr sz="930" b="1">
                <a:solidFill>
                  <a:schemeClr val="bg1"/>
                </a:solidFill>
              </a:defRPr>
            </a:lvl1pPr>
          </a:lstStyle>
          <a:p>
            <a:fld id="{0D558541-60C9-42A2-8392-FF12533A6B7A}" type="slidenum">
              <a:rPr lang="en-US" smtClean="0"/>
              <a:pPr/>
              <a:t>‹#›</a:t>
            </a:fld>
            <a:endParaRPr lang="en-US" dirty="0"/>
          </a:p>
        </p:txBody>
      </p:sp>
    </p:spTree>
    <p:extLst>
      <p:ext uri="{BB962C8B-B14F-4D97-AF65-F5344CB8AC3E}">
        <p14:creationId xmlns:p14="http://schemas.microsoft.com/office/powerpoint/2010/main" val="4032054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Columns-P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pc="0" baseline="0"/>
            </a:lvl1pPr>
          </a:lstStyle>
          <a:p>
            <a:r>
              <a:rPr lang="en-US"/>
              <a:t>Click to edit Master title style</a:t>
            </a:r>
            <a:endParaRPr lang="en-US" dirty="0"/>
          </a:p>
        </p:txBody>
      </p:sp>
      <p:sp>
        <p:nvSpPr>
          <p:cNvPr id="3" name="Content Placeholder 2"/>
          <p:cNvSpPr>
            <a:spLocks noGrp="1"/>
          </p:cNvSpPr>
          <p:nvPr>
            <p:ph sz="half" idx="1"/>
          </p:nvPr>
        </p:nvSpPr>
        <p:spPr>
          <a:xfrm>
            <a:off x="372189" y="4528393"/>
            <a:ext cx="5556663" cy="1583719"/>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9227A447-AD3E-43E5-8193-BFADE932E8B9}"/>
              </a:ext>
            </a:extLst>
          </p:cNvPr>
          <p:cNvSpPr>
            <a:spLocks noGrp="1"/>
          </p:cNvSpPr>
          <p:nvPr>
            <p:ph type="body" sz="quarter" idx="13" hasCustomPrompt="1"/>
          </p:nvPr>
        </p:nvSpPr>
        <p:spPr>
          <a:xfrm>
            <a:off x="374904" y="1170432"/>
            <a:ext cx="11453628" cy="573617"/>
          </a:xfrm>
        </p:spPr>
        <p:txBody>
          <a:bodyPr>
            <a:noAutofit/>
          </a:bodyPr>
          <a:lstStyle>
            <a:lvl1pPr>
              <a:lnSpc>
                <a:spcPct val="100000"/>
              </a:lnSpc>
              <a:defRPr sz="2000" b="0" i="0">
                <a:latin typeface="+mn-lt"/>
              </a:defRPr>
            </a:lvl1pPr>
            <a:lvl3pPr marL="8466" indent="0">
              <a:buNone/>
              <a:defRPr/>
            </a:lvl3pPr>
            <a:lvl4pPr marL="232828" indent="0">
              <a:buNone/>
              <a:defRPr/>
            </a:lvl4pPr>
            <a:lvl5pPr marL="459305" indent="0">
              <a:buNone/>
              <a:defRPr/>
            </a:lvl5pPr>
          </a:lstStyle>
          <a:p>
            <a:pPr lvl="0"/>
            <a:r>
              <a:rPr lang="en-US" dirty="0"/>
              <a:t>Subhead if necessary</a:t>
            </a:r>
          </a:p>
        </p:txBody>
      </p:sp>
      <p:sp>
        <p:nvSpPr>
          <p:cNvPr id="19" name="Picture Placeholder 18">
            <a:extLst>
              <a:ext uri="{FF2B5EF4-FFF2-40B4-BE49-F238E27FC236}">
                <a16:creationId xmlns:a16="http://schemas.microsoft.com/office/drawing/2014/main" id="{79C690AE-22FB-FDE9-21B1-0F2E45C30FD9}"/>
              </a:ext>
            </a:extLst>
          </p:cNvPr>
          <p:cNvSpPr>
            <a:spLocks noGrp="1"/>
          </p:cNvSpPr>
          <p:nvPr>
            <p:ph type="pic" sz="quarter" idx="14"/>
          </p:nvPr>
        </p:nvSpPr>
        <p:spPr>
          <a:xfrm>
            <a:off x="475488" y="2030650"/>
            <a:ext cx="5099049" cy="2438400"/>
          </a:xfrm>
        </p:spPr>
        <p:txBody>
          <a:bodyPr/>
          <a:lstStyle/>
          <a:p>
            <a:r>
              <a:rPr lang="en-US"/>
              <a:t>Click icon to add picture</a:t>
            </a:r>
          </a:p>
        </p:txBody>
      </p:sp>
      <p:sp>
        <p:nvSpPr>
          <p:cNvPr id="20" name="Content Placeholder 2">
            <a:extLst>
              <a:ext uri="{FF2B5EF4-FFF2-40B4-BE49-F238E27FC236}">
                <a16:creationId xmlns:a16="http://schemas.microsoft.com/office/drawing/2014/main" id="{9F1552FC-E7FE-74E7-9FC3-DAE8E69EDDF7}"/>
              </a:ext>
            </a:extLst>
          </p:cNvPr>
          <p:cNvSpPr>
            <a:spLocks noGrp="1"/>
          </p:cNvSpPr>
          <p:nvPr>
            <p:ph sz="half" idx="15"/>
          </p:nvPr>
        </p:nvSpPr>
        <p:spPr>
          <a:xfrm>
            <a:off x="6264989" y="4528393"/>
            <a:ext cx="5556663" cy="1583719"/>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Picture Placeholder 18">
            <a:extLst>
              <a:ext uri="{FF2B5EF4-FFF2-40B4-BE49-F238E27FC236}">
                <a16:creationId xmlns:a16="http://schemas.microsoft.com/office/drawing/2014/main" id="{512796C0-CB45-C263-9788-F8AE8804140B}"/>
              </a:ext>
            </a:extLst>
          </p:cNvPr>
          <p:cNvSpPr>
            <a:spLocks noGrp="1"/>
          </p:cNvSpPr>
          <p:nvPr>
            <p:ph type="pic" sz="quarter" idx="16"/>
          </p:nvPr>
        </p:nvSpPr>
        <p:spPr>
          <a:xfrm>
            <a:off x="6364224" y="2030650"/>
            <a:ext cx="5099049" cy="2438400"/>
          </a:xfrm>
        </p:spPr>
        <p:txBody>
          <a:bodyPr/>
          <a:lstStyle/>
          <a:p>
            <a:r>
              <a:rPr lang="en-US"/>
              <a:t>Click icon to add picture</a:t>
            </a:r>
          </a:p>
        </p:txBody>
      </p:sp>
      <p:sp>
        <p:nvSpPr>
          <p:cNvPr id="7" name="Slide Number Placeholder 6">
            <a:extLst>
              <a:ext uri="{FF2B5EF4-FFF2-40B4-BE49-F238E27FC236}">
                <a16:creationId xmlns:a16="http://schemas.microsoft.com/office/drawing/2014/main" id="{AE2C1110-ACDB-A90D-C8BD-C9536517B322}"/>
              </a:ext>
            </a:extLst>
          </p:cNvPr>
          <p:cNvSpPr>
            <a:spLocks noGrp="1"/>
          </p:cNvSpPr>
          <p:nvPr>
            <p:ph type="sldNum" sz="quarter" idx="12"/>
          </p:nvPr>
        </p:nvSpPr>
        <p:spPr>
          <a:xfrm>
            <a:off x="11346640" y="6583477"/>
            <a:ext cx="497708" cy="275167"/>
          </a:xfrm>
          <a:prstGeom prst="rect">
            <a:avLst/>
          </a:prstGeom>
        </p:spPr>
        <p:txBody>
          <a:bodyPr anchor="ctr" anchorCtr="0"/>
          <a:lstStyle>
            <a:lvl1pPr algn="r">
              <a:defRPr sz="930" b="1">
                <a:solidFill>
                  <a:schemeClr val="bg1"/>
                </a:solidFill>
              </a:defRPr>
            </a:lvl1pPr>
          </a:lstStyle>
          <a:p>
            <a:fld id="{0D558541-60C9-42A2-8392-FF12533A6B7A}" type="slidenum">
              <a:rPr lang="en-US" smtClean="0"/>
              <a:pPr/>
              <a:t>‹#›</a:t>
            </a:fld>
            <a:endParaRPr lang="en-US" dirty="0"/>
          </a:p>
        </p:txBody>
      </p:sp>
    </p:spTree>
    <p:extLst>
      <p:ext uri="{BB962C8B-B14F-4D97-AF65-F5344CB8AC3E}">
        <p14:creationId xmlns:p14="http://schemas.microsoft.com/office/powerpoint/2010/main" val="2266214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yp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pc="0" baseline="0"/>
            </a:lvl1pPr>
          </a:lstStyle>
          <a:p>
            <a:r>
              <a:rPr lang="en-US"/>
              <a:t>Click to edit Master title style</a:t>
            </a:r>
            <a:endParaRPr lang="en-US" dirty="0"/>
          </a:p>
        </p:txBody>
      </p:sp>
      <p:sp>
        <p:nvSpPr>
          <p:cNvPr id="3" name="Content Placeholder 2"/>
          <p:cNvSpPr>
            <a:spLocks noGrp="1"/>
          </p:cNvSpPr>
          <p:nvPr>
            <p:ph sz="half" idx="1"/>
          </p:nvPr>
        </p:nvSpPr>
        <p:spPr>
          <a:xfrm>
            <a:off x="372189" y="1956816"/>
            <a:ext cx="5556663" cy="4120427"/>
          </a:xfrm>
        </p:spPr>
        <p:txBody>
          <a:bodyPr bIns="137160"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9227A447-AD3E-43E5-8193-BFADE932E8B9}"/>
              </a:ext>
            </a:extLst>
          </p:cNvPr>
          <p:cNvSpPr>
            <a:spLocks noGrp="1"/>
          </p:cNvSpPr>
          <p:nvPr>
            <p:ph type="body" sz="quarter" idx="13" hasCustomPrompt="1"/>
          </p:nvPr>
        </p:nvSpPr>
        <p:spPr>
          <a:xfrm>
            <a:off x="374904" y="1170432"/>
            <a:ext cx="5556663" cy="573617"/>
          </a:xfrm>
        </p:spPr>
        <p:txBody>
          <a:bodyPr>
            <a:noAutofit/>
          </a:bodyPr>
          <a:lstStyle>
            <a:lvl1pPr>
              <a:lnSpc>
                <a:spcPct val="100000"/>
              </a:lnSpc>
              <a:defRPr sz="2000" b="0" i="0">
                <a:latin typeface="+mn-lt"/>
              </a:defRPr>
            </a:lvl1pPr>
            <a:lvl3pPr marL="8466" indent="0">
              <a:buNone/>
              <a:defRPr/>
            </a:lvl3pPr>
            <a:lvl4pPr marL="232828" indent="0">
              <a:buNone/>
              <a:defRPr/>
            </a:lvl4pPr>
            <a:lvl5pPr marL="459305" indent="0">
              <a:buNone/>
              <a:defRPr/>
            </a:lvl5pPr>
          </a:lstStyle>
          <a:p>
            <a:pPr lvl="0"/>
            <a:r>
              <a:rPr lang="en-US" dirty="0"/>
              <a:t>Subhead if necessary</a:t>
            </a:r>
          </a:p>
        </p:txBody>
      </p:sp>
      <p:sp>
        <p:nvSpPr>
          <p:cNvPr id="10" name="Content Placeholder 9">
            <a:extLst>
              <a:ext uri="{FF2B5EF4-FFF2-40B4-BE49-F238E27FC236}">
                <a16:creationId xmlns:a16="http://schemas.microsoft.com/office/drawing/2014/main" id="{D457C096-4AC9-390C-2520-4A3B876FA28A}"/>
              </a:ext>
            </a:extLst>
          </p:cNvPr>
          <p:cNvSpPr>
            <a:spLocks noGrp="1"/>
          </p:cNvSpPr>
          <p:nvPr>
            <p:ph sz="quarter" idx="14"/>
          </p:nvPr>
        </p:nvSpPr>
        <p:spPr>
          <a:xfrm>
            <a:off x="6096001" y="1637770"/>
            <a:ext cx="5729817" cy="47799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6">
            <a:extLst>
              <a:ext uri="{FF2B5EF4-FFF2-40B4-BE49-F238E27FC236}">
                <a16:creationId xmlns:a16="http://schemas.microsoft.com/office/drawing/2014/main" id="{A938B46E-9006-CBC8-498C-40536BF7D810}"/>
              </a:ext>
            </a:extLst>
          </p:cNvPr>
          <p:cNvSpPr>
            <a:spLocks noGrp="1"/>
          </p:cNvSpPr>
          <p:nvPr>
            <p:ph type="sldNum" sz="quarter" idx="12"/>
          </p:nvPr>
        </p:nvSpPr>
        <p:spPr>
          <a:xfrm>
            <a:off x="11346640" y="6583477"/>
            <a:ext cx="497708" cy="275167"/>
          </a:xfrm>
          <a:prstGeom prst="rect">
            <a:avLst/>
          </a:prstGeom>
        </p:spPr>
        <p:txBody>
          <a:bodyPr anchor="ctr" anchorCtr="0"/>
          <a:lstStyle>
            <a:lvl1pPr algn="r">
              <a:defRPr sz="930" b="1">
                <a:solidFill>
                  <a:schemeClr val="bg1"/>
                </a:solidFill>
              </a:defRPr>
            </a:lvl1pPr>
          </a:lstStyle>
          <a:p>
            <a:fld id="{0D558541-60C9-42A2-8392-FF12533A6B7A}" type="slidenum">
              <a:rPr lang="en-US" smtClean="0"/>
              <a:pPr/>
              <a:t>‹#›</a:t>
            </a:fld>
            <a:endParaRPr lang="en-US" dirty="0"/>
          </a:p>
        </p:txBody>
      </p:sp>
    </p:spTree>
    <p:extLst>
      <p:ext uri="{BB962C8B-B14F-4D97-AF65-F5344CB8AC3E}">
        <p14:creationId xmlns:p14="http://schemas.microsoft.com/office/powerpoint/2010/main" val="4073013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Columns-Typ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90000"/>
              </a:lnSpc>
              <a:defRPr>
                <a:latin typeface="+mj-lt"/>
              </a:defRPr>
            </a:lvl1pPr>
          </a:lstStyle>
          <a:p>
            <a:r>
              <a:rPr lang="en-US"/>
              <a:t>Click to edit Master title style</a:t>
            </a:r>
            <a:endParaRPr lang="en-US" dirty="0"/>
          </a:p>
        </p:txBody>
      </p:sp>
      <p:sp>
        <p:nvSpPr>
          <p:cNvPr id="3" name="Content Placeholder 2"/>
          <p:cNvSpPr>
            <a:spLocks noGrp="1"/>
          </p:cNvSpPr>
          <p:nvPr>
            <p:ph idx="1"/>
          </p:nvPr>
        </p:nvSpPr>
        <p:spPr>
          <a:xfrm>
            <a:off x="372189" y="1956816"/>
            <a:ext cx="3520440" cy="4453128"/>
          </a:xfrm>
        </p:spPr>
        <p:txBody>
          <a:bodyPr/>
          <a:lstStyle>
            <a:lvl1pPr>
              <a:lnSpc>
                <a:spcPct val="114000"/>
              </a:lnSpc>
              <a:spcAft>
                <a:spcPts val="400"/>
              </a:spcAft>
              <a:defRPr sz="1800"/>
            </a:lvl1pPr>
            <a:lvl2pPr>
              <a:lnSpc>
                <a:spcPct val="114000"/>
              </a:lnSpc>
              <a:spcAft>
                <a:spcPts val="600"/>
              </a:spcAft>
              <a:defRPr/>
            </a:lvl2pPr>
            <a:lvl3pPr>
              <a:lnSpc>
                <a:spcPct val="114000"/>
              </a:lnSpc>
              <a:spcAft>
                <a:spcPts val="600"/>
              </a:spcAft>
              <a:defRPr/>
            </a:lvl3pPr>
            <a:lvl4pPr>
              <a:lnSpc>
                <a:spcPct val="114000"/>
              </a:lnSpc>
              <a:spcAft>
                <a:spcPts val="600"/>
              </a:spcAft>
              <a:defRPr/>
            </a:lvl4pPr>
            <a:lvl5pPr>
              <a:lnSpc>
                <a:spcPct val="114000"/>
              </a:lnSpc>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12">
            <a:extLst>
              <a:ext uri="{FF2B5EF4-FFF2-40B4-BE49-F238E27FC236}">
                <a16:creationId xmlns:a16="http://schemas.microsoft.com/office/drawing/2014/main" id="{4D5A83BB-9D8E-880B-93F2-512308F05947}"/>
              </a:ext>
            </a:extLst>
          </p:cNvPr>
          <p:cNvSpPr>
            <a:spLocks noGrp="1"/>
          </p:cNvSpPr>
          <p:nvPr>
            <p:ph type="body" sz="quarter" idx="13" hasCustomPrompt="1"/>
          </p:nvPr>
        </p:nvSpPr>
        <p:spPr>
          <a:xfrm>
            <a:off x="372534" y="1170432"/>
            <a:ext cx="11453627" cy="573617"/>
          </a:xfrm>
        </p:spPr>
        <p:txBody>
          <a:bodyPr>
            <a:noAutofit/>
          </a:bodyPr>
          <a:lstStyle>
            <a:lvl1pPr>
              <a:lnSpc>
                <a:spcPct val="100000"/>
              </a:lnSpc>
              <a:defRPr sz="2000" b="0" i="0">
                <a:latin typeface="+mn-lt"/>
              </a:defRPr>
            </a:lvl1pPr>
            <a:lvl3pPr marL="8466" indent="0">
              <a:buNone/>
              <a:defRPr/>
            </a:lvl3pPr>
            <a:lvl4pPr marL="232828" indent="0">
              <a:buNone/>
              <a:defRPr/>
            </a:lvl4pPr>
            <a:lvl5pPr marL="459305" indent="0">
              <a:buNone/>
              <a:defRPr/>
            </a:lvl5pPr>
          </a:lstStyle>
          <a:p>
            <a:pPr lvl="0"/>
            <a:r>
              <a:rPr lang="en-US" dirty="0"/>
              <a:t>Subhead if necessary</a:t>
            </a:r>
          </a:p>
        </p:txBody>
      </p:sp>
      <p:sp>
        <p:nvSpPr>
          <p:cNvPr id="11" name="Content Placeholder 2">
            <a:extLst>
              <a:ext uri="{FF2B5EF4-FFF2-40B4-BE49-F238E27FC236}">
                <a16:creationId xmlns:a16="http://schemas.microsoft.com/office/drawing/2014/main" id="{4137307E-40E5-5240-6CF4-FDDE718A1CCC}"/>
              </a:ext>
            </a:extLst>
          </p:cNvPr>
          <p:cNvSpPr>
            <a:spLocks noGrp="1"/>
          </p:cNvSpPr>
          <p:nvPr>
            <p:ph idx="14"/>
          </p:nvPr>
        </p:nvSpPr>
        <p:spPr>
          <a:xfrm>
            <a:off x="8307149" y="1956816"/>
            <a:ext cx="3520440" cy="4453128"/>
          </a:xfrm>
        </p:spPr>
        <p:txBody>
          <a:bodyPr/>
          <a:lstStyle>
            <a:lvl1pPr>
              <a:lnSpc>
                <a:spcPct val="114000"/>
              </a:lnSpc>
              <a:spcAft>
                <a:spcPts val="400"/>
              </a:spcAft>
              <a:defRPr sz="1800"/>
            </a:lvl1pPr>
            <a:lvl2pPr>
              <a:lnSpc>
                <a:spcPct val="114000"/>
              </a:lnSpc>
              <a:spcAft>
                <a:spcPts val="600"/>
              </a:spcAft>
              <a:defRPr/>
            </a:lvl2pPr>
            <a:lvl3pPr>
              <a:lnSpc>
                <a:spcPct val="114000"/>
              </a:lnSpc>
              <a:spcAft>
                <a:spcPts val="600"/>
              </a:spcAft>
              <a:defRPr/>
            </a:lvl3pPr>
            <a:lvl4pPr>
              <a:lnSpc>
                <a:spcPct val="114000"/>
              </a:lnSpc>
              <a:spcAft>
                <a:spcPts val="600"/>
              </a:spcAft>
              <a:defRPr/>
            </a:lvl4pPr>
            <a:lvl5pPr>
              <a:lnSpc>
                <a:spcPct val="114000"/>
              </a:lnSpc>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a:extLst>
              <a:ext uri="{FF2B5EF4-FFF2-40B4-BE49-F238E27FC236}">
                <a16:creationId xmlns:a16="http://schemas.microsoft.com/office/drawing/2014/main" id="{3A35DD22-AD94-02F7-726D-EF8870A6BBD7}"/>
              </a:ext>
            </a:extLst>
          </p:cNvPr>
          <p:cNvSpPr>
            <a:spLocks noGrp="1"/>
          </p:cNvSpPr>
          <p:nvPr>
            <p:ph idx="15"/>
          </p:nvPr>
        </p:nvSpPr>
        <p:spPr>
          <a:xfrm>
            <a:off x="4339669" y="1956816"/>
            <a:ext cx="3520440" cy="4453128"/>
          </a:xfrm>
        </p:spPr>
        <p:txBody>
          <a:bodyPr/>
          <a:lstStyle>
            <a:lvl1pPr>
              <a:lnSpc>
                <a:spcPct val="114000"/>
              </a:lnSpc>
              <a:spcAft>
                <a:spcPts val="400"/>
              </a:spcAft>
              <a:defRPr sz="1800"/>
            </a:lvl1pPr>
            <a:lvl2pPr>
              <a:lnSpc>
                <a:spcPct val="114000"/>
              </a:lnSpc>
              <a:spcAft>
                <a:spcPts val="600"/>
              </a:spcAft>
              <a:defRPr/>
            </a:lvl2pPr>
            <a:lvl3pPr>
              <a:lnSpc>
                <a:spcPct val="114000"/>
              </a:lnSpc>
              <a:spcAft>
                <a:spcPts val="600"/>
              </a:spcAft>
              <a:defRPr/>
            </a:lvl3pPr>
            <a:lvl4pPr>
              <a:lnSpc>
                <a:spcPct val="114000"/>
              </a:lnSpc>
              <a:spcAft>
                <a:spcPts val="600"/>
              </a:spcAft>
              <a:defRPr/>
            </a:lvl4pPr>
            <a:lvl5pPr>
              <a:lnSpc>
                <a:spcPct val="114000"/>
              </a:lnSpc>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6">
            <a:extLst>
              <a:ext uri="{FF2B5EF4-FFF2-40B4-BE49-F238E27FC236}">
                <a16:creationId xmlns:a16="http://schemas.microsoft.com/office/drawing/2014/main" id="{D2252798-75B5-6A20-2C7F-A0A9106AC0E3}"/>
              </a:ext>
            </a:extLst>
          </p:cNvPr>
          <p:cNvSpPr>
            <a:spLocks noGrp="1"/>
          </p:cNvSpPr>
          <p:nvPr>
            <p:ph type="sldNum" sz="quarter" idx="12"/>
          </p:nvPr>
        </p:nvSpPr>
        <p:spPr>
          <a:xfrm>
            <a:off x="11346640" y="6583477"/>
            <a:ext cx="497708" cy="275167"/>
          </a:xfrm>
          <a:prstGeom prst="rect">
            <a:avLst/>
          </a:prstGeom>
        </p:spPr>
        <p:txBody>
          <a:bodyPr anchor="ctr" anchorCtr="0"/>
          <a:lstStyle>
            <a:lvl1pPr algn="r">
              <a:defRPr sz="930" b="1">
                <a:solidFill>
                  <a:schemeClr val="bg1"/>
                </a:solidFill>
              </a:defRPr>
            </a:lvl1pPr>
          </a:lstStyle>
          <a:p>
            <a:fld id="{0D558541-60C9-42A2-8392-FF12533A6B7A}" type="slidenum">
              <a:rPr lang="en-US" smtClean="0"/>
              <a:pPr/>
              <a:t>‹#›</a:t>
            </a:fld>
            <a:endParaRPr lang="en-US" dirty="0"/>
          </a:p>
        </p:txBody>
      </p:sp>
    </p:spTree>
    <p:extLst>
      <p:ext uri="{BB962C8B-B14F-4D97-AF65-F5344CB8AC3E}">
        <p14:creationId xmlns:p14="http://schemas.microsoft.com/office/powerpoint/2010/main" val="3522966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ree-Columns-Compa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E243A6D-D989-6475-9B95-66EB2ADB4D73}"/>
              </a:ext>
            </a:extLst>
          </p:cNvPr>
          <p:cNvSpPr/>
          <p:nvPr/>
        </p:nvSpPr>
        <p:spPr>
          <a:xfrm>
            <a:off x="0" y="2044904"/>
            <a:ext cx="12192000" cy="339489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85335" y="1456352"/>
            <a:ext cx="3520440" cy="4572000"/>
          </a:xfrm>
          <a:solidFill>
            <a:schemeClr val="bg1">
              <a:lumMod val="95000"/>
            </a:schemeClr>
          </a:solidFill>
          <a:ln w="25400">
            <a:solidFill>
              <a:schemeClr val="tx2"/>
            </a:solidFill>
          </a:ln>
        </p:spPr>
        <p:txBody>
          <a:bodyPr lIns="164592" tIns="137160" rIns="164592">
            <a:noAutofit/>
          </a:bodyPr>
          <a:lstStyle>
            <a:lvl1pPr algn="ctr">
              <a:lnSpc>
                <a:spcPct val="114000"/>
              </a:lnSpc>
              <a:spcAft>
                <a:spcPts val="400"/>
              </a:spcAft>
              <a:defRPr/>
            </a:lvl1pPr>
            <a:lvl2pPr algn="ctr">
              <a:lnSpc>
                <a:spcPct val="114000"/>
              </a:lnSpc>
              <a:spcAft>
                <a:spcPts val="600"/>
              </a:spcAft>
              <a:defRPr/>
            </a:lvl2pPr>
            <a:lvl3pPr>
              <a:lnSpc>
                <a:spcPct val="114000"/>
              </a:lnSpc>
              <a:spcAft>
                <a:spcPts val="600"/>
              </a:spcAft>
              <a:defRPr/>
            </a:lvl3pPr>
            <a:lvl4pPr>
              <a:lnSpc>
                <a:spcPct val="114000"/>
              </a:lnSpc>
              <a:spcAft>
                <a:spcPts val="600"/>
              </a:spcAft>
              <a:defRPr/>
            </a:lvl4pPr>
            <a:lvl5pPr>
              <a:lnSpc>
                <a:spcPct val="114000"/>
              </a:lnSpc>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a:extLst>
              <a:ext uri="{FF2B5EF4-FFF2-40B4-BE49-F238E27FC236}">
                <a16:creationId xmlns:a16="http://schemas.microsoft.com/office/drawing/2014/main" id="{71D212F2-E016-678E-503F-65211A1D60C6}"/>
              </a:ext>
            </a:extLst>
          </p:cNvPr>
          <p:cNvSpPr>
            <a:spLocks noGrp="1"/>
          </p:cNvSpPr>
          <p:nvPr>
            <p:ph sz="half" idx="13"/>
          </p:nvPr>
        </p:nvSpPr>
        <p:spPr>
          <a:xfrm>
            <a:off x="8191535" y="1456352"/>
            <a:ext cx="3520440" cy="4572000"/>
          </a:xfrm>
          <a:solidFill>
            <a:schemeClr val="bg1">
              <a:lumMod val="95000"/>
            </a:schemeClr>
          </a:solidFill>
          <a:ln w="25400">
            <a:solidFill>
              <a:schemeClr val="tx2"/>
            </a:solidFill>
          </a:ln>
        </p:spPr>
        <p:txBody>
          <a:bodyPr lIns="164592" tIns="137160" rIns="164592">
            <a:noAutofit/>
          </a:bodyPr>
          <a:lstStyle>
            <a:lvl1pPr algn="ctr">
              <a:lnSpc>
                <a:spcPct val="114000"/>
              </a:lnSpc>
              <a:spcAft>
                <a:spcPts val="400"/>
              </a:spcAft>
              <a:defRPr/>
            </a:lvl1pPr>
            <a:lvl2pPr algn="ctr">
              <a:lnSpc>
                <a:spcPct val="114000"/>
              </a:lnSpc>
              <a:spcAft>
                <a:spcPts val="600"/>
              </a:spcAft>
              <a:defRPr/>
            </a:lvl2pPr>
            <a:lvl3pPr>
              <a:lnSpc>
                <a:spcPct val="114000"/>
              </a:lnSpc>
              <a:spcAft>
                <a:spcPts val="600"/>
              </a:spcAft>
              <a:defRPr/>
            </a:lvl3pPr>
            <a:lvl4pPr>
              <a:lnSpc>
                <a:spcPct val="114000"/>
              </a:lnSpc>
              <a:spcAft>
                <a:spcPts val="600"/>
              </a:spcAft>
              <a:defRPr/>
            </a:lvl4pPr>
            <a:lvl5pPr>
              <a:lnSpc>
                <a:spcPct val="114000"/>
              </a:lnSpc>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08FE8B98-FE53-BAD7-940B-691589B7112C}"/>
              </a:ext>
            </a:extLst>
          </p:cNvPr>
          <p:cNvSpPr>
            <a:spLocks noGrp="1"/>
          </p:cNvSpPr>
          <p:nvPr>
            <p:ph sz="half" idx="14"/>
          </p:nvPr>
        </p:nvSpPr>
        <p:spPr>
          <a:xfrm>
            <a:off x="4338435" y="1456352"/>
            <a:ext cx="3520440" cy="4572000"/>
          </a:xfrm>
          <a:solidFill>
            <a:schemeClr val="bg1">
              <a:lumMod val="95000"/>
            </a:schemeClr>
          </a:solidFill>
          <a:ln w="25400">
            <a:solidFill>
              <a:schemeClr val="tx2"/>
            </a:solidFill>
          </a:ln>
        </p:spPr>
        <p:txBody>
          <a:bodyPr lIns="164592" tIns="137160" rIns="164592">
            <a:noAutofit/>
          </a:bodyPr>
          <a:lstStyle>
            <a:lvl1pPr algn="ctr">
              <a:lnSpc>
                <a:spcPct val="114000"/>
              </a:lnSpc>
              <a:spcAft>
                <a:spcPts val="400"/>
              </a:spcAft>
              <a:defRPr/>
            </a:lvl1pPr>
            <a:lvl2pPr algn="ctr">
              <a:lnSpc>
                <a:spcPct val="114000"/>
              </a:lnSpc>
              <a:spcAft>
                <a:spcPts val="600"/>
              </a:spcAft>
              <a:defRPr/>
            </a:lvl2pPr>
            <a:lvl3pPr>
              <a:lnSpc>
                <a:spcPct val="114000"/>
              </a:lnSpc>
              <a:spcAft>
                <a:spcPts val="600"/>
              </a:spcAft>
              <a:defRPr/>
            </a:lvl3pPr>
            <a:lvl4pPr>
              <a:lnSpc>
                <a:spcPct val="114000"/>
              </a:lnSpc>
              <a:spcAft>
                <a:spcPts val="600"/>
              </a:spcAft>
              <a:defRPr/>
            </a:lvl4pPr>
            <a:lvl5pPr>
              <a:lnSpc>
                <a:spcPct val="114000"/>
              </a:lnSpc>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6">
            <a:extLst>
              <a:ext uri="{FF2B5EF4-FFF2-40B4-BE49-F238E27FC236}">
                <a16:creationId xmlns:a16="http://schemas.microsoft.com/office/drawing/2014/main" id="{1411F1FF-3ACF-1975-3CD0-FA1DC10D6C31}"/>
              </a:ext>
            </a:extLst>
          </p:cNvPr>
          <p:cNvSpPr>
            <a:spLocks noGrp="1"/>
          </p:cNvSpPr>
          <p:nvPr>
            <p:ph type="sldNum" sz="quarter" idx="12"/>
          </p:nvPr>
        </p:nvSpPr>
        <p:spPr>
          <a:xfrm>
            <a:off x="11346640" y="6583477"/>
            <a:ext cx="497708" cy="275167"/>
          </a:xfrm>
          <a:prstGeom prst="rect">
            <a:avLst/>
          </a:prstGeom>
        </p:spPr>
        <p:txBody>
          <a:bodyPr anchor="ctr" anchorCtr="0"/>
          <a:lstStyle>
            <a:lvl1pPr algn="r">
              <a:defRPr sz="930" b="1">
                <a:solidFill>
                  <a:schemeClr val="bg1"/>
                </a:solidFill>
              </a:defRPr>
            </a:lvl1pPr>
          </a:lstStyle>
          <a:p>
            <a:fld id="{0D558541-60C9-42A2-8392-FF12533A6B7A}" type="slidenum">
              <a:rPr lang="en-US" smtClean="0"/>
              <a:pPr/>
              <a:t>‹#›</a:t>
            </a:fld>
            <a:endParaRPr lang="en-US" dirty="0"/>
          </a:p>
        </p:txBody>
      </p:sp>
    </p:spTree>
    <p:extLst>
      <p:ext uri="{BB962C8B-B14F-4D97-AF65-F5344CB8AC3E}">
        <p14:creationId xmlns:p14="http://schemas.microsoft.com/office/powerpoint/2010/main" val="583961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Type-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pc="0" baseline="0"/>
            </a:lvl1pPr>
          </a:lstStyle>
          <a:p>
            <a:r>
              <a:rPr lang="en-US"/>
              <a:t>Click to edit Master title style</a:t>
            </a:r>
            <a:endParaRPr lang="en-US" dirty="0"/>
          </a:p>
        </p:txBody>
      </p:sp>
      <p:sp>
        <p:nvSpPr>
          <p:cNvPr id="9" name="Table Placeholder 8">
            <a:extLst>
              <a:ext uri="{FF2B5EF4-FFF2-40B4-BE49-F238E27FC236}">
                <a16:creationId xmlns:a16="http://schemas.microsoft.com/office/drawing/2014/main" id="{A25917EB-8EBC-54E5-E082-F2C50065DE90}"/>
              </a:ext>
            </a:extLst>
          </p:cNvPr>
          <p:cNvSpPr>
            <a:spLocks noGrp="1"/>
          </p:cNvSpPr>
          <p:nvPr>
            <p:ph type="tbl" sz="quarter" idx="13"/>
          </p:nvPr>
        </p:nvSpPr>
        <p:spPr>
          <a:xfrm>
            <a:off x="457201" y="1885506"/>
            <a:ext cx="11277599" cy="4532227"/>
          </a:xfrm>
        </p:spPr>
        <p:txBody>
          <a:bodyPr/>
          <a:lstStyle/>
          <a:p>
            <a:r>
              <a:rPr lang="en-US"/>
              <a:t>Click icon to add table</a:t>
            </a:r>
            <a:endParaRPr lang="en-US" dirty="0"/>
          </a:p>
        </p:txBody>
      </p:sp>
      <p:sp>
        <p:nvSpPr>
          <p:cNvPr id="7" name="Text Placeholder 12">
            <a:extLst>
              <a:ext uri="{FF2B5EF4-FFF2-40B4-BE49-F238E27FC236}">
                <a16:creationId xmlns:a16="http://schemas.microsoft.com/office/drawing/2014/main" id="{A8F5E660-7E62-50F2-6560-4A37AF0569FD}"/>
              </a:ext>
            </a:extLst>
          </p:cNvPr>
          <p:cNvSpPr>
            <a:spLocks noGrp="1"/>
          </p:cNvSpPr>
          <p:nvPr>
            <p:ph type="body" sz="quarter" idx="14" hasCustomPrompt="1"/>
          </p:nvPr>
        </p:nvSpPr>
        <p:spPr>
          <a:xfrm>
            <a:off x="372534" y="1170432"/>
            <a:ext cx="11453627" cy="573617"/>
          </a:xfrm>
        </p:spPr>
        <p:txBody>
          <a:bodyPr>
            <a:noAutofit/>
          </a:bodyPr>
          <a:lstStyle>
            <a:lvl1pPr>
              <a:lnSpc>
                <a:spcPct val="100000"/>
              </a:lnSpc>
              <a:defRPr sz="2000" b="0" i="0">
                <a:latin typeface="+mn-lt"/>
              </a:defRPr>
            </a:lvl1pPr>
            <a:lvl3pPr marL="8466" indent="0">
              <a:buNone/>
              <a:defRPr/>
            </a:lvl3pPr>
            <a:lvl4pPr marL="232828" indent="0">
              <a:buNone/>
              <a:defRPr/>
            </a:lvl4pPr>
            <a:lvl5pPr marL="459305" indent="0">
              <a:buNone/>
              <a:defRPr/>
            </a:lvl5pPr>
          </a:lstStyle>
          <a:p>
            <a:pPr lvl="0"/>
            <a:r>
              <a:rPr lang="en-US" dirty="0"/>
              <a:t>Subhead if necessary</a:t>
            </a:r>
          </a:p>
        </p:txBody>
      </p:sp>
      <p:sp>
        <p:nvSpPr>
          <p:cNvPr id="3" name="Slide Number Placeholder 6">
            <a:extLst>
              <a:ext uri="{FF2B5EF4-FFF2-40B4-BE49-F238E27FC236}">
                <a16:creationId xmlns:a16="http://schemas.microsoft.com/office/drawing/2014/main" id="{ED02709C-B9E2-2479-FCC5-059829D6B09E}"/>
              </a:ext>
            </a:extLst>
          </p:cNvPr>
          <p:cNvSpPr>
            <a:spLocks noGrp="1"/>
          </p:cNvSpPr>
          <p:nvPr>
            <p:ph type="sldNum" sz="quarter" idx="12"/>
          </p:nvPr>
        </p:nvSpPr>
        <p:spPr>
          <a:xfrm>
            <a:off x="11346640" y="6583477"/>
            <a:ext cx="497708" cy="275167"/>
          </a:xfrm>
          <a:prstGeom prst="rect">
            <a:avLst/>
          </a:prstGeom>
        </p:spPr>
        <p:txBody>
          <a:bodyPr anchor="ctr" anchorCtr="0"/>
          <a:lstStyle>
            <a:lvl1pPr algn="r">
              <a:defRPr sz="930" b="1">
                <a:solidFill>
                  <a:schemeClr val="bg1"/>
                </a:solidFill>
              </a:defRPr>
            </a:lvl1pPr>
          </a:lstStyle>
          <a:p>
            <a:fld id="{0D558541-60C9-42A2-8392-FF12533A6B7A}" type="slidenum">
              <a:rPr lang="en-US" smtClean="0"/>
              <a:pPr/>
              <a:t>‹#›</a:t>
            </a:fld>
            <a:endParaRPr lang="en-US" dirty="0"/>
          </a:p>
        </p:txBody>
      </p:sp>
    </p:spTree>
    <p:extLst>
      <p:ext uri="{BB962C8B-B14F-4D97-AF65-F5344CB8AC3E}">
        <p14:creationId xmlns:p14="http://schemas.microsoft.com/office/powerpoint/2010/main" val="1029775172"/>
      </p:ext>
    </p:extLst>
  </p:cSld>
  <p:clrMapOvr>
    <a:masterClrMapping/>
  </p:clrMapOvr>
  <p:extLst>
    <p:ext uri="{DCECCB84-F9BA-43D5-87BE-67443E8EF086}">
      <p15:sldGuideLst xmlns:p15="http://schemas.microsoft.com/office/powerpoint/2012/main">
        <p15:guide id="5" orient="horz" pos="2160">
          <p15:clr>
            <a:srgbClr val="FBAE40"/>
          </p15:clr>
        </p15:guide>
        <p15:guide id="6" orient="horz" pos="132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Sub-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Text Placeholder 12">
            <a:extLst>
              <a:ext uri="{FF2B5EF4-FFF2-40B4-BE49-F238E27FC236}">
                <a16:creationId xmlns:a16="http://schemas.microsoft.com/office/drawing/2014/main" id="{210ED764-95FB-8EBB-7659-9AEFCB94E218}"/>
              </a:ext>
            </a:extLst>
          </p:cNvPr>
          <p:cNvSpPr>
            <a:spLocks noGrp="1"/>
          </p:cNvSpPr>
          <p:nvPr>
            <p:ph type="body" sz="quarter" idx="14" hasCustomPrompt="1"/>
          </p:nvPr>
        </p:nvSpPr>
        <p:spPr>
          <a:xfrm>
            <a:off x="372534" y="1170432"/>
            <a:ext cx="11453627" cy="573617"/>
          </a:xfrm>
        </p:spPr>
        <p:txBody>
          <a:bodyPr>
            <a:noAutofit/>
          </a:bodyPr>
          <a:lstStyle>
            <a:lvl1pPr>
              <a:lnSpc>
                <a:spcPct val="100000"/>
              </a:lnSpc>
              <a:defRPr sz="2000" b="0" i="0">
                <a:latin typeface="+mn-lt"/>
              </a:defRPr>
            </a:lvl1pPr>
            <a:lvl3pPr marL="8466" indent="0">
              <a:buNone/>
              <a:defRPr/>
            </a:lvl3pPr>
            <a:lvl4pPr marL="232828" indent="0">
              <a:buNone/>
              <a:defRPr/>
            </a:lvl4pPr>
            <a:lvl5pPr marL="459305" indent="0">
              <a:buNone/>
              <a:defRPr/>
            </a:lvl5pPr>
          </a:lstStyle>
          <a:p>
            <a:pPr lvl="0"/>
            <a:r>
              <a:rPr lang="en-US" dirty="0"/>
              <a:t>Subhead if necessary</a:t>
            </a:r>
          </a:p>
        </p:txBody>
      </p:sp>
      <p:sp>
        <p:nvSpPr>
          <p:cNvPr id="3" name="Slide Number Placeholder 6">
            <a:extLst>
              <a:ext uri="{FF2B5EF4-FFF2-40B4-BE49-F238E27FC236}">
                <a16:creationId xmlns:a16="http://schemas.microsoft.com/office/drawing/2014/main" id="{55373F48-814A-152B-041B-20CF6CEADF41}"/>
              </a:ext>
            </a:extLst>
          </p:cNvPr>
          <p:cNvSpPr>
            <a:spLocks noGrp="1"/>
          </p:cNvSpPr>
          <p:nvPr>
            <p:ph type="sldNum" sz="quarter" idx="12"/>
          </p:nvPr>
        </p:nvSpPr>
        <p:spPr>
          <a:xfrm>
            <a:off x="11346640" y="6583477"/>
            <a:ext cx="497708" cy="275167"/>
          </a:xfrm>
          <a:prstGeom prst="rect">
            <a:avLst/>
          </a:prstGeom>
        </p:spPr>
        <p:txBody>
          <a:bodyPr anchor="ctr" anchorCtr="0"/>
          <a:lstStyle>
            <a:lvl1pPr algn="r">
              <a:defRPr sz="930" b="1">
                <a:solidFill>
                  <a:schemeClr val="bg1"/>
                </a:solidFill>
              </a:defRPr>
            </a:lvl1pPr>
          </a:lstStyle>
          <a:p>
            <a:fld id="{0D558541-60C9-42A2-8392-FF12533A6B7A}" type="slidenum">
              <a:rPr lang="en-US" smtClean="0"/>
              <a:pPr/>
              <a:t>‹#›</a:t>
            </a:fld>
            <a:endParaRPr lang="en-US" dirty="0"/>
          </a:p>
        </p:txBody>
      </p:sp>
    </p:spTree>
    <p:extLst>
      <p:ext uri="{BB962C8B-B14F-4D97-AF65-F5344CB8AC3E}">
        <p14:creationId xmlns:p14="http://schemas.microsoft.com/office/powerpoint/2010/main" val="40868142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_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F6ABA64-368E-BBC0-663A-E04E9904B76F}"/>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p>
        </p:txBody>
      </p:sp>
      <p:pic>
        <p:nvPicPr>
          <p:cNvPr id="9" name="Graphic 8">
            <a:extLst>
              <a:ext uri="{FF2B5EF4-FFF2-40B4-BE49-F238E27FC236}">
                <a16:creationId xmlns:a16="http://schemas.microsoft.com/office/drawing/2014/main" id="{3EB608DE-BFCD-A2BA-DB2F-60A4A85A8285}"/>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12" t="-148" r="7377" b="148"/>
          <a:stretch/>
        </p:blipFill>
        <p:spPr>
          <a:xfrm>
            <a:off x="-7147" y="1"/>
            <a:ext cx="8941484" cy="6858001"/>
          </a:xfrm>
          <a:prstGeom prst="rect">
            <a:avLst/>
          </a:prstGeom>
        </p:spPr>
      </p:pic>
      <p:pic>
        <p:nvPicPr>
          <p:cNvPr id="10" name="Graphic 9">
            <a:extLst>
              <a:ext uri="{FF2B5EF4-FFF2-40B4-BE49-F238E27FC236}">
                <a16:creationId xmlns:a16="http://schemas.microsoft.com/office/drawing/2014/main" id="{07F6CAA3-8590-69C0-BCEF-50C02B09A4CE}"/>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1" t="1633" r="28586"/>
          <a:stretch/>
        </p:blipFill>
        <p:spPr>
          <a:xfrm>
            <a:off x="2752898" y="0"/>
            <a:ext cx="9439103" cy="6868192"/>
          </a:xfrm>
          <a:prstGeom prst="rect">
            <a:avLst/>
          </a:prstGeom>
        </p:spPr>
      </p:pic>
      <p:pic>
        <p:nvPicPr>
          <p:cNvPr id="11" name="Picture 10">
            <a:extLst>
              <a:ext uri="{FF2B5EF4-FFF2-40B4-BE49-F238E27FC236}">
                <a16:creationId xmlns:a16="http://schemas.microsoft.com/office/drawing/2014/main" id="{0ED0132E-7B12-5E0A-3026-66DB8B11427A}"/>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9447021" y="5298724"/>
            <a:ext cx="2257273" cy="421107"/>
          </a:xfrm>
          <a:prstGeom prst="rect">
            <a:avLst/>
          </a:prstGeom>
        </p:spPr>
      </p:pic>
      <p:sp>
        <p:nvSpPr>
          <p:cNvPr id="2" name="Title 1"/>
          <p:cNvSpPr>
            <a:spLocks noGrp="1"/>
          </p:cNvSpPr>
          <p:nvPr>
            <p:ph type="ctrTitle"/>
          </p:nvPr>
        </p:nvSpPr>
        <p:spPr>
          <a:xfrm>
            <a:off x="6096001" y="606689"/>
            <a:ext cx="5729817" cy="2387600"/>
          </a:xfrm>
        </p:spPr>
        <p:txBody>
          <a:bodyPr rIns="73152" anchor="b"/>
          <a:lstStyle>
            <a:lvl1pPr algn="r">
              <a:defRPr sz="5200" baseline="0">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4E274995-A486-3498-56E0-BCAF34D31316}"/>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9447021" y="5298724"/>
            <a:ext cx="2257273" cy="421107"/>
          </a:xfrm>
          <a:prstGeom prst="rect">
            <a:avLst/>
          </a:prstGeom>
        </p:spPr>
      </p:pic>
      <p:pic>
        <p:nvPicPr>
          <p:cNvPr id="4" name="Picture 3">
            <a:extLst>
              <a:ext uri="{FF2B5EF4-FFF2-40B4-BE49-F238E27FC236}">
                <a16:creationId xmlns:a16="http://schemas.microsoft.com/office/drawing/2014/main" id="{57D5E1C3-9FA2-812F-68A0-884F83841065}"/>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9447021" y="5298724"/>
            <a:ext cx="2257273" cy="421107"/>
          </a:xfrm>
          <a:prstGeom prst="rect">
            <a:avLst/>
          </a:prstGeom>
        </p:spPr>
      </p:pic>
      <p:pic>
        <p:nvPicPr>
          <p:cNvPr id="5" name="Picture 4">
            <a:extLst>
              <a:ext uri="{FF2B5EF4-FFF2-40B4-BE49-F238E27FC236}">
                <a16:creationId xmlns:a16="http://schemas.microsoft.com/office/drawing/2014/main" id="{3DF2A1F7-2DA3-AC5C-92EC-87F1062355BA}"/>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9447021" y="5298724"/>
            <a:ext cx="2257273" cy="421107"/>
          </a:xfrm>
          <a:prstGeom prst="rect">
            <a:avLst/>
          </a:prstGeom>
        </p:spPr>
      </p:pic>
      <p:pic>
        <p:nvPicPr>
          <p:cNvPr id="6" name="Picture 5">
            <a:extLst>
              <a:ext uri="{FF2B5EF4-FFF2-40B4-BE49-F238E27FC236}">
                <a16:creationId xmlns:a16="http://schemas.microsoft.com/office/drawing/2014/main" id="{4A5D240E-F985-54F9-937A-598D1A1D4061}"/>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447021" y="5298724"/>
            <a:ext cx="2257273" cy="421107"/>
          </a:xfrm>
          <a:prstGeom prst="rect">
            <a:avLst/>
          </a:prstGeom>
        </p:spPr>
      </p:pic>
    </p:spTree>
    <p:extLst>
      <p:ext uri="{BB962C8B-B14F-4D97-AF65-F5344CB8AC3E}">
        <p14:creationId xmlns:p14="http://schemas.microsoft.com/office/powerpoint/2010/main" val="2176702280"/>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 Id="rId16" Type="http://schemas.openxmlformats.org/officeDocument/2006/relationships/image" Target="../media/image2.svg"/><Relationship Id="rId17" Type="http://schemas.openxmlformats.org/officeDocument/2006/relationships/image" Target="../media/image3.png"/><Relationship Id="rId18" Type="http://schemas.openxmlformats.org/officeDocument/2006/relationships/image" Target="../media/image4.svg"/><Relationship Id="rId19" Type="http://schemas.openxmlformats.org/officeDocument/2006/relationships/image" Target="../media/image5.png"/><Relationship Id="rId20" Type="http://schemas.openxmlformats.org/officeDocument/2006/relationships/image" Target="../media/image6.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72189" y="0"/>
            <a:ext cx="11453628" cy="1143000"/>
          </a:xfrm>
          <a:prstGeom prst="rect">
            <a:avLst/>
          </a:prstGeom>
        </p:spPr>
        <p:txBody>
          <a:bodyPr vert="horz" lIns="73152" tIns="45720" rIns="91440" bIns="45720" rtlCol="0" anchor="b" anchorCtr="0">
            <a:noAutofit/>
          </a:bodyPr>
          <a:lstStyle/>
          <a:p>
            <a:r>
              <a:rPr lang="en-US" dirty="0"/>
              <a:t>Click to edit Master title</a:t>
            </a:r>
          </a:p>
        </p:txBody>
      </p:sp>
      <p:sp>
        <p:nvSpPr>
          <p:cNvPr id="3" name="Text Placeholder 2"/>
          <p:cNvSpPr>
            <a:spLocks noGrp="1"/>
          </p:cNvSpPr>
          <p:nvPr>
            <p:ph type="body" idx="1"/>
          </p:nvPr>
        </p:nvSpPr>
        <p:spPr>
          <a:xfrm>
            <a:off x="372189" y="2622003"/>
            <a:ext cx="11453628" cy="355496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6" name="Graphic 15">
            <a:extLst>
              <a:ext uri="{FF2B5EF4-FFF2-40B4-BE49-F238E27FC236}">
                <a16:creationId xmlns:a16="http://schemas.microsoft.com/office/drawing/2014/main" id="{84648D25-2907-76E6-F373-A073DDE5633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75782" y="6658064"/>
            <a:ext cx="1670904" cy="103257"/>
          </a:xfrm>
          <a:prstGeom prst="rect">
            <a:avLst/>
          </a:prstGeom>
        </p:spPr>
      </p:pic>
      <p:pic>
        <p:nvPicPr>
          <p:cNvPr id="19" name="Graphic 18">
            <a:extLst>
              <a:ext uri="{FF2B5EF4-FFF2-40B4-BE49-F238E27FC236}">
                <a16:creationId xmlns:a16="http://schemas.microsoft.com/office/drawing/2014/main" id="{42CD8742-78CC-2836-6668-C8A0EBEE414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75782" y="6658064"/>
            <a:ext cx="1670904" cy="103257"/>
          </a:xfrm>
          <a:prstGeom prst="rect">
            <a:avLst/>
          </a:prstGeom>
        </p:spPr>
      </p:pic>
      <p:sp>
        <p:nvSpPr>
          <p:cNvPr id="25" name="Rectangle 24">
            <a:extLst>
              <a:ext uri="{FF2B5EF4-FFF2-40B4-BE49-F238E27FC236}">
                <a16:creationId xmlns:a16="http://schemas.microsoft.com/office/drawing/2014/main" id="{53AE01DE-90C4-B404-F28D-321ADD0553A0}"/>
              </a:ext>
            </a:extLst>
          </p:cNvPr>
          <p:cNvSpPr/>
          <p:nvPr/>
        </p:nvSpPr>
        <p:spPr>
          <a:xfrm>
            <a:off x="1" y="6554538"/>
            <a:ext cx="12192000" cy="304800"/>
          </a:xfrm>
          <a:prstGeom prst="rect">
            <a:avLst/>
          </a:prstGeom>
          <a:gradFill>
            <a:gsLst>
              <a:gs pos="23000">
                <a:srgbClr val="38175A"/>
              </a:gs>
              <a:gs pos="48000">
                <a:srgbClr val="4E2A84"/>
              </a:gs>
            </a:gsLst>
            <a:lin ang="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pic>
        <p:nvPicPr>
          <p:cNvPr id="26" name="Graphic 25">
            <a:extLst>
              <a:ext uri="{FF2B5EF4-FFF2-40B4-BE49-F238E27FC236}">
                <a16:creationId xmlns:a16="http://schemas.microsoft.com/office/drawing/2014/main" id="{D11852D9-AE8A-AFEA-DCDC-96EF7854D9F4}"/>
              </a:ext>
            </a:extLst>
          </p:cNvPr>
          <p:cNvPicPr>
            <a:picLocks noChangeAspect="1"/>
          </p:cNvPicPr>
          <p:nvPr/>
        </p:nvPicPr>
        <p:blipFill rotWithShape="1">
          <a:blip r:embed="rId17">
            <a:extLst>
              <a:ext uri="{96DAC541-7B7A-43D3-8B79-37D633B846F1}">
                <asvg:svgBlip xmlns:asvg="http://schemas.microsoft.com/office/drawing/2016/SVG/main" r:embed="rId18"/>
              </a:ext>
            </a:extLst>
          </a:blip>
          <a:srcRect l="28799" t="85341" b="592"/>
          <a:stretch/>
        </p:blipFill>
        <p:spPr>
          <a:xfrm>
            <a:off x="0" y="6556376"/>
            <a:ext cx="2829489" cy="301624"/>
          </a:xfrm>
          <a:prstGeom prst="rect">
            <a:avLst/>
          </a:prstGeom>
        </p:spPr>
      </p:pic>
      <p:sp>
        <p:nvSpPr>
          <p:cNvPr id="27" name="Footer Placeholder 2">
            <a:extLst>
              <a:ext uri="{FF2B5EF4-FFF2-40B4-BE49-F238E27FC236}">
                <a16:creationId xmlns:a16="http://schemas.microsoft.com/office/drawing/2014/main" id="{99B5B88B-F3FF-DC9B-1E8A-89B0406BE3BF}"/>
              </a:ext>
            </a:extLst>
          </p:cNvPr>
          <p:cNvSpPr txBox="1">
            <a:spLocks/>
          </p:cNvSpPr>
          <p:nvPr/>
        </p:nvSpPr>
        <p:spPr>
          <a:xfrm>
            <a:off x="4450471" y="6598308"/>
            <a:ext cx="6908800" cy="269217"/>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933" baseline="0" dirty="0">
                <a:solidFill>
                  <a:schemeClr val="bg1"/>
                </a:solidFill>
                <a:latin typeface="Century Gothic" panose="020B0502020202020204" pitchFamily="34" charset="0"/>
              </a:rPr>
              <a:t>Leading the way to better care</a:t>
            </a:r>
          </a:p>
        </p:txBody>
      </p:sp>
      <p:pic>
        <p:nvPicPr>
          <p:cNvPr id="28" name="Graphic 27">
            <a:extLst>
              <a:ext uri="{FF2B5EF4-FFF2-40B4-BE49-F238E27FC236}">
                <a16:creationId xmlns:a16="http://schemas.microsoft.com/office/drawing/2014/main" id="{0A26BD3D-2CBD-1C35-7E3C-714964E9E9C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1421645" y="6655750"/>
            <a:ext cx="97536" cy="121920"/>
          </a:xfrm>
          <a:prstGeom prst="rect">
            <a:avLst/>
          </a:prstGeom>
        </p:spPr>
      </p:pic>
      <p:pic>
        <p:nvPicPr>
          <p:cNvPr id="29" name="Graphic 28">
            <a:extLst>
              <a:ext uri="{FF2B5EF4-FFF2-40B4-BE49-F238E27FC236}">
                <a16:creationId xmlns:a16="http://schemas.microsoft.com/office/drawing/2014/main" id="{552565F4-9FD9-E8B3-4A03-9AAD30B932D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19719" y="6659402"/>
            <a:ext cx="1670904" cy="103257"/>
          </a:xfrm>
          <a:prstGeom prst="rect">
            <a:avLst/>
          </a:prstGeom>
        </p:spPr>
      </p:pic>
      <p:sp>
        <p:nvSpPr>
          <p:cNvPr id="4" name="Rectangle 3">
            <a:extLst>
              <a:ext uri="{FF2B5EF4-FFF2-40B4-BE49-F238E27FC236}">
                <a16:creationId xmlns:a16="http://schemas.microsoft.com/office/drawing/2014/main" id="{648F7278-2615-2054-B90E-2AA753C02FCC}"/>
              </a:ext>
            </a:extLst>
          </p:cNvPr>
          <p:cNvSpPr/>
          <p:nvPr/>
        </p:nvSpPr>
        <p:spPr>
          <a:xfrm>
            <a:off x="1" y="6554538"/>
            <a:ext cx="12192000" cy="304800"/>
          </a:xfrm>
          <a:prstGeom prst="rect">
            <a:avLst/>
          </a:prstGeom>
          <a:gradFill>
            <a:gsLst>
              <a:gs pos="23000">
                <a:srgbClr val="38175A"/>
              </a:gs>
              <a:gs pos="48000">
                <a:srgbClr val="4E2A84"/>
              </a:gs>
            </a:gsLst>
            <a:lin ang="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pic>
        <p:nvPicPr>
          <p:cNvPr id="5" name="Graphic 4">
            <a:extLst>
              <a:ext uri="{FF2B5EF4-FFF2-40B4-BE49-F238E27FC236}">
                <a16:creationId xmlns:a16="http://schemas.microsoft.com/office/drawing/2014/main" id="{8CFCDD35-1AC9-108E-C18C-ECE15875388E}"/>
              </a:ext>
            </a:extLst>
          </p:cNvPr>
          <p:cNvPicPr>
            <a:picLocks noChangeAspect="1"/>
          </p:cNvPicPr>
          <p:nvPr/>
        </p:nvPicPr>
        <p:blipFill rotWithShape="1">
          <a:blip r:embed="rId17">
            <a:extLst>
              <a:ext uri="{96DAC541-7B7A-43D3-8B79-37D633B846F1}">
                <asvg:svgBlip xmlns:asvg="http://schemas.microsoft.com/office/drawing/2016/SVG/main" r:embed="rId18"/>
              </a:ext>
            </a:extLst>
          </a:blip>
          <a:srcRect l="28799" t="85341" b="592"/>
          <a:stretch/>
        </p:blipFill>
        <p:spPr>
          <a:xfrm>
            <a:off x="0" y="6556376"/>
            <a:ext cx="2829489" cy="301624"/>
          </a:xfrm>
          <a:prstGeom prst="rect">
            <a:avLst/>
          </a:prstGeom>
        </p:spPr>
      </p:pic>
      <p:sp>
        <p:nvSpPr>
          <p:cNvPr id="6" name="Footer Placeholder 2">
            <a:extLst>
              <a:ext uri="{FF2B5EF4-FFF2-40B4-BE49-F238E27FC236}">
                <a16:creationId xmlns:a16="http://schemas.microsoft.com/office/drawing/2014/main" id="{630B59BD-9A7D-4D29-8E54-E1CD14439CCC}"/>
              </a:ext>
            </a:extLst>
          </p:cNvPr>
          <p:cNvSpPr txBox="1">
            <a:spLocks/>
          </p:cNvSpPr>
          <p:nvPr/>
        </p:nvSpPr>
        <p:spPr>
          <a:xfrm>
            <a:off x="4450471" y="6598308"/>
            <a:ext cx="6908800" cy="269217"/>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933" baseline="0" dirty="0">
                <a:solidFill>
                  <a:schemeClr val="bg1"/>
                </a:solidFill>
                <a:latin typeface="Century Gothic" panose="020B0502020202020204" pitchFamily="34" charset="0"/>
              </a:rPr>
              <a:t>Leading the way to better care</a:t>
            </a:r>
          </a:p>
        </p:txBody>
      </p:sp>
      <p:pic>
        <p:nvPicPr>
          <p:cNvPr id="7" name="Graphic 6">
            <a:extLst>
              <a:ext uri="{FF2B5EF4-FFF2-40B4-BE49-F238E27FC236}">
                <a16:creationId xmlns:a16="http://schemas.microsoft.com/office/drawing/2014/main" id="{E869D689-0909-8B4E-CECC-CF149412BE2E}"/>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1421645" y="6655750"/>
            <a:ext cx="97536" cy="121920"/>
          </a:xfrm>
          <a:prstGeom prst="rect">
            <a:avLst/>
          </a:prstGeom>
        </p:spPr>
      </p:pic>
      <p:pic>
        <p:nvPicPr>
          <p:cNvPr id="8" name="Graphic 7">
            <a:extLst>
              <a:ext uri="{FF2B5EF4-FFF2-40B4-BE49-F238E27FC236}">
                <a16:creationId xmlns:a16="http://schemas.microsoft.com/office/drawing/2014/main" id="{9B9F16B1-46AC-A97A-60FF-87C85E6C914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19719" y="6659402"/>
            <a:ext cx="1670904" cy="103257"/>
          </a:xfrm>
          <a:prstGeom prst="rect">
            <a:avLst/>
          </a:prstGeom>
        </p:spPr>
      </p:pic>
      <p:sp>
        <p:nvSpPr>
          <p:cNvPr id="9" name="Rectangle 8">
            <a:extLst>
              <a:ext uri="{FF2B5EF4-FFF2-40B4-BE49-F238E27FC236}">
                <a16:creationId xmlns:a16="http://schemas.microsoft.com/office/drawing/2014/main" id="{3AC5A1B2-7E72-4BEE-F4C1-A5BAF246D0D7}"/>
              </a:ext>
            </a:extLst>
          </p:cNvPr>
          <p:cNvSpPr/>
          <p:nvPr userDrawn="1"/>
        </p:nvSpPr>
        <p:spPr>
          <a:xfrm>
            <a:off x="1" y="6554538"/>
            <a:ext cx="12192000" cy="304800"/>
          </a:xfrm>
          <a:prstGeom prst="rect">
            <a:avLst/>
          </a:prstGeom>
          <a:gradFill>
            <a:gsLst>
              <a:gs pos="23000">
                <a:srgbClr val="38175A"/>
              </a:gs>
              <a:gs pos="48000">
                <a:srgbClr val="4E2A84"/>
              </a:gs>
            </a:gsLst>
            <a:lin ang="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pic>
        <p:nvPicPr>
          <p:cNvPr id="10" name="Graphic 9">
            <a:extLst>
              <a:ext uri="{FF2B5EF4-FFF2-40B4-BE49-F238E27FC236}">
                <a16:creationId xmlns:a16="http://schemas.microsoft.com/office/drawing/2014/main" id="{9D014D1F-722A-72FE-DC46-2CE32A178B2C}"/>
              </a:ext>
            </a:extLst>
          </p:cNvPr>
          <p:cNvPicPr>
            <a:picLocks noChangeAspect="1"/>
          </p:cNvPicPr>
          <p:nvPr userDrawn="1"/>
        </p:nvPicPr>
        <p:blipFill rotWithShape="1">
          <a:blip r:embed="rId17">
            <a:extLst>
              <a:ext uri="{96DAC541-7B7A-43D3-8B79-37D633B846F1}">
                <asvg:svgBlip xmlns:asvg="http://schemas.microsoft.com/office/drawing/2016/SVG/main" r:embed="rId18"/>
              </a:ext>
            </a:extLst>
          </a:blip>
          <a:srcRect l="28799" t="85341" b="592"/>
          <a:stretch/>
        </p:blipFill>
        <p:spPr>
          <a:xfrm>
            <a:off x="0" y="6556376"/>
            <a:ext cx="2829489" cy="301624"/>
          </a:xfrm>
          <a:prstGeom prst="rect">
            <a:avLst/>
          </a:prstGeom>
        </p:spPr>
      </p:pic>
      <p:sp>
        <p:nvSpPr>
          <p:cNvPr id="11" name="Footer Placeholder 2">
            <a:extLst>
              <a:ext uri="{FF2B5EF4-FFF2-40B4-BE49-F238E27FC236}">
                <a16:creationId xmlns:a16="http://schemas.microsoft.com/office/drawing/2014/main" id="{EC3D6817-EAA2-FBC2-9FE7-68758D84F57D}"/>
              </a:ext>
            </a:extLst>
          </p:cNvPr>
          <p:cNvSpPr txBox="1">
            <a:spLocks/>
          </p:cNvSpPr>
          <p:nvPr userDrawn="1"/>
        </p:nvSpPr>
        <p:spPr>
          <a:xfrm>
            <a:off x="4450471" y="6598308"/>
            <a:ext cx="6908800" cy="269217"/>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933" baseline="0" dirty="0">
                <a:solidFill>
                  <a:schemeClr val="bg1"/>
                </a:solidFill>
                <a:latin typeface="Century Gothic" panose="020B0502020202020204" pitchFamily="34" charset="0"/>
              </a:rPr>
              <a:t>Leading the way to better care</a:t>
            </a:r>
          </a:p>
        </p:txBody>
      </p:sp>
      <p:pic>
        <p:nvPicPr>
          <p:cNvPr id="12" name="Graphic 11">
            <a:extLst>
              <a:ext uri="{FF2B5EF4-FFF2-40B4-BE49-F238E27FC236}">
                <a16:creationId xmlns:a16="http://schemas.microsoft.com/office/drawing/2014/main" id="{B3BE1B18-FE9D-F957-8448-1940B46DDA8A}"/>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11421645" y="6655750"/>
            <a:ext cx="97536" cy="121920"/>
          </a:xfrm>
          <a:prstGeom prst="rect">
            <a:avLst/>
          </a:prstGeom>
        </p:spPr>
      </p:pic>
      <p:pic>
        <p:nvPicPr>
          <p:cNvPr id="13" name="Graphic 12">
            <a:extLst>
              <a:ext uri="{FF2B5EF4-FFF2-40B4-BE49-F238E27FC236}">
                <a16:creationId xmlns:a16="http://schemas.microsoft.com/office/drawing/2014/main" id="{247728EF-C926-D874-EFE4-FA3ECA2A8A2C}"/>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519719" y="6659402"/>
            <a:ext cx="1670904" cy="103257"/>
          </a:xfrm>
          <a:prstGeom prst="rect">
            <a:avLst/>
          </a:prstGeom>
        </p:spPr>
      </p:pic>
    </p:spTree>
    <p:extLst>
      <p:ext uri="{BB962C8B-B14F-4D97-AF65-F5344CB8AC3E}">
        <p14:creationId xmlns:p14="http://schemas.microsoft.com/office/powerpoint/2010/main" val="344943678"/>
      </p:ext>
    </p:extLst>
  </p:cSld>
  <p:clrMap bg1="dk1" tx1="lt1" bg2="dk2" tx2="lt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 id="2147483918" r:id="rId13"/>
  </p:sldLayoutIdLst>
  <p:hf hdr="0" ftr="0" dt="0"/>
  <p:txStyles>
    <p:titleStyle>
      <a:lvl1pPr algn="l" defTabSz="914377" rtl="0" eaLnBrk="1" latinLnBrk="0" hangingPunct="1">
        <a:lnSpc>
          <a:spcPct val="90000"/>
        </a:lnSpc>
        <a:spcBef>
          <a:spcPct val="0"/>
        </a:spcBef>
        <a:buNone/>
        <a:defRPr sz="3200" b="0" i="0" kern="1200" spc="0" baseline="0">
          <a:solidFill>
            <a:schemeClr val="tx2"/>
          </a:solidFill>
          <a:latin typeface="+mj-lt"/>
          <a:ea typeface="+mj-ea"/>
          <a:cs typeface="+mj-cs"/>
        </a:defRPr>
      </a:lvl1pPr>
    </p:titleStyle>
    <p:bodyStyle>
      <a:lvl1pPr marL="0" indent="0" algn="l" defTabSz="914377" rtl="0" eaLnBrk="1" latinLnBrk="0" hangingPunct="1">
        <a:lnSpc>
          <a:spcPct val="114000"/>
        </a:lnSpc>
        <a:spcBef>
          <a:spcPts val="1000"/>
        </a:spcBef>
        <a:spcAft>
          <a:spcPts val="400"/>
        </a:spcAft>
        <a:buFontTx/>
        <a:buNone/>
        <a:defRPr sz="1800" b="1" i="0" kern="1200">
          <a:solidFill>
            <a:schemeClr val="tx1"/>
          </a:solidFill>
          <a:latin typeface="+mn-lt"/>
          <a:ea typeface="+mn-ea"/>
          <a:cs typeface="+mn-cs"/>
        </a:defRPr>
      </a:lvl1pPr>
      <a:lvl2pPr marL="8466" indent="0" algn="l" defTabSz="914377" rtl="0" eaLnBrk="1" latinLnBrk="0" hangingPunct="1">
        <a:lnSpc>
          <a:spcPct val="114000"/>
        </a:lnSpc>
        <a:spcBef>
          <a:spcPts val="0"/>
        </a:spcBef>
        <a:spcAft>
          <a:spcPts val="600"/>
        </a:spcAft>
        <a:buFontTx/>
        <a:buNone/>
        <a:tabLst/>
        <a:defRPr sz="1600" b="0" i="0" kern="1200">
          <a:solidFill>
            <a:schemeClr val="tx1"/>
          </a:solidFill>
          <a:latin typeface="+mn-lt"/>
          <a:ea typeface="+mn-ea"/>
          <a:cs typeface="+mn-cs"/>
        </a:defRPr>
      </a:lvl2pPr>
      <a:lvl3pPr marL="232828" indent="-224361" algn="l" defTabSz="914377" rtl="0" eaLnBrk="1" latinLnBrk="0" hangingPunct="1">
        <a:lnSpc>
          <a:spcPct val="114000"/>
        </a:lnSpc>
        <a:spcBef>
          <a:spcPts val="0"/>
        </a:spcBef>
        <a:spcAft>
          <a:spcPts val="600"/>
        </a:spcAft>
        <a:buClr>
          <a:schemeClr val="tx2"/>
        </a:buClr>
        <a:buFont typeface="Arial" panose="020B0604020202020204" pitchFamily="34" charset="0"/>
        <a:buChar char="•"/>
        <a:tabLst/>
        <a:defRPr sz="1600" b="0" i="0" kern="1200">
          <a:solidFill>
            <a:schemeClr val="tx1"/>
          </a:solidFill>
          <a:latin typeface="+mn-lt"/>
          <a:ea typeface="+mn-ea"/>
          <a:cs typeface="+mn-cs"/>
        </a:defRPr>
      </a:lvl3pPr>
      <a:lvl4pPr marL="459306" indent="-226478" algn="l" defTabSz="914377" rtl="0" eaLnBrk="1" latinLnBrk="0" hangingPunct="1">
        <a:lnSpc>
          <a:spcPct val="114000"/>
        </a:lnSpc>
        <a:spcBef>
          <a:spcPts val="0"/>
        </a:spcBef>
        <a:spcAft>
          <a:spcPts val="600"/>
        </a:spcAft>
        <a:buClr>
          <a:schemeClr val="tx2"/>
        </a:buClr>
        <a:buFont typeface="Arial" panose="020B0604020202020204" pitchFamily="34" charset="0"/>
        <a:buChar char="•"/>
        <a:tabLst/>
        <a:defRPr sz="1600" b="0" i="0" kern="1200">
          <a:solidFill>
            <a:schemeClr val="tx1"/>
          </a:solidFill>
          <a:latin typeface="+mn-lt"/>
          <a:ea typeface="+mn-ea"/>
          <a:cs typeface="+mn-cs"/>
        </a:defRPr>
      </a:lvl4pPr>
      <a:lvl5pPr marL="694249" indent="-234945" algn="l" defTabSz="914377" rtl="0" eaLnBrk="1" latinLnBrk="0" hangingPunct="1">
        <a:lnSpc>
          <a:spcPct val="114000"/>
        </a:lnSpc>
        <a:spcBef>
          <a:spcPts val="0"/>
        </a:spcBef>
        <a:spcAft>
          <a:spcPts val="600"/>
        </a:spcAft>
        <a:buClr>
          <a:schemeClr val="tx2"/>
        </a:buClr>
        <a:buFont typeface="Arial" panose="020B0604020202020204" pitchFamily="34" charset="0"/>
        <a:buChar char="•"/>
        <a:tabLst/>
        <a:defRPr sz="16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7">
          <p15:clr>
            <a:srgbClr val="F26B43"/>
          </p15:clr>
        </p15:guide>
        <p15:guide id="18" pos="7680">
          <p15:clr>
            <a:srgbClr val="F26B43"/>
          </p15:clr>
        </p15:guide>
        <p15:guide id="19" pos="288">
          <p15:clr>
            <a:srgbClr val="F26B43"/>
          </p15:clr>
        </p15:guide>
        <p15:guide id="20" pos="7392">
          <p15:clr>
            <a:srgbClr val="F26B43"/>
          </p15:clr>
        </p15:guide>
        <p15:guide id="21" orient="horz">
          <p15:clr>
            <a:srgbClr val="F26B43"/>
          </p15:clr>
        </p15:guide>
        <p15:guide id="22" orient="horz" pos="4320">
          <p15:clr>
            <a:srgbClr val="F26B43"/>
          </p15:clr>
        </p15:guide>
        <p15:guide id="23" orient="horz" pos="172">
          <p15:clr>
            <a:srgbClr val="F26B43"/>
          </p15:clr>
        </p15:guide>
        <p15:guide id="24" orient="horz" pos="398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Diaphragm Dysfunction in Adults</a:t>
            </a:r>
          </a:p>
        </p:txBody>
      </p:sp>
      <p:sp>
        <p:nvSpPr>
          <p:cNvPr id="3" name="Subtitle 2"/>
          <p:cNvSpPr>
            <a:spLocks noGrp="1"/>
          </p:cNvSpPr>
          <p:nvPr>
            <p:ph type="subTitle" idx="1"/>
          </p:nvPr>
        </p:nvSpPr>
        <p:spPr/>
        <p:txBody>
          <a:bodyPr/>
          <a:lstStyle/>
          <a:p>
            <a:r>
              <a:t>Non-Traumatic Causes: Phrenic Nerve Injury, Parsonage-Turner Syndrome, Spinal Cord Disease, and Beyond</a:t>
            </a:r>
          </a:p>
        </p:txBody>
      </p:sp>
      <p:sp>
        <p:nvSpPr>
          <p:cNvPr id="4" name="Text Placeholder 3"/>
          <p:cNvSpPr>
            <a:spLocks noGrp="1"/>
          </p:cNvSpPr>
          <p:nvPr>
            <p:ph type="body" idx="12" sz="quarter"/>
          </p:nvPr>
        </p:nvSpPr>
        <p:spPr/>
        <p:txBody>
          <a:bodyPr/>
          <a:lstStyle/>
          <a:p>
            <a:r>
              <a:t>February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p:txBody>
          <a:bodyPr/>
          <a:lstStyle/>
          <a:p>
            <a:pPr lvl="2"/>
            <a:r>
              <a:t>Describe the anatomy and physiology of the phrenic nerve–diaphragm axis</a:t>
            </a:r>
          </a:p>
          <a:p>
            <a:pPr lvl="2"/>
            <a:r>
              <a:t>Identify the major non-traumatic etiologies of diaphragm dysfunction in adults</a:t>
            </a:r>
          </a:p>
          <a:p>
            <a:pPr lvl="2"/>
            <a:r>
              <a:t>Recognize the clinical presentation and diagnostic workup of diaphragm paralysis/paresis</a:t>
            </a:r>
          </a:p>
          <a:p>
            <a:pPr lvl="2"/>
            <a:r>
              <a:t>Distinguish Parsonage-Turner syndrome from other causes of phrenic neuropathy</a:t>
            </a:r>
          </a:p>
          <a:p>
            <a:pPr lvl="2"/>
            <a:r>
              <a:t>Apply evidence-based management strategies including plication and diaphragm pacing</a:t>
            </a:r>
          </a:p>
          <a:p>
            <a:pPr lvl="2"/>
            <a:r>
              <a:t>Counsel patients on expected prognosis and recovery trajectories</a:t>
            </a:r>
          </a:p>
        </p:txBody>
      </p:sp>
      <p:sp>
        <p:nvSpPr>
          <p:cNvPr id="4" name="Text Placeholder 3"/>
          <p:cNvSpPr>
            <a:spLocks noGrp="1"/>
          </p:cNvSpPr>
          <p:nvPr>
            <p:ph type="body" idx="13" sz="quarter"/>
          </p:nvPr>
        </p:nvSpPr>
        <p:spPr/>
        <p:txBody>
          <a:bodyPr/>
          <a:lstStyle/>
          <a:p>
            <a:r>
              <a:t>After this presentation, attendees will be able to: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Anatomy &amp; Physiology</a:t>
            </a:r>
          </a:p>
        </p:txBody>
      </p:sp>
      <p:sp>
        <p:nvSpPr>
          <p:cNvPr id="3" name="Subtitle 2"/>
          <p:cNvSpPr>
            <a:spLocks noGrp="1"/>
          </p:cNvSpPr>
          <p:nvPr>
            <p:ph type="subTitle" idx="1"/>
          </p:nvPr>
        </p:nvSpPr>
        <p:spPr/>
        <p:txBody>
          <a:bodyPr/>
          <a:lstStyle/>
          <a:p>
            <a:r>
              <a:t>The phrenic nerve–diaphragm axis: structure, function, and vulnerability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Phrenic Nerve Anatomy</a:t>
            </a:r>
          </a:p>
        </p:txBody>
      </p:sp>
      <p:sp>
        <p:nvSpPr>
          <p:cNvPr id="3" name="Content Placeholder 2"/>
          <p:cNvSpPr>
            <a:spLocks noGrp="1"/>
          </p:cNvSpPr>
          <p:nvPr>
            <p:ph idx="1"/>
          </p:nvPr>
        </p:nvSpPr>
        <p:spPr/>
        <p:txBody>
          <a:bodyPr/>
          <a:lstStyle/>
          <a:p>
            <a:pPr/>
            <a:r>
              <a:rPr b="1"/>
              <a:t>Origin &amp; Course</a:t>
            </a:r>
          </a:p>
          <a:p>
            <a:pPr lvl="2"/>
            <a:r>
              <a:t>Arises from ventral rami of C3, C4, C5 ("C3, 4, 5 keeps the diaphragm alive")</a:t>
            </a:r>
          </a:p>
          <a:p>
            <a:pPr lvl="2"/>
            <a:r>
              <a:t>Descends through the neck, crosses anterior scalene muscle</a:t>
            </a:r>
          </a:p>
          <a:p>
            <a:pPr lvl="2"/>
            <a:r>
              <a:t>Enters the thorax, travels along the pericardium to the diaphragm</a:t>
            </a:r>
          </a:p>
          <a:p>
            <a:pPr lvl="2"/>
            <a:r>
              <a:t>Right phrenic: shorter, passes lateral to SVC and IVC</a:t>
            </a:r>
          </a:p>
          <a:p>
            <a:pPr lvl="2"/>
            <a:r>
              <a:t>Left phrenic: longer, crosses aortic arch and pericardium</a:t>
            </a:r>
          </a:p>
          <a:p>
            <a:pPr/>
            <a:r>
              <a:rPr b="1"/>
              <a:t>Terminal Branches</a:t>
            </a:r>
          </a:p>
          <a:p>
            <a:pPr lvl="2"/>
            <a:r>
              <a:t>Sternal, anterolateral, posterolateral, and crural branches</a:t>
            </a:r>
          </a:p>
          <a:p>
            <a:pPr lvl="2"/>
            <a:r>
              <a:t>Also carries sensory fibers from pericardium, mediastinal pleura, and diaphragmatic peritoneum</a:t>
            </a:r>
          </a:p>
        </p:txBody>
      </p:sp>
      <p:sp>
        <p:nvSpPr>
          <p:cNvPr id="4" name="Text Placeholder 3"/>
          <p:cNvSpPr>
            <a:spLocks noGrp="1"/>
          </p:cNvSpPr>
          <p:nvPr>
            <p:ph type="body" idx="13" sz="quarter"/>
          </p:nvPr>
        </p:nvSpPr>
        <p:spPr/>
        <p:txBody>
          <a:bodyPr/>
          <a:lstStyle/>
          <a:p>
            <a:r>
              <a:t>The sole motor supply of the diaphragm — a long, vulnerable nerve</a:t>
            </a:r>
          </a:p>
        </p:txBody>
      </p:sp>
      <p:sp>
        <p:nvSpPr>
          <p:cNvPr id="5" name="Content Placeholder 4"/>
          <p:cNvSpPr>
            <a:spLocks noGrp="1"/>
          </p:cNvSpPr>
          <p:nvPr>
            <p:ph idx="14"/>
          </p:nvPr>
        </p:nvSpPr>
        <p:spPr/>
        <p:txBody>
          <a:bodyPr/>
          <a:lstStyle/>
          <a:p>
            <a:pPr/>
            <a:r>
              <a:rPr b="1"/>
              <a:t>Vulnerability Points</a:t>
            </a:r>
          </a:p>
          <a:p>
            <a:pPr lvl="2"/>
            <a:r>
              <a:t>Neck: anterior scalene procedures, deep cervical biopsy</a:t>
            </a:r>
          </a:p>
          <a:p>
            <a:pPr lvl="2"/>
            <a:r>
              <a:t>Thoracic inlet: subclavian/internal jugular central lines, cervical rib</a:t>
            </a:r>
          </a:p>
          <a:p>
            <a:pPr lvl="2"/>
            <a:r>
              <a:t>Mediastinum: cardiac surgery (cold cardioplegia), mediastinal masses</a:t>
            </a:r>
          </a:p>
          <a:p>
            <a:pPr lvl="2"/>
            <a:r>
              <a:t>Pericardium: pericardial dissection during cardiac surgery</a:t>
            </a:r>
          </a:p>
          <a:p>
            <a:pPr/>
            <a:r>
              <a:rPr b="1"/>
              <a:t>Physiologic Role</a:t>
            </a:r>
          </a:p>
          <a:p>
            <a:pPr lvl="2"/>
            <a:r>
              <a:t>Sole motor innervation of the diaphragm — accessory muscles cannot fully compensate</a:t>
            </a:r>
          </a:p>
          <a:p>
            <a:pPr lvl="2"/>
            <a:r>
              <a:t>Bilateral injury → respiratory failure requiring ventilatory support</a:t>
            </a:r>
          </a:p>
          <a:p>
            <a:pPr lvl="2"/>
            <a:r>
              <a:t>Unilateral injury → reduced FVC ~25%, typically well-tolerated in healthy adults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Diaphragm Physiology and the Impact of Paralysis</a:t>
            </a:r>
          </a:p>
        </p:txBody>
      </p:sp>
      <p:sp>
        <p:nvSpPr>
          <p:cNvPr id="3" name="Content Placeholder 2"/>
          <p:cNvSpPr>
            <a:spLocks noGrp="1"/>
          </p:cNvSpPr>
          <p:nvPr>
            <p:ph idx="1"/>
          </p:nvPr>
        </p:nvSpPr>
        <p:spPr/>
        <p:txBody>
          <a:bodyPr/>
          <a:lstStyle/>
          <a:p>
            <a:pPr/>
            <a:r>
              <a:rPr b="1"/>
              <a:t>Normal Diaphragm Function</a:t>
            </a:r>
          </a:p>
          <a:p>
            <a:pPr lvl="2"/>
            <a:r>
              <a:t>Primary muscle of inspiration — responsible for ~70% of tidal volume at rest</a:t>
            </a:r>
          </a:p>
          <a:p>
            <a:pPr lvl="2"/>
            <a:r>
              <a:t>Contraction lowers the dome, increasing thoracic volume and creating negative pressure</a:t>
            </a:r>
          </a:p>
          <a:p>
            <a:pPr lvl="2"/>
            <a:r>
              <a:t>Assists in coughing, sneezing, Valsalva, and defecation</a:t>
            </a:r>
          </a:p>
          <a:p>
            <a:pPr lvl="2"/>
            <a:r>
              <a:t>Maintains pressure gradient between thorax and abdomen</a:t>
            </a:r>
          </a:p>
          <a:p>
            <a:pPr/>
            <a:r>
              <a:rPr b="1"/>
              <a:t>Unilateral Paralysis</a:t>
            </a:r>
          </a:p>
          <a:p>
            <a:pPr lvl="2"/>
            <a:r>
              <a:t>Paradoxical upward movement on affected side during inspiration</a:t>
            </a:r>
          </a:p>
          <a:p>
            <a:pPr lvl="2"/>
            <a:r>
              <a:t>FVC decreases 20–30% upright; 40–50% in supine (due to abdominal organ weight)</a:t>
            </a:r>
          </a:p>
          <a:p>
            <a:pPr lvl="2"/>
            <a:r>
              <a:t>Compensated by accessory muscles; often asymptomatic in otherwise healthy adults</a:t>
            </a:r>
          </a:p>
          <a:p>
            <a:pPr lvl="2"/>
            <a:r>
              <a:t>Symptomatic with any reduction in pulmonary reserve (obesity, COPD, cardiac disease)</a:t>
            </a:r>
          </a:p>
          <a:p>
            <a:pPr/>
            <a:r>
              <a:rPr b="1"/>
              <a:t>Bilateral Paralysis</a:t>
            </a:r>
          </a:p>
          <a:p>
            <a:pPr lvl="2"/>
            <a:r>
              <a:t>Severe orthopnea and dyspnea on minimal exertion</a:t>
            </a:r>
          </a:p>
          <a:p>
            <a:pPr lvl="2"/>
            <a:r>
              <a:t>FVC drops 50% or more in supine position</a:t>
            </a:r>
          </a:p>
          <a:p>
            <a:pPr lvl="2"/>
            <a:r>
              <a:t>Nocturnal hypoventilation, sleep apnea, daytime hypercapnia</a:t>
            </a:r>
          </a:p>
          <a:p>
            <a:pPr lvl="2"/>
            <a:r>
              <a:t>Often requires non-invasive or invasive ventilatory support</a:t>
            </a:r>
          </a:p>
        </p:txBody>
      </p:sp>
      <p:sp>
        <p:nvSpPr>
          <p:cNvPr id="4" name="Text Placeholder 3"/>
          <p:cNvSpPr>
            <a:spLocks noGrp="1"/>
          </p:cNvSpPr>
          <p:nvPr>
            <p:ph type="body" idx="13" sz="quarter"/>
          </p:nvPr>
        </p:nvSpPr>
        <p:spPr/>
        <p:txBody>
          <a:bodyPr/>
          <a:lstStyle/>
          <a:p>
            <a:r>
              <a:t>Understanding compensation and decompensation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Non-Traumatic Etiologies</a:t>
            </a:r>
          </a:p>
        </p:txBody>
      </p:sp>
      <p:sp>
        <p:nvSpPr>
          <p:cNvPr id="3" name="Subtitle 2"/>
          <p:cNvSpPr>
            <a:spLocks noGrp="1"/>
          </p:cNvSpPr>
          <p:nvPr>
            <p:ph type="subTitle" idx="1"/>
          </p:nvPr>
        </p:nvSpPr>
        <p:spPr/>
        <p:txBody>
          <a:bodyPr/>
          <a:lstStyle/>
          <a:p>
            <a:r>
              <a:t>A broad spectrum from iatrogenic nerve injury to systemic neuromuscular disease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Causes of Non-Traumatic Diaphragm Dysfunction</a:t>
            </a:r>
          </a:p>
        </p:txBody>
      </p:sp>
      <p:sp>
        <p:nvSpPr>
          <p:cNvPr id="3" name="Content Placeholder 2"/>
          <p:cNvSpPr>
            <a:spLocks noGrp="1"/>
          </p:cNvSpPr>
          <p:nvPr>
            <p:ph idx="1"/>
          </p:nvPr>
        </p:nvSpPr>
        <p:spPr/>
        <p:txBody>
          <a:bodyPr/>
          <a:lstStyle/>
          <a:p>
            <a:pPr/>
            <a:r>
              <a:rPr b="1"/>
              <a:t>Neurological</a:t>
            </a:r>
          </a:p>
          <a:p>
            <a:pPr lvl="2"/>
            <a:r>
              <a:t>Phrenic nerve palsy (iatrogenic)</a:t>
            </a:r>
          </a:p>
          <a:p>
            <a:pPr lvl="2"/>
            <a:r>
              <a:t>Parsonage-Turner syndrome</a:t>
            </a:r>
          </a:p>
          <a:p>
            <a:pPr lvl="2"/>
            <a:r>
              <a:t>Cervical spinal cord injury</a:t>
            </a:r>
          </a:p>
          <a:p>
            <a:pPr lvl="2"/>
            <a:r>
              <a:t>Cervical myelopathy/stenosis</a:t>
            </a:r>
          </a:p>
          <a:p>
            <a:pPr lvl="2"/>
            <a:r>
              <a:t>Viral phrenic neuritis</a:t>
            </a:r>
          </a:p>
          <a:p>
            <a:pPr lvl="2"/>
            <a:r>
              <a:t>Post-COVID phrenic neuropathy</a:t>
            </a:r>
          </a:p>
          <a:p>
            <a:pPr lvl="2"/>
            <a:r>
              <a:t>Cervical disc herniation (C3–C5)</a:t>
            </a:r>
          </a:p>
          <a:p>
            <a:pPr lvl="2"/>
            <a:r>
              <a:t>Radiation-induced phrenic neuropathy</a:t>
            </a:r>
          </a:p>
        </p:txBody>
      </p:sp>
      <p:sp>
        <p:nvSpPr>
          <p:cNvPr id="4" name="Text Placeholder 3"/>
          <p:cNvSpPr>
            <a:spLocks noGrp="1"/>
          </p:cNvSpPr>
          <p:nvPr>
            <p:ph type="body" idx="13" sz="quarter"/>
          </p:nvPr>
        </p:nvSpPr>
        <p:spPr/>
        <p:txBody>
          <a:bodyPr/>
          <a:lstStyle/>
          <a:p>
            <a:r>
              <a:t>Organized by mechanism: neurological, neuromuscular, and structural</a:t>
            </a:r>
          </a:p>
        </p:txBody>
      </p:sp>
      <p:sp>
        <p:nvSpPr>
          <p:cNvPr id="5" name="Content Placeholder 4"/>
          <p:cNvSpPr>
            <a:spLocks noGrp="1"/>
          </p:cNvSpPr>
          <p:nvPr>
            <p:ph idx="14"/>
          </p:nvPr>
        </p:nvSpPr>
        <p:spPr/>
        <p:txBody>
          <a:bodyPr/>
          <a:lstStyle/>
          <a:p>
            <a:pPr/>
            <a:r>
              <a:rPr b="1"/>
              <a:t>Neuromuscular Disorders</a:t>
            </a:r>
          </a:p>
          <a:p>
            <a:pPr lvl="2"/>
            <a:r>
              <a:t>ALS (amyotrophic lateral sclerosis)</a:t>
            </a:r>
          </a:p>
          <a:p>
            <a:pPr lvl="2"/>
            <a:r>
              <a:t>Myasthenia gravis</a:t>
            </a:r>
          </a:p>
          <a:p>
            <a:pPr lvl="2"/>
            <a:r>
              <a:t>Duchenne / Becker muscular dystrophy</a:t>
            </a:r>
          </a:p>
          <a:p>
            <a:pPr lvl="2"/>
            <a:r>
              <a:t>Limb-girdle muscular dystrophy</a:t>
            </a:r>
          </a:p>
          <a:p>
            <a:pPr lvl="2"/>
            <a:r>
              <a:t>Pompe disease (acid maltase deficiency)</a:t>
            </a:r>
          </a:p>
          <a:p>
            <a:pPr lvl="2"/>
            <a:r>
              <a:t>Critical illness polyneuropathy/myopathy</a:t>
            </a:r>
          </a:p>
          <a:p>
            <a:pPr lvl="2"/>
            <a:r>
              <a:t>Guillain-Barré syndrome</a:t>
            </a:r>
          </a:p>
          <a:p>
            <a:pPr lvl="2"/>
            <a:r>
              <a:t>Mitochondrial myopathies</a:t>
            </a:r>
          </a:p>
        </p:txBody>
      </p:sp>
      <p:sp>
        <p:nvSpPr>
          <p:cNvPr id="6" name="Content Placeholder 5"/>
          <p:cNvSpPr>
            <a:spLocks noGrp="1"/>
          </p:cNvSpPr>
          <p:nvPr>
            <p:ph idx="15"/>
          </p:nvPr>
        </p:nvSpPr>
        <p:spPr/>
        <p:txBody>
          <a:bodyPr/>
          <a:lstStyle/>
          <a:p>
            <a:pPr/>
            <a:r>
              <a:rPr b="1"/>
              <a:t>Compressive / Structural</a:t>
            </a:r>
          </a:p>
          <a:p>
            <a:pPr lvl="2"/>
            <a:r>
              <a:t>Mediastinal tumors or lymphadenopathy</a:t>
            </a:r>
          </a:p>
          <a:p>
            <a:pPr lvl="2"/>
            <a:r>
              <a:t>Thoracic aortic aneurysm</a:t>
            </a:r>
          </a:p>
          <a:p>
            <a:pPr lvl="2"/>
            <a:r>
              <a:t>Substernal thyroid goiter</a:t>
            </a:r>
          </a:p>
          <a:p>
            <a:pPr lvl="2"/>
            <a:r>
              <a:t>Pericardial effusion / mass</a:t>
            </a:r>
          </a:p>
          <a:p>
            <a:pPr lvl="2"/>
            <a:r>
              <a:t>Lung cancer (Pancoast, central)</a:t>
            </a:r>
          </a:p>
          <a:p>
            <a:pPr lvl="2"/>
            <a:r>
              <a:t>Cervical rib / thoracic outlet syndrome</a:t>
            </a:r>
          </a:p>
          <a:p>
            <a:pPr lvl="2"/>
            <a:r>
              <a:t>Idiopathic (10–20% of unilateral cases)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Iatrogenic Phrenic Nerve Injury</a:t>
            </a:r>
          </a:p>
        </p:txBody>
      </p:sp>
      <p:sp>
        <p:nvSpPr>
          <p:cNvPr id="3" name="Content Placeholder 2"/>
          <p:cNvSpPr>
            <a:spLocks noGrp="1"/>
          </p:cNvSpPr>
          <p:nvPr>
            <p:ph idx="1"/>
          </p:nvPr>
        </p:nvSpPr>
        <p:spPr/>
        <p:txBody>
          <a:bodyPr/>
          <a:lstStyle/>
          <a:p>
            <a:pPr/>
            <a:r>
              <a:rPr b="1"/>
              <a:t>Cardiac Surgery</a:t>
            </a:r>
          </a:p>
          <a:p>
            <a:pPr lvl="2"/>
            <a:r>
              <a:t>Incidence: 0.3–9.7% after CABG or valve surgery</a:t>
            </a:r>
          </a:p>
          <a:p>
            <a:pPr lvl="2"/>
            <a:r>
              <a:t>Cold cardioplegia/ice slush causes thermal injury to phrenic nerve along pericardium</a:t>
            </a:r>
          </a:p>
          <a:p>
            <a:pPr lvl="2"/>
            <a:r>
              <a:t>Internal mammary artery harvest: direct traction or devascularization injury</a:t>
            </a:r>
          </a:p>
          <a:p>
            <a:pPr lvl="2"/>
            <a:r>
              <a:t>Left side more commonly affected due to left IMA harvest</a:t>
            </a:r>
          </a:p>
          <a:p>
            <a:pPr lvl="2"/>
            <a:r>
              <a:t>Recovery in 6–12 months in most; persistent paralysis ~1–2%</a:t>
            </a:r>
          </a:p>
          <a:p>
            <a:pPr/>
            <a:r>
              <a:rPr b="1"/>
              <a:t>Central Line / Procedures</a:t>
            </a:r>
          </a:p>
          <a:p>
            <a:pPr lvl="2"/>
            <a:r>
              <a:t>Subclavian/internal jugular catheterization: nerve runs in close proximity</a:t>
            </a:r>
          </a:p>
          <a:p>
            <a:pPr lvl="2"/>
            <a:r>
              <a:t>Anterior scalene block, stellate ganglion block, brachial plexus block</a:t>
            </a:r>
          </a:p>
          <a:p>
            <a:pPr lvl="2"/>
            <a:r>
              <a:t>Cryoablation for AF: phrenic injury in 0.4–11% of procedures</a:t>
            </a:r>
          </a:p>
        </p:txBody>
      </p:sp>
      <p:sp>
        <p:nvSpPr>
          <p:cNvPr id="4" name="Text Placeholder 3"/>
          <p:cNvSpPr>
            <a:spLocks noGrp="1"/>
          </p:cNvSpPr>
          <p:nvPr>
            <p:ph type="body" idx="13" sz="quarter"/>
          </p:nvPr>
        </p:nvSpPr>
        <p:spPr/>
        <p:txBody>
          <a:bodyPr/>
          <a:lstStyle/>
          <a:p>
            <a:r>
              <a:t>The most common identifiable cause of acquired phrenic palsy</a:t>
            </a:r>
          </a:p>
        </p:txBody>
      </p:sp>
      <p:sp>
        <p:nvSpPr>
          <p:cNvPr id="5" name="Content Placeholder 4"/>
          <p:cNvSpPr>
            <a:spLocks noGrp="1"/>
          </p:cNvSpPr>
          <p:nvPr>
            <p:ph idx="14"/>
          </p:nvPr>
        </p:nvSpPr>
        <p:spPr/>
        <p:txBody>
          <a:bodyPr/>
          <a:lstStyle/>
          <a:p>
            <a:pPr/>
            <a:r>
              <a:rPr b="1"/>
              <a:t>Other Surgical Causes</a:t>
            </a:r>
          </a:p>
          <a:p>
            <a:pPr lvl="2"/>
            <a:r>
              <a:t>Cervical spine surgery (C3–C5 level): direct nerve trauma or retraction</a:t>
            </a:r>
          </a:p>
          <a:p>
            <a:pPr lvl="2"/>
            <a:r>
              <a:t>Thoracic surgery: lobectomy, pneumonectomy, mediastinal dissection</a:t>
            </a:r>
          </a:p>
          <a:p>
            <a:pPr lvl="2"/>
            <a:r>
              <a:t>Esophagectomy: extensive mediastinal dissection</a:t>
            </a:r>
          </a:p>
          <a:p>
            <a:pPr lvl="2"/>
            <a:r>
              <a:t>Thyroidectomy / neck dissection involving deep structures</a:t>
            </a:r>
          </a:p>
          <a:p>
            <a:pPr lvl="2"/>
            <a:r>
              <a:t>Pediatric congenital heart surgery (distinct from adult)</a:t>
            </a:r>
          </a:p>
          <a:p>
            <a:pPr/>
            <a:r>
              <a:rPr b="1"/>
              <a:t>Radiation Therapy</a:t>
            </a:r>
          </a:p>
          <a:p>
            <a:pPr lvl="2"/>
            <a:r>
              <a:t>Delayed onset: months to years after treatment</a:t>
            </a:r>
          </a:p>
          <a:p>
            <a:pPr lvl="2"/>
            <a:r>
              <a:t>Fields involving mediastinum, neck, or thoracic inlet</a:t>
            </a:r>
          </a:p>
          <a:p>
            <a:pPr lvl="2"/>
            <a:r>
              <a:t>Radiation fibrosis causes progressive, often irreversible phrenic neuropathy</a:t>
            </a:r>
          </a:p>
          <a:p>
            <a:pPr lvl="2"/>
            <a:r>
              <a:t>Lymphoma, lung cancer, breast cancer RT most commonly implicated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Parsonage-Turner Syndrome (Neuralgic Amyotrophy)</a:t>
            </a:r>
          </a:p>
        </p:txBody>
      </p:sp>
      <p:sp>
        <p:nvSpPr>
          <p:cNvPr id="3" name="Content Placeholder 2"/>
          <p:cNvSpPr>
            <a:spLocks noGrp="1"/>
          </p:cNvSpPr>
          <p:nvPr>
            <p:ph idx="1"/>
          </p:nvPr>
        </p:nvSpPr>
        <p:spPr/>
        <p:txBody>
          <a:bodyPr/>
          <a:lstStyle/>
          <a:p>
            <a:pPr/>
            <a:r>
              <a:rPr b="1"/>
              <a:t>Definition &amp; Epidemiology</a:t>
            </a:r>
          </a:p>
          <a:p>
            <a:pPr lvl="2"/>
            <a:r>
              <a:t>Idiopathic inflammatory brachial plexus neuropathy; incidence ~1–3/100,000/year</a:t>
            </a:r>
          </a:p>
          <a:p>
            <a:pPr lvl="2"/>
            <a:r>
              <a:t>Phrenic nerve involvement in ~7% of PTS cases; bilateral in ~7% of those</a:t>
            </a:r>
          </a:p>
          <a:p>
            <a:pPr lvl="2"/>
            <a:r>
              <a:t>Hereditary form (HNPP): SEPT9 gene mutation — more frequent phrenic involvement</a:t>
            </a:r>
          </a:p>
          <a:p>
            <a:pPr/>
            <a:r>
              <a:rPr b="1"/>
              <a:t>Pathophysiology</a:t>
            </a:r>
          </a:p>
          <a:p>
            <a:pPr lvl="2"/>
            <a:r>
              <a:t>Immune-mediated focal demyelination and axonal degeneration of peripheral nerves</a:t>
            </a:r>
          </a:p>
          <a:p>
            <a:pPr lvl="2"/>
            <a:r>
              <a:t>Triggers: viral illness (EBV, CMV, COVID-19), surgery, vaccination, intense exercise</a:t>
            </a:r>
          </a:p>
          <a:p>
            <a:pPr/>
            <a:r>
              <a:rPr b="1"/>
              <a:t>Clinical Presentation</a:t>
            </a:r>
          </a:p>
          <a:p>
            <a:pPr lvl="2"/>
            <a:r>
              <a:t>Classic: acute severe shoulder/arm pain followed by progressive weakness and atrophy</a:t>
            </a:r>
          </a:p>
          <a:p>
            <a:pPr lvl="2"/>
            <a:r>
              <a:t>Phrenic-predominant variant: dyspnea without significant arm pain (commonly missed)</a:t>
            </a:r>
          </a:p>
          <a:p>
            <a:pPr lvl="2"/>
            <a:r>
              <a:t>Unilateral diaphragm paralysis → severe exertional dyspnea, orthopnea</a:t>
            </a:r>
          </a:p>
          <a:p>
            <a:pPr lvl="2"/>
            <a:r>
              <a:t>May mimic cardiac disease, pulmonary embolism, or unexplained dyspnea</a:t>
            </a:r>
          </a:p>
        </p:txBody>
      </p:sp>
      <p:sp>
        <p:nvSpPr>
          <p:cNvPr id="4" name="Text Placeholder 3"/>
          <p:cNvSpPr>
            <a:spLocks noGrp="1"/>
          </p:cNvSpPr>
          <p:nvPr>
            <p:ph type="body" idx="13" sz="quarter"/>
          </p:nvPr>
        </p:nvSpPr>
        <p:spPr/>
        <p:txBody>
          <a:bodyPr/>
          <a:lstStyle/>
          <a:p>
            <a:r>
              <a:t>An underrecognized cause of phrenic neuropathy and diaphragm paralysis</a:t>
            </a:r>
          </a:p>
        </p:txBody>
      </p:sp>
      <p:sp>
        <p:nvSpPr>
          <p:cNvPr id="5" name="Content Placeholder 4"/>
          <p:cNvSpPr>
            <a:spLocks noGrp="1"/>
          </p:cNvSpPr>
          <p:nvPr>
            <p:ph idx="14"/>
          </p:nvPr>
        </p:nvSpPr>
        <p:spPr/>
        <p:txBody>
          <a:bodyPr/>
          <a:lstStyle/>
          <a:p>
            <a:pPr/>
            <a:r>
              <a:rPr b="1"/>
              <a:t>Diagnosis</a:t>
            </a:r>
          </a:p>
          <a:p>
            <a:pPr lvl="2"/>
            <a:r>
              <a:t>CXR: elevated hemidiaphragm (may be only finding)</a:t>
            </a:r>
          </a:p>
          <a:p>
            <a:pPr lvl="2"/>
            <a:r>
              <a:t>Fluoroscopic sniff test: paradoxical diaphragm movement</a:t>
            </a:r>
          </a:p>
          <a:p>
            <a:pPr lvl="2"/>
            <a:r>
              <a:t>MRI brachial plexus: "hourglass" nerve constriction, T2 signal change in affected muscles</a:t>
            </a:r>
          </a:p>
          <a:p>
            <a:pPr lvl="2"/>
            <a:r>
              <a:t>Nerve conduction study: absent or reduced CMAP of phrenic nerve</a:t>
            </a:r>
          </a:p>
          <a:p>
            <a:pPr lvl="2"/>
            <a:r>
              <a:t>EMG: denervation changes in diaphragm (fibrillations, positive sharp waves)</a:t>
            </a:r>
          </a:p>
          <a:p>
            <a:pPr/>
            <a:r>
              <a:rPr b="1"/>
              <a:t>Prognosis &amp; Treatment</a:t>
            </a:r>
          </a:p>
          <a:p>
            <a:pPr lvl="2"/>
            <a:r>
              <a:t>Natural recovery in 70–80% over 2–3 years (axonal regrowth ~1 mm/day)</a:t>
            </a:r>
          </a:p>
          <a:p>
            <a:pPr lvl="2"/>
            <a:r>
              <a:t>High-dose corticosteroids: may shorten acute pain phase, uncertain effect on recovery</a:t>
            </a:r>
          </a:p>
          <a:p>
            <a:pPr lvl="2"/>
            <a:r>
              <a:t>IVIG and immunotherapy: emerging evidence for severe or non-recovering cases</a:t>
            </a:r>
          </a:p>
          <a:p>
            <a:pPr lvl="2"/>
            <a:r>
              <a:t>Diaphragm plication: consider if no recovery after 18–24 months of observation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Cervical Spinal Cord Disease and Diaphragm Dysfunction</a:t>
            </a:r>
          </a:p>
        </p:txBody>
      </p:sp>
      <p:sp>
        <p:nvSpPr>
          <p:cNvPr id="3" name="Content Placeholder 2"/>
          <p:cNvSpPr>
            <a:spLocks noGrp="1"/>
          </p:cNvSpPr>
          <p:nvPr>
            <p:ph idx="1"/>
          </p:nvPr>
        </p:nvSpPr>
        <p:spPr/>
        <p:txBody>
          <a:bodyPr/>
          <a:lstStyle/>
          <a:p>
            <a:pPr/>
            <a:r>
              <a:rPr b="1"/>
              <a:t>Cervical Spinal Cord Injury (SCI)</a:t>
            </a:r>
          </a:p>
          <a:p>
            <a:pPr lvl="2"/>
            <a:r>
              <a:t>C1–C2 complete lesion: no diaphragm function — full ventilator dependence</a:t>
            </a:r>
          </a:p>
          <a:p>
            <a:pPr lvl="2"/>
            <a:r>
              <a:t>C3–C4 complete lesion: partial diaphragm function — usually requires ventilatory support</a:t>
            </a:r>
          </a:p>
          <a:p>
            <a:pPr lvl="2"/>
            <a:r>
              <a:t>C5 and below: diaphragm largely intact; accessory muscles impaired</a:t>
            </a:r>
          </a:p>
          <a:p>
            <a:pPr lvl="2"/>
            <a:r>
              <a:t>~22,000 new SCIs per year in the US; ~60% are cervical</a:t>
            </a:r>
          </a:p>
          <a:p>
            <a:pPr lvl="2"/>
            <a:r>
              <a:t>Ventilator dependence in ~30% of cervical SCI at discharge</a:t>
            </a:r>
          </a:p>
          <a:p>
            <a:pPr/>
            <a:r>
              <a:rPr b="1"/>
              <a:t>Cervical Myelopathy (Degenerative)</a:t>
            </a:r>
          </a:p>
          <a:p>
            <a:pPr lvl="2"/>
            <a:r>
              <a:t>Progressive compression of the spinal cord at C3–C5 level</a:t>
            </a:r>
          </a:p>
          <a:p>
            <a:pPr lvl="2"/>
            <a:r>
              <a:t>Insidious onset of dyspnea; may be misattributed to cardiac or pulmonary disease</a:t>
            </a:r>
          </a:p>
          <a:p>
            <a:pPr lvl="2"/>
            <a:r>
              <a:t>Decompressive surgery can halt or partially reverse dysfunction</a:t>
            </a:r>
          </a:p>
        </p:txBody>
      </p:sp>
      <p:sp>
        <p:nvSpPr>
          <p:cNvPr id="4" name="Text Placeholder 3"/>
          <p:cNvSpPr>
            <a:spLocks noGrp="1"/>
          </p:cNvSpPr>
          <p:nvPr>
            <p:ph type="body" idx="13" sz="quarter"/>
          </p:nvPr>
        </p:nvSpPr>
        <p:spPr/>
        <p:txBody>
          <a:bodyPr/>
          <a:lstStyle/>
          <a:p>
            <a:r>
              <a:t>Phrenic motor neurons at C3–C5 are the critical link</a:t>
            </a:r>
          </a:p>
        </p:txBody>
      </p:sp>
      <p:sp>
        <p:nvSpPr>
          <p:cNvPr id="5" name="Content Placeholder 4"/>
          <p:cNvSpPr>
            <a:spLocks noGrp="1"/>
          </p:cNvSpPr>
          <p:nvPr>
            <p:ph idx="14"/>
          </p:nvPr>
        </p:nvSpPr>
        <p:spPr/>
        <p:txBody>
          <a:bodyPr/>
          <a:lstStyle/>
          <a:p>
            <a:pPr/>
            <a:r>
              <a:rPr b="1"/>
              <a:t>Cervical Disc Herniation</a:t>
            </a:r>
          </a:p>
          <a:p>
            <a:pPr lvl="2"/>
            <a:r>
              <a:t>C3–C4 or C4–C5 disc herniation: direct compression of phrenic motor neurons</a:t>
            </a:r>
          </a:p>
          <a:p>
            <a:pPr lvl="2"/>
            <a:r>
              <a:t>Rare but well-documented cause of acute unilateral diaphragm paresis</a:t>
            </a:r>
          </a:p>
          <a:p>
            <a:pPr lvl="2"/>
            <a:r>
              <a:t>Surgical decompression usually leads to recovery</a:t>
            </a:r>
          </a:p>
          <a:p>
            <a:pPr/>
            <a:r>
              <a:rPr b="1"/>
              <a:t>Neuromuscular Disease Affecting Cervical Motor Neurons</a:t>
            </a:r>
          </a:p>
          <a:p>
            <a:pPr lvl="2"/>
            <a:r>
              <a:t>ALS: upper and lower motor neuron degeneration — diaphragm involvement heralds respiratory failure</a:t>
            </a:r>
          </a:p>
          <a:p>
            <a:pPr lvl="2"/>
            <a:r>
              <a:t>Diaphragm involvement often precedes limb weakness in "respiratory-onset" ALS</a:t>
            </a:r>
          </a:p>
          <a:p>
            <a:pPr/>
            <a:r>
              <a:rPr b="1"/>
              <a:t>Monitoring</a:t>
            </a:r>
          </a:p>
          <a:p>
            <a:pPr lvl="2"/>
            <a:r>
              <a:t>Serial supine FVC measurement recommended for all cervical SCI patients</a:t>
            </a:r>
          </a:p>
          <a:p>
            <a:pPr lvl="2"/>
            <a:r>
              <a:t>Nocturnal oximetry to detect early hypoventilation</a:t>
            </a:r>
          </a:p>
          <a:p>
            <a:pPr lvl="2"/>
            <a:r>
              <a:t>Phrenic nerve conduction studies to assess lower motor neuron integrity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Neuromuscular Disorders Causing Diaphragm Dysfunction</a:t>
            </a:r>
          </a:p>
        </p:txBody>
      </p:sp>
      <p:sp>
        <p:nvSpPr>
          <p:cNvPr id="3" name="Content Placeholder 2"/>
          <p:cNvSpPr>
            <a:spLocks noGrp="1"/>
          </p:cNvSpPr>
          <p:nvPr>
            <p:ph idx="1"/>
          </p:nvPr>
        </p:nvSpPr>
        <p:spPr/>
        <p:txBody>
          <a:bodyPr/>
          <a:lstStyle/>
          <a:p>
            <a:pPr/>
            <a:r>
              <a:rPr b="1"/>
              <a:t>ALS (Amyotrophic Lateral Sclerosis)</a:t>
            </a:r>
          </a:p>
          <a:p>
            <a:pPr lvl="2"/>
            <a:r>
              <a:t>Diaphragm is inevitably involved; typically the ultimate cause of death</a:t>
            </a:r>
          </a:p>
          <a:p>
            <a:pPr lvl="2"/>
            <a:r>
              <a:t>FVC &lt;50% predicted: strong predictor of 12-month mortality without intervention</a:t>
            </a:r>
          </a:p>
          <a:p>
            <a:pPr lvl="2"/>
            <a:r>
              <a:t>NIV initiation at FVC &lt;50% or 4 cmH₂O sniff nasal pressure extends survival ~7 months</a:t>
            </a:r>
          </a:p>
          <a:p>
            <a:pPr/>
            <a:r>
              <a:rPr b="1"/>
              <a:t>Myasthenia Gravis</a:t>
            </a:r>
          </a:p>
          <a:p>
            <a:pPr lvl="2"/>
            <a:r>
              <a:t>Anti-AChR or anti-MuSK antibodies impair neuromuscular junction</a:t>
            </a:r>
          </a:p>
          <a:p>
            <a:pPr lvl="2"/>
            <a:r>
              <a:t>Myasthenic crisis: acute respiratory failure from diaphragm/accessory muscle fatigability</a:t>
            </a:r>
          </a:p>
          <a:p>
            <a:pPr lvl="2"/>
            <a:r>
              <a:t>ICU management: plasma exchange or IVIG; BiPAP or intubation as needed</a:t>
            </a:r>
          </a:p>
          <a:p>
            <a:pPr/>
            <a:r>
              <a:rPr b="1"/>
              <a:t>Pompe Disease (Acid Maltase Deficiency)</a:t>
            </a:r>
          </a:p>
          <a:p>
            <a:pPr lvl="2"/>
            <a:r>
              <a:t>Glycogen accumulation in diaphragm and proximal muscles; may present in adults as unexplained respiratory failure</a:t>
            </a:r>
          </a:p>
          <a:p>
            <a:pPr lvl="2"/>
            <a:r>
              <a:t>Diagnosis: GAA enzyme activity; treatment: enzyme replacement therapy (alglucosidase)</a:t>
            </a:r>
          </a:p>
        </p:txBody>
      </p:sp>
      <p:sp>
        <p:nvSpPr>
          <p:cNvPr id="4" name="Text Placeholder 3"/>
          <p:cNvSpPr>
            <a:spLocks noGrp="1"/>
          </p:cNvSpPr>
          <p:nvPr>
            <p:ph type="body" idx="13" sz="quarter"/>
          </p:nvPr>
        </p:nvSpPr>
        <p:spPr/>
        <p:txBody>
          <a:bodyPr/>
          <a:lstStyle/>
          <a:p>
            <a:r>
              <a:t>Diaphragm involvement is a key determinant of prognosis and survival</a:t>
            </a:r>
          </a:p>
        </p:txBody>
      </p:sp>
      <p:sp>
        <p:nvSpPr>
          <p:cNvPr id="5" name="Content Placeholder 4"/>
          <p:cNvSpPr>
            <a:spLocks noGrp="1"/>
          </p:cNvSpPr>
          <p:nvPr>
            <p:ph idx="14"/>
          </p:nvPr>
        </p:nvSpPr>
        <p:spPr/>
        <p:txBody>
          <a:bodyPr/>
          <a:lstStyle/>
          <a:p>
            <a:pPr/>
            <a:r>
              <a:rPr b="1"/>
              <a:t>Muscular Dystrophies</a:t>
            </a:r>
          </a:p>
          <a:p>
            <a:pPr lvl="2"/>
            <a:r>
              <a:t>Duchenne MD: diaphragm weakness by 2nd decade; median survival with NIV ~25 years</a:t>
            </a:r>
          </a:p>
          <a:p>
            <a:pPr lvl="2"/>
            <a:r>
              <a:t>Becker MD: milder; respiratory involvement decades later</a:t>
            </a:r>
          </a:p>
          <a:p>
            <a:pPr lvl="2"/>
            <a:r>
              <a:t>Limb-girdle MD: variable diaphragm involvement depending on subtype</a:t>
            </a:r>
          </a:p>
          <a:p>
            <a:pPr lvl="2"/>
            <a:r>
              <a:t>Emery-Dreifuss MD: early respiratory involvement, cardiac conduction disease</a:t>
            </a:r>
          </a:p>
          <a:p>
            <a:pPr/>
            <a:r>
              <a:rPr b="1"/>
              <a:t>Critical Illness Polyneuropathy / Myopathy (CIP/CIM)</a:t>
            </a:r>
          </a:p>
          <a:p>
            <a:pPr lvl="2"/>
            <a:r>
              <a:t>ICU-acquired weakness affecting ventilator weaning in up to 60% of septic patients</a:t>
            </a:r>
          </a:p>
          <a:p>
            <a:pPr lvl="2"/>
            <a:r>
              <a:t>Prolonged mechanical ventilation itself induces diaphragm atrophy (VIDD) within 18–69 hours</a:t>
            </a:r>
          </a:p>
          <a:p>
            <a:pPr/>
            <a:r>
              <a:rPr b="1"/>
              <a:t>Guillain-Barré Syndrome</a:t>
            </a:r>
          </a:p>
          <a:p>
            <a:pPr lvl="2"/>
            <a:r>
              <a:t>Ascending paralysis reaches the diaphragm in ~30% requiring ventilatory support</a:t>
            </a:r>
          </a:p>
          <a:p>
            <a:pPr lvl="2"/>
            <a:r>
              <a:t>Treatment: IVIG or plasma exchange; most recover with adequate supportive care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Diagnosis</a:t>
            </a:r>
          </a:p>
        </p:txBody>
      </p:sp>
      <p:sp>
        <p:nvSpPr>
          <p:cNvPr id="3" name="Subtitle 2"/>
          <p:cNvSpPr>
            <a:spLocks noGrp="1"/>
          </p:cNvSpPr>
          <p:nvPr>
            <p:ph type="subTitle" idx="1"/>
          </p:nvPr>
        </p:nvSpPr>
        <p:spPr/>
        <p:txBody>
          <a:bodyPr/>
          <a:lstStyle/>
          <a:p>
            <a:r>
              <a:t>A systematic approach from bedside to advanced neurophysiology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Clinical Presentation of Diaphragm Dysfunction</a:t>
            </a:r>
          </a:p>
        </p:txBody>
      </p:sp>
      <p:sp>
        <p:nvSpPr>
          <p:cNvPr id="3" name="Content Placeholder 2"/>
          <p:cNvSpPr>
            <a:spLocks noGrp="1"/>
          </p:cNvSpPr>
          <p:nvPr>
            <p:ph idx="1"/>
          </p:nvPr>
        </p:nvSpPr>
        <p:spPr/>
        <p:txBody>
          <a:bodyPr/>
          <a:lstStyle/>
          <a:p>
            <a:pPr/>
            <a:r>
              <a:rPr b="1"/>
              <a:t>Symptoms</a:t>
            </a:r>
          </a:p>
          <a:p>
            <a:pPr lvl="2"/>
            <a:r>
              <a:t>Dyspnea on exertion — often the first and only complaint in unilateral paralysis</a:t>
            </a:r>
          </a:p>
          <a:p>
            <a:pPr lvl="2"/>
            <a:r>
              <a:t>Orthopnea: worsening dyspnea in supine position — hallmark of bilateral dysfunction</a:t>
            </a:r>
          </a:p>
          <a:p>
            <a:pPr lvl="2"/>
            <a:r>
              <a:t>Paradoxical abdominal movement: abdomen moves inward on inspiration (accessory muscle use)</a:t>
            </a:r>
          </a:p>
          <a:p>
            <a:pPr lvl="2"/>
            <a:r>
              <a:t>Difficulty sleeping flat; nocturnal oxygen desaturation</a:t>
            </a:r>
          </a:p>
          <a:p>
            <a:pPr lvl="2"/>
            <a:r>
              <a:t>Impaired cough — recurrent aspiration and pulmonary infections</a:t>
            </a:r>
          </a:p>
          <a:p>
            <a:pPr lvl="2"/>
            <a:r>
              <a:t>Daytime hypersomnolence (CO₂ retention from nocturnal hypoventilation)</a:t>
            </a:r>
          </a:p>
        </p:txBody>
      </p:sp>
      <p:sp>
        <p:nvSpPr>
          <p:cNvPr id="4" name="Text Placeholder 3"/>
          <p:cNvSpPr>
            <a:spLocks noGrp="1"/>
          </p:cNvSpPr>
          <p:nvPr>
            <p:ph type="body" idx="13" sz="quarter"/>
          </p:nvPr>
        </p:nvSpPr>
        <p:spPr/>
        <p:txBody>
          <a:bodyPr/>
          <a:lstStyle/>
          <a:p>
            <a:r>
              <a:t>Symptoms range from incidental CXR finding to acute respiratory failure</a:t>
            </a:r>
          </a:p>
        </p:txBody>
      </p:sp>
      <p:sp>
        <p:nvSpPr>
          <p:cNvPr id="5" name="Content Placeholder 4"/>
          <p:cNvSpPr>
            <a:spLocks noGrp="1"/>
          </p:cNvSpPr>
          <p:nvPr>
            <p:ph idx="14"/>
          </p:nvPr>
        </p:nvSpPr>
        <p:spPr/>
        <p:txBody>
          <a:bodyPr/>
          <a:lstStyle/>
          <a:p>
            <a:pPr/>
            <a:r>
              <a:rPr b="1"/>
              <a:t>Physical Examination</a:t>
            </a:r>
          </a:p>
          <a:p>
            <a:pPr lvl="2"/>
            <a:r>
              <a:t>Reduced breath sounds at the base of affected side</a:t>
            </a:r>
          </a:p>
          <a:p>
            <a:pPr lvl="2"/>
            <a:r>
              <a:t>Accessory muscle use (sternocleidomastoid, scalenes) at rest — suggests bilateral involvement</a:t>
            </a:r>
          </a:p>
          <a:p>
            <a:pPr lvl="2"/>
            <a:r>
              <a:t>Abdominal paradox: inward movement of abdomen during inspiration</a:t>
            </a:r>
          </a:p>
          <a:p>
            <a:pPr lvl="2"/>
            <a:r>
              <a:t>Neck and upper extremity examination for brachial plexus signs (PTS)</a:t>
            </a:r>
          </a:p>
          <a:p>
            <a:pPr lvl="2"/>
            <a:r>
              <a:t>Neurologic assessment: limb strength, reflexes, fasciculations (ALS, myelopathy)</a:t>
            </a:r>
          </a:p>
          <a:p>
            <a:pPr/>
            <a:r>
              <a:rPr b="1"/>
              <a:t>Respiratory Failure Spectrum</a:t>
            </a:r>
          </a:p>
          <a:p>
            <a:pPr lvl="2"/>
            <a:r>
              <a:t>Incidental finding: asymptomatic hemidiaphragm elevation on CXR</a:t>
            </a:r>
          </a:p>
          <a:p>
            <a:pPr lvl="2"/>
            <a:r>
              <a:t>Moderate: exertional dyspnea, exercise intolerance, orthopnea</a:t>
            </a:r>
          </a:p>
          <a:p>
            <a:pPr lvl="2"/>
            <a:r>
              <a:t>Severe: chronic respiratory failure, cor pulmonale, NIV dependence</a:t>
            </a:r>
          </a:p>
          <a:p>
            <a:pPr lvl="2"/>
            <a:r>
              <a:t>Acute: ventilatory failure requiring emergent intubation (MG crisis, GBS)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Diagnostic Workup for Diaphragm Dysfunction</a:t>
            </a:r>
          </a:p>
        </p:txBody>
      </p:sp>
      <p:sp>
        <p:nvSpPr>
          <p:cNvPr id="3" name="Content Placeholder 2"/>
          <p:cNvSpPr>
            <a:spLocks noGrp="1"/>
          </p:cNvSpPr>
          <p:nvPr>
            <p:ph idx="1"/>
          </p:nvPr>
        </p:nvSpPr>
        <p:spPr/>
        <p:txBody>
          <a:bodyPr/>
          <a:lstStyle/>
          <a:p>
            <a:pPr/>
            <a:r>
              <a:rPr b="1"/>
              <a:t>Chest X-Ray</a:t>
            </a:r>
          </a:p>
          <a:p>
            <a:pPr lvl="2"/>
            <a:r>
              <a:t>Elevated hemidiaphragm (right &gt;5th rib anterior, left &gt;6th); may be bilateral</a:t>
            </a:r>
          </a:p>
          <a:p>
            <a:pPr lvl="2"/>
            <a:r>
              <a:t>Comparison with prior films essential to determine acuity</a:t>
            </a:r>
          </a:p>
          <a:p>
            <a:pPr/>
            <a:r>
              <a:rPr b="1"/>
              <a:t>Fluoroscopic Sniff Test ("Sniff Fluoroscopy")</a:t>
            </a:r>
          </a:p>
          <a:p>
            <a:pPr lvl="2"/>
            <a:r>
              <a:t>Patient performs a short, sharp inspiration (sniff); paralyzed side moves paradoxically upward</a:t>
            </a:r>
          </a:p>
          <a:p>
            <a:pPr lvl="2"/>
            <a:r>
              <a:t>Sensitivity ~90% for unilateral; reduced for bilateral (compensatory muscle use may mimic normal)</a:t>
            </a:r>
          </a:p>
          <a:p>
            <a:pPr/>
            <a:r>
              <a:rPr b="1"/>
              <a:t>Diaphragm Ultrasound (M-mode)</a:t>
            </a:r>
          </a:p>
          <a:p>
            <a:pPr lvl="2"/>
            <a:r>
              <a:t>Non-invasive, no radiation, bedside-capable; measures diaphragm excursion and thickening fraction</a:t>
            </a:r>
          </a:p>
          <a:p>
            <a:pPr lvl="2"/>
            <a:r>
              <a:t>Thickening fraction &lt;20% during tidal breathing indicates paralysis/paresis</a:t>
            </a:r>
          </a:p>
          <a:p>
            <a:pPr/>
            <a:r>
              <a:rPr b="1"/>
              <a:t>Pulmonary Function Tests</a:t>
            </a:r>
          </a:p>
          <a:p>
            <a:pPr lvl="2"/>
            <a:r>
              <a:t>Supine vs. upright FVC: &gt;20% fall indicates diaphragm dysfunction; &gt;50% fall suggests bilateral</a:t>
            </a:r>
          </a:p>
          <a:p>
            <a:pPr lvl="2"/>
            <a:r>
              <a:t>Maximal inspiratory pressure (MIP/PImax): &lt;25 cmH₂O correlates with respiratory failure risk</a:t>
            </a:r>
          </a:p>
          <a:p>
            <a:pPr lvl="2"/>
            <a:r>
              <a:t>Sniff nasal inspiratory pressure (SNIP): sensitive for early neuromuscular diaphragm weakness</a:t>
            </a:r>
          </a:p>
          <a:p>
            <a:pPr/>
            <a:r>
              <a:rPr b="1"/>
              <a:t>Phrenic Nerve Conduction Studies &amp; EMG</a:t>
            </a:r>
          </a:p>
          <a:p>
            <a:pPr lvl="2"/>
            <a:r>
              <a:t>Neck stimulation → recording over epigastrium; CMAP amplitude and latency</a:t>
            </a:r>
          </a:p>
          <a:p>
            <a:pPr lvl="2"/>
            <a:r>
              <a:t>Needle EMG of diaphragm: fibrillations/PSWs confirm denervation; MUP analysis guides prognosis</a:t>
            </a:r>
          </a:p>
          <a:p>
            <a:pPr/>
            <a:r>
              <a:rPr b="1"/>
              <a:t>CT / MRI Chest &amp; Neck</a:t>
            </a:r>
          </a:p>
          <a:p>
            <a:pPr lvl="2"/>
            <a:r>
              <a:t>Structural causes: mediastinal masses, cervical spine disease, thoracic aneurysm</a:t>
            </a:r>
          </a:p>
          <a:p>
            <a:pPr lvl="2"/>
            <a:r>
              <a:t>MRI brachial plexus: preferred for Parsonage-Turner (T2 hyperintensity, hourglass constriction)</a:t>
            </a:r>
          </a:p>
        </p:txBody>
      </p:sp>
      <p:sp>
        <p:nvSpPr>
          <p:cNvPr id="4" name="Text Placeholder 3"/>
          <p:cNvSpPr>
            <a:spLocks noGrp="1"/>
          </p:cNvSpPr>
          <p:nvPr>
            <p:ph type="body" idx="13" sz="quarter"/>
          </p:nvPr>
        </p:nvSpPr>
        <p:spPr/>
        <p:txBody>
          <a:bodyPr/>
          <a:lstStyle/>
          <a:p>
            <a:r>
              <a:t>Combine anatomic imaging, functional testing, and neurophysiology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Management</a:t>
            </a:r>
          </a:p>
        </p:txBody>
      </p:sp>
      <p:sp>
        <p:nvSpPr>
          <p:cNvPr id="3" name="Subtitle 2"/>
          <p:cNvSpPr>
            <a:spLocks noGrp="1"/>
          </p:cNvSpPr>
          <p:nvPr>
            <p:ph type="subTitle" idx="1"/>
          </p:nvPr>
        </p:nvSpPr>
        <p:spPr/>
        <p:txBody>
          <a:bodyPr/>
          <a:lstStyle/>
          <a:p>
            <a:r>
              <a:t>From observation to plication to diaphragm pacing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Conservative and Medical Management</a:t>
            </a:r>
          </a:p>
        </p:txBody>
      </p:sp>
      <p:sp>
        <p:nvSpPr>
          <p:cNvPr id="3" name="Content Placeholder 2"/>
          <p:cNvSpPr>
            <a:spLocks noGrp="1"/>
          </p:cNvSpPr>
          <p:nvPr>
            <p:ph idx="1"/>
          </p:nvPr>
        </p:nvSpPr>
        <p:spPr/>
        <p:txBody>
          <a:bodyPr/>
          <a:lstStyle/>
          <a:p>
            <a:pPr/>
            <a:r>
              <a:rPr b="1"/>
              <a:t>Treat the Underlying Etiology</a:t>
            </a:r>
          </a:p>
          <a:p>
            <a:pPr lvl="2"/>
            <a:r>
              <a:t>Parsonage-Turner: corticosteroids for acute pain; IVIG for refractory cases</a:t>
            </a:r>
          </a:p>
          <a:p>
            <a:pPr lvl="2"/>
            <a:r>
              <a:t>Myasthenia gravis: pyridostigmine, immunosuppression, plasma exchange, IVIG, thymectomy</a:t>
            </a:r>
          </a:p>
          <a:p>
            <a:pPr lvl="2"/>
            <a:r>
              <a:t>Cervical disc/myelopathy: surgical decompression may restore phrenic function</a:t>
            </a:r>
          </a:p>
          <a:p>
            <a:pPr lvl="2"/>
            <a:r>
              <a:t>Pompe disease: enzyme replacement therapy (alglucosidase alfa)</a:t>
            </a:r>
          </a:p>
          <a:p>
            <a:pPr lvl="2"/>
            <a:r>
              <a:t>GBS: IVIG or plasma exchange; supportive ventilation during nadir</a:t>
            </a:r>
          </a:p>
          <a:p>
            <a:pPr/>
            <a:r>
              <a:rPr b="1"/>
              <a:t>Observation</a:t>
            </a:r>
          </a:p>
          <a:p>
            <a:pPr lvl="2"/>
            <a:r>
              <a:t>Asymptomatic unilateral paralysis with normal pulmonary reserve: monitor with serial PFTs</a:t>
            </a:r>
          </a:p>
          <a:p>
            <a:pPr lvl="2"/>
            <a:r>
              <a:t>Iatrogenic phrenic injury: observe 12–18 months for spontaneous recovery before intervention</a:t>
            </a:r>
          </a:p>
          <a:p>
            <a:pPr lvl="2"/>
            <a:r>
              <a:t>Parsonage-Turner: observe 18–24 months; most recover without surgical intervention</a:t>
            </a:r>
          </a:p>
        </p:txBody>
      </p:sp>
      <p:sp>
        <p:nvSpPr>
          <p:cNvPr id="4" name="Text Placeholder 3"/>
          <p:cNvSpPr>
            <a:spLocks noGrp="1"/>
          </p:cNvSpPr>
          <p:nvPr>
            <p:ph type="body" idx="13" sz="quarter"/>
          </p:nvPr>
        </p:nvSpPr>
        <p:spPr/>
        <p:txBody>
          <a:bodyPr/>
          <a:lstStyle/>
          <a:p>
            <a:r>
              <a:t>Treat the underlying cause and optimize respiratory reserve</a:t>
            </a:r>
          </a:p>
        </p:txBody>
      </p:sp>
      <p:sp>
        <p:nvSpPr>
          <p:cNvPr id="5" name="Content Placeholder 4"/>
          <p:cNvSpPr>
            <a:spLocks noGrp="1"/>
          </p:cNvSpPr>
          <p:nvPr>
            <p:ph idx="14"/>
          </p:nvPr>
        </p:nvSpPr>
        <p:spPr/>
        <p:txBody>
          <a:bodyPr/>
          <a:lstStyle/>
          <a:p>
            <a:pPr/>
            <a:r>
              <a:rPr b="1"/>
              <a:t>Non-Invasive Ventilation (NIV)</a:t>
            </a:r>
          </a:p>
          <a:p>
            <a:pPr lvl="2"/>
            <a:r>
              <a:t>BiPAP or CPAP for nocturnal hypoventilation; first-line for bilateral paralysis</a:t>
            </a:r>
          </a:p>
          <a:p>
            <a:pPr lvl="2"/>
            <a:r>
              <a:t>ALS: NIV initiation when FVC &lt;50% or symptomatic; improves quality of life and survival</a:t>
            </a:r>
          </a:p>
          <a:p>
            <a:pPr lvl="2"/>
            <a:r>
              <a:t>Muscular dystrophies: NIV as bridge to diaphragm pacing or tracheostomy</a:t>
            </a:r>
          </a:p>
          <a:p>
            <a:pPr lvl="2"/>
            <a:r>
              <a:t>Target: nocturnal SpO₂ &gt;94%, morning PCO₂ normalization</a:t>
            </a:r>
          </a:p>
          <a:p>
            <a:pPr/>
            <a:r>
              <a:rPr b="1"/>
              <a:t>Pulmonary Rehabilitation</a:t>
            </a:r>
          </a:p>
          <a:p>
            <a:pPr lvl="2"/>
            <a:r>
              <a:t>Inspiratory muscle training: may improve endurance in partial dysfunction</a:t>
            </a:r>
          </a:p>
          <a:p>
            <a:pPr lvl="2"/>
            <a:r>
              <a:t>Breathing retraining: diaphragmatic breathing exercises, positioning strategies</a:t>
            </a:r>
          </a:p>
          <a:p>
            <a:pPr lvl="2"/>
            <a:r>
              <a:t>Airway clearance: mechanically assisted cough (CoughAssist) for neuromuscular patients</a:t>
            </a:r>
          </a:p>
          <a:p>
            <a:pPr lvl="2"/>
            <a:r>
              <a:t>Positioning: head-of-bed elevation, semi-recumbent positioning to reduce orthopnea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Diaphragm Plication</a:t>
            </a:r>
          </a:p>
        </p:txBody>
      </p:sp>
      <p:sp>
        <p:nvSpPr>
          <p:cNvPr id="3" name="Content Placeholder 2"/>
          <p:cNvSpPr>
            <a:spLocks noGrp="1"/>
          </p:cNvSpPr>
          <p:nvPr>
            <p:ph idx="1"/>
          </p:nvPr>
        </p:nvSpPr>
        <p:spPr/>
        <p:txBody>
          <a:bodyPr/>
          <a:lstStyle/>
          <a:p>
            <a:pPr/>
            <a:r>
              <a:rPr b="1"/>
              <a:t>Indications</a:t>
            </a:r>
          </a:p>
          <a:p>
            <a:pPr lvl="2"/>
            <a:r>
              <a:t>Symptomatic unilateral diaphragm paralysis persisting &gt;12–18 months</a:t>
            </a:r>
          </a:p>
          <a:p>
            <a:pPr lvl="2"/>
            <a:r>
              <a:t>FVC &lt;70% or significant orthopnea limiting quality of life</a:t>
            </a:r>
          </a:p>
          <a:p>
            <a:pPr lvl="2"/>
            <a:r>
              <a:t>No expectation of neurologic recovery (irreversible injury, idiopathic)</a:t>
            </a:r>
          </a:p>
          <a:p>
            <a:pPr lvl="2"/>
            <a:r>
              <a:t>Not appropriate for bilateral paralysis (does not improve ventilatory mechanics)</a:t>
            </a:r>
          </a:p>
          <a:p>
            <a:pPr/>
            <a:r>
              <a:rPr b="1"/>
              <a:t>Operative Technique</a:t>
            </a:r>
          </a:p>
          <a:p>
            <a:pPr lvl="2"/>
            <a:r>
              <a:t>VATS approach preferred: 2–3 ports, gentle circumferential plication of flaccid diaphragm</a:t>
            </a:r>
          </a:p>
          <a:p>
            <a:pPr lvl="2"/>
            <a:r>
              <a:t>Multiple rows of non-absorbable sutures placed to tension and flatten the hemidiaphragm</a:t>
            </a:r>
          </a:p>
          <a:p>
            <a:pPr lvl="2"/>
            <a:r>
              <a:t>Goal: eliminate paradoxical movement and restore mediastinal position</a:t>
            </a:r>
          </a:p>
          <a:p>
            <a:pPr lvl="2"/>
            <a:r>
              <a:t>Thoracotomy reserved for bilateral plication or if VATS not feasible</a:t>
            </a:r>
          </a:p>
          <a:p>
            <a:pPr/>
            <a:r>
              <a:rPr b="1"/>
              <a:t>Outcomes</a:t>
            </a:r>
          </a:p>
          <a:p>
            <a:pPr lvl="2"/>
            <a:r>
              <a:t>FVC improvement: +15–25% at 6 months; maintained at 5-year follow-up</a:t>
            </a:r>
          </a:p>
          <a:p>
            <a:pPr lvl="2"/>
            <a:r>
              <a:t>Dyspnea score improvement in 80–90% of patients</a:t>
            </a:r>
          </a:p>
          <a:p>
            <a:pPr lvl="2"/>
            <a:r>
              <a:t>Low perioperative risk: 30-day mortality &lt;1%, major complication rate ~5%</a:t>
            </a:r>
          </a:p>
          <a:p>
            <a:pPr lvl="2"/>
            <a:r>
              <a:t>Recurrence of paradox is rare if sutures are placed under adequate tension</a:t>
            </a:r>
          </a:p>
        </p:txBody>
      </p:sp>
      <p:sp>
        <p:nvSpPr>
          <p:cNvPr id="4" name="Text Placeholder 3"/>
          <p:cNvSpPr>
            <a:spLocks noGrp="1"/>
          </p:cNvSpPr>
          <p:nvPr>
            <p:ph type="body" idx="13" sz="quarter"/>
          </p:nvPr>
        </p:nvSpPr>
        <p:spPr/>
        <p:txBody>
          <a:bodyPr/>
          <a:lstStyle/>
          <a:p>
            <a:r>
              <a:t>Effective for symptomatic unilateral paralysis refractory to conservative management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Diaphragm Pacing (Phrenic Nerve / Diaphragm Stimulation)</a:t>
            </a:r>
          </a:p>
        </p:txBody>
      </p:sp>
      <p:sp>
        <p:nvSpPr>
          <p:cNvPr id="3" name="Content Placeholder 2"/>
          <p:cNvSpPr>
            <a:spLocks noGrp="1"/>
          </p:cNvSpPr>
          <p:nvPr>
            <p:ph idx="1"/>
          </p:nvPr>
        </p:nvSpPr>
        <p:spPr/>
        <p:txBody>
          <a:bodyPr/>
          <a:lstStyle/>
          <a:p>
            <a:pPr/>
            <a:r>
              <a:rPr b="1"/>
              <a:t>Indications</a:t>
            </a:r>
          </a:p>
          <a:p>
            <a:pPr lvl="2"/>
            <a:r>
              <a:t>Cervical SCI (C1–C4) with intact lower motor neuron phrenic pathways</a:t>
            </a:r>
          </a:p>
          <a:p>
            <a:pPr lvl="2"/>
            <a:r>
              <a:t>ALS: diaphragm pacing investigated as adjunct to NIV (NeuRx DPS)</a:t>
            </a:r>
          </a:p>
          <a:p>
            <a:pPr lvl="2"/>
            <a:r>
              <a:t>Congenital central hypoventilation syndrome (CCHS)</a:t>
            </a:r>
          </a:p>
          <a:p>
            <a:pPr lvl="2"/>
            <a:r>
              <a:t>Prerequisite: intact phrenic nerve and viable diaphragm muscle (assessed by EMG/NCS)</a:t>
            </a:r>
          </a:p>
          <a:p>
            <a:pPr/>
            <a:r>
              <a:rPr b="1"/>
              <a:t>Systems Available</a:t>
            </a:r>
          </a:p>
          <a:p>
            <a:pPr lvl="2"/>
            <a:r>
              <a:t>NeuRx DPS (Synapse Biomedical): laparoscopic intramuscular electrodes; FDA-approved for SCI and ALS</a:t>
            </a:r>
          </a:p>
          <a:p>
            <a:pPr lvl="2"/>
            <a:r>
              <a:t>Avery Biomedical phrenic nerve stimulator: implanted electrodes around phrenic nerves in thorax</a:t>
            </a:r>
          </a:p>
          <a:p>
            <a:pPr lvl="2"/>
            <a:r>
              <a:t>Transcutaneous phrenic stimulation: non-invasive, emerging technology</a:t>
            </a:r>
          </a:p>
        </p:txBody>
      </p:sp>
      <p:sp>
        <p:nvSpPr>
          <p:cNvPr id="4" name="Text Placeholder 3"/>
          <p:cNvSpPr>
            <a:spLocks noGrp="1"/>
          </p:cNvSpPr>
          <p:nvPr>
            <p:ph type="body" idx="13" sz="quarter"/>
          </p:nvPr>
        </p:nvSpPr>
        <p:spPr/>
        <p:txBody>
          <a:bodyPr/>
          <a:lstStyle/>
          <a:p>
            <a:r>
              <a:t>Restoring ventilation through electrical stimulation of the phrenic nerve or diaphragm</a:t>
            </a:r>
          </a:p>
        </p:txBody>
      </p:sp>
      <p:sp>
        <p:nvSpPr>
          <p:cNvPr id="5" name="Content Placeholder 4"/>
          <p:cNvSpPr>
            <a:spLocks noGrp="1"/>
          </p:cNvSpPr>
          <p:nvPr>
            <p:ph idx="14"/>
          </p:nvPr>
        </p:nvSpPr>
        <p:spPr/>
        <p:txBody>
          <a:bodyPr/>
          <a:lstStyle/>
          <a:p>
            <a:pPr/>
            <a:r>
              <a:rPr b="1"/>
              <a:t>Outcomes in SCI</a:t>
            </a:r>
          </a:p>
          <a:p>
            <a:pPr lvl="2"/>
            <a:r>
              <a:t>Successful ventilator-free breathing (&gt;4 h/day) in ~80% of appropriately selected patients</a:t>
            </a:r>
          </a:p>
          <a:p>
            <a:pPr lvl="2"/>
            <a:r>
              <a:t>Average time to full-time pacing: 3–6 months of conditioning</a:t>
            </a:r>
          </a:p>
          <a:p>
            <a:pPr lvl="2"/>
            <a:r>
              <a:t>Quality of life improvement: speech, smell, mobility (no ventilator tether)</a:t>
            </a:r>
          </a:p>
          <a:p>
            <a:pPr lvl="2"/>
            <a:r>
              <a:t>Reduces pulmonary infections vs. positive pressure ventilation</a:t>
            </a:r>
          </a:p>
          <a:p>
            <a:pPr/>
            <a:r>
              <a:rPr b="1"/>
              <a:t>ALS Controversy</a:t>
            </a:r>
          </a:p>
          <a:p>
            <a:pPr lvl="2"/>
            <a:r>
              <a:t>VITALS trial (2015): diaphragm pacing did not improve survival and may have accelerated decline</a:t>
            </a:r>
          </a:p>
          <a:p>
            <a:pPr lvl="2"/>
            <a:r>
              <a:t>Ongoing debate: patient selection, timing, and whether UMN vs. LMN predominance matters</a:t>
            </a:r>
          </a:p>
          <a:p>
            <a:pPr lvl="2"/>
            <a:r>
              <a:t>Current consensus: do not offer routinely in ALS outside of clinical trial</a:t>
            </a:r>
          </a:p>
          <a:p>
            <a:pPr/>
            <a:r>
              <a:rPr b="1"/>
              <a:t>Phrenic Nerve Reconstruction</a:t>
            </a:r>
          </a:p>
          <a:p>
            <a:pPr lvl="2"/>
            <a:r>
              <a:t>Nerve grafting or neurotization: emerging option for iatrogenic phrenic palsy</a:t>
            </a:r>
          </a:p>
          <a:p>
            <a:pPr lvl="2"/>
            <a:r>
              <a:t>Best results when performed early (within 6–12 months of injury)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Key Takeaways</a:t>
            </a:r>
          </a:p>
        </p:txBody>
      </p:sp>
      <p:sp>
        <p:nvSpPr>
          <p:cNvPr id="3" name="Content Placeholder 2"/>
          <p:cNvSpPr>
            <a:spLocks noGrp="1"/>
          </p:cNvSpPr>
          <p:nvPr>
            <p:ph idx="1"/>
          </p:nvPr>
        </p:nvSpPr>
        <p:spPr/>
        <p:txBody>
          <a:bodyPr/>
          <a:lstStyle/>
          <a:p>
            <a:pPr/>
            <a:r>
              <a:rPr b="1"/>
              <a:t>1  Know the phrenic nerve anatomy</a:t>
            </a:r>
          </a:p>
          <a:p>
            <a:pPr lvl="2"/>
            <a:r>
              <a:t>C3, C4, C5 — long course through neck and mediastinum makes it vulnerable at many points</a:t>
            </a:r>
          </a:p>
          <a:p>
            <a:pPr/>
            <a:r>
              <a:rPr b="1"/>
              <a:t>2  Maintain a broad differential</a:t>
            </a:r>
          </a:p>
          <a:p>
            <a:pPr lvl="2"/>
            <a:r>
              <a:t>Iatrogenic causes are most common; always ask about prior cardiac, thoracic, or cervical spine surgery</a:t>
            </a:r>
          </a:p>
          <a:p>
            <a:pPr lvl="2"/>
            <a:r>
              <a:t>Parsonage-Turner is underdiagnosed — consider in unexplained dyspnea with elevated hemidiaphragm</a:t>
            </a:r>
          </a:p>
          <a:p>
            <a:pPr/>
            <a:r>
              <a:rPr b="1"/>
              <a:t>3  Functional testing is essential</a:t>
            </a:r>
          </a:p>
          <a:p>
            <a:pPr lvl="2"/>
            <a:r>
              <a:t>Supine vs. upright FVC, sniff test, ultrasound thickening fraction, and phrenic NCS/EMG</a:t>
            </a:r>
          </a:p>
          <a:p>
            <a:pPr/>
            <a:r>
              <a:rPr b="1"/>
              <a:t>4  Treat the cause and optimize respiratory reserve early</a:t>
            </a:r>
          </a:p>
          <a:p>
            <a:pPr lvl="2"/>
            <a:r>
              <a:t>NIV, pulmonary rehab, and airway clearance before considering surgical intervention</a:t>
            </a:r>
          </a:p>
          <a:p>
            <a:pPr/>
            <a:r>
              <a:rPr b="1"/>
              <a:t>5  Select the right intervention for the right patient</a:t>
            </a:r>
          </a:p>
          <a:p>
            <a:pPr lvl="2"/>
            <a:r>
              <a:t>Plication for symptomatic unilateral paralysis persisting &gt;12–18 months without recovery</a:t>
            </a:r>
          </a:p>
          <a:p>
            <a:pPr lvl="2"/>
            <a:r>
              <a:t>Diaphragm pacing for SCI patients with intact lower motor neuron phrenic pathways</a:t>
            </a:r>
          </a:p>
          <a:p>
            <a:pPr lvl="2"/>
            <a:r>
              <a:t>Avoid pacing in ALS outside of clinical trials based on current evidence</a:t>
            </a:r>
          </a:p>
        </p:txBody>
      </p:sp>
      <p:sp>
        <p:nvSpPr>
          <p:cNvPr id="4" name="Text Placeholder 3"/>
          <p:cNvSpPr>
            <a:spLocks noGrp="1"/>
          </p:cNvSpPr>
          <p:nvPr>
            <p:ph type="body" idx="13" sz="quarter"/>
          </p:nvPr>
        </p:nvSpPr>
        <p:spPr/>
        <p:txBody>
          <a:bodyPr/>
          <a:lstStyle/>
          <a:p>
            <a:r>
              <a:t>A systematic approach to a diagnosis that is often delayed or missed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Selected References</a:t>
            </a:r>
          </a:p>
        </p:txBody>
      </p:sp>
      <p:sp>
        <p:nvSpPr>
          <p:cNvPr id="3" name="Content Placeholder 2"/>
          <p:cNvSpPr>
            <a:spLocks noGrp="1"/>
          </p:cNvSpPr>
          <p:nvPr>
            <p:ph idx="1"/>
          </p:nvPr>
        </p:nvSpPr>
        <p:spPr/>
        <p:txBody>
          <a:bodyPr/>
          <a:lstStyle/>
          <a:p>
            <a:pPr lvl="2"/>
            <a:r>
              <a:rPr sz="1000"/>
              <a:t>van Alfen N, van Engelen BG. The clinical spectrum of neuralgic amyotrophy in 246 cases. Brain. 2006;129(2):438–450.</a:t>
            </a:r>
          </a:p>
          <a:p>
            <a:pPr lvl="2"/>
            <a:r>
              <a:rPr sz="1000"/>
              <a:t>Dimopoulou I, et al. Phrenic nerve dysfunction after cardiac operations. Chest. 1998;113(1):8–14.</a:t>
            </a:r>
          </a:p>
          <a:p>
            <a:pPr lvl="2"/>
            <a:r>
              <a:rPr sz="1000"/>
              <a:t>Kaufman MR, et al. Nerve reconstruction for phrenic nerve paralysis. Plast Reconstr Surg. 2014;134(3):570e–578e.</a:t>
            </a:r>
          </a:p>
          <a:p>
            <a:pPr lvl="2"/>
            <a:r>
              <a:rPr sz="1000"/>
              <a:t>Gibson GJ. Diaphragmatic paresis: pathophysiology, clinical features, and investigation. Thorax. 1989;44(11):960–970.</a:t>
            </a:r>
          </a:p>
          <a:p>
            <a:pPr lvl="2"/>
            <a:r>
              <a:rPr sz="1000"/>
              <a:t>Laghi FA, Tobin MJ. Disorders of the respiratory muscles. Am J Respir Crit Care Med. 2003;168(1):10–48.</a:t>
            </a:r>
          </a:p>
          <a:p>
            <a:pPr lvl="2"/>
            <a:r>
              <a:rPr sz="1000"/>
              <a:t>Miller RG, et al. Practice guideline update summary: Riluzole and edaravone (ALS). Neurology. 2017.</a:t>
            </a:r>
          </a:p>
          <a:p>
            <a:pPr lvl="2"/>
            <a:r>
              <a:rPr sz="1000"/>
              <a:t>Posluszny JA Jr, et al. Surgical interventions for diaphragm dysfunction. J Trauma Acute Care Surg. 2010.</a:t>
            </a:r>
          </a:p>
          <a:p>
            <a:pPr lvl="2"/>
            <a:r>
              <a:rPr sz="1000"/>
              <a:t>DiMarco AF. Phrenic nerve stimulation in patients with spinal cord injury. Respir Physiol Neurobiol. 2009;169(2):200–209.</a:t>
            </a:r>
          </a:p>
          <a:p>
            <a:pPr lvl="2"/>
            <a:r>
              <a:rPr sz="1000"/>
              <a:t>Phrenic Nerve Stimulation in ALS — The VITALS Trial. Lancet Neurol. 2015;14(9):883–900.</a:t>
            </a:r>
          </a:p>
          <a:p>
            <a:pPr lvl="2"/>
            <a:r>
              <a:rPr sz="1000"/>
              <a:t>Summerhill EM, El-Sameed YA, Glidden TJ, McCool FD. Monitoring recovery from diaphragm paralysis with ultrasound. Chest. 2008;133(3):737–743.</a:t>
            </a:r>
          </a:p>
        </p:txBody>
      </p:sp>
      <p:sp>
        <p:nvSpPr>
          <p:cNvPr id="4" name="Text Placeholder 3"/>
          <p:cNvSpPr>
            <a:spLocks noGrp="1"/>
          </p:cNvSpPr>
          <p:nvPr>
            <p:ph type="body" idx="13" sz="quarter"/>
          </p:nvPr>
        </p:nvSpPr>
        <p:spPr/>
        <p:txBody>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Thank You</a:t>
            </a:r>
          </a:p>
        </p:txBody>
      </p:sp>
    </p:spTree>
  </p:cSld>
  <p:clrMapOvr>
    <a:masterClrMapping/>
  </p:clrMapOvr>
</p:sld>
</file>

<file path=ppt/theme/theme1.xml><?xml version="1.0" encoding="utf-8"?>
<a:theme xmlns:a="http://schemas.openxmlformats.org/drawingml/2006/main" name="NM-Presentation">
  <a:themeElements>
    <a:clrScheme name="Northwestern Medicine 1">
      <a:dk1>
        <a:srgbClr val="FFFFFF"/>
      </a:dk1>
      <a:lt1>
        <a:srgbClr val="342F2E"/>
      </a:lt1>
      <a:dk2>
        <a:srgbClr val="E3E0EE"/>
      </a:dk2>
      <a:lt2>
        <a:srgbClr val="4E2A83"/>
      </a:lt2>
      <a:accent1>
        <a:srgbClr val="401F68"/>
      </a:accent1>
      <a:accent2>
        <a:srgbClr val="EF553F"/>
      </a:accent2>
      <a:accent3>
        <a:srgbClr val="FFC520"/>
      </a:accent3>
      <a:accent4>
        <a:srgbClr val="008656"/>
      </a:accent4>
      <a:accent5>
        <a:srgbClr val="0D2C6C"/>
      </a:accent5>
      <a:accent6>
        <a:srgbClr val="5091CD"/>
      </a:accent6>
      <a:hlink>
        <a:srgbClr val="684C96"/>
      </a:hlink>
      <a:folHlink>
        <a:srgbClr val="836EAA"/>
      </a:folHlink>
    </a:clrScheme>
    <a:fontScheme name="TeleNeo">
      <a:majorFont>
        <a:latin typeface="Century Gothic"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ptos"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lnSpc>
            <a:spcPct val="113000"/>
          </a:lnSpc>
          <a:spcAft>
            <a:spcPts val="600"/>
          </a:spcAft>
          <a:defRPr sz="1600" dirty="0" smtClean="0"/>
        </a:defPPr>
      </a:lstStyle>
    </a:txDef>
  </a:objectDefaults>
  <a:extraClrSchemeLst/>
  <a:extLst>
    <a:ext uri="{05A4C25C-085E-4340-85A3-A5531E510DB2}">
      <thm15:themeFamily xmlns:thm15="http://schemas.microsoft.com/office/thememl/2012/main" name="NM_PPT-Template_Wide_111324" id="{949B5D00-3376-3349-8530-55F0D4BFCCAA}" vid="{0D369564-6835-F043-9450-C4F874667DF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A4D0429FF8956469A6356D918DA543D" ma:contentTypeVersion="20" ma:contentTypeDescription="Create a new document." ma:contentTypeScope="" ma:versionID="5195404b8059da3abd36e7d3f69c1fa9">
  <xsd:schema xmlns:xsd="http://www.w3.org/2001/XMLSchema" xmlns:xs="http://www.w3.org/2001/XMLSchema" xmlns:p="http://schemas.microsoft.com/office/2006/metadata/properties" xmlns:ns1="http://schemas.microsoft.com/sharepoint/v3" xmlns:ns2="47e89a67-0b4f-4d33-93e8-1a0154062c6c" xmlns:ns3="5b63817d-15dc-41ca-af41-5ee9740cff01" targetNamespace="http://schemas.microsoft.com/office/2006/metadata/properties" ma:root="true" ma:fieldsID="0a4b9202e90b8cafffdbab64a2a689bd" ns1:_="" ns2:_="" ns3:_="">
    <xsd:import namespace="http://schemas.microsoft.com/sharepoint/v3"/>
    <xsd:import namespace="47e89a67-0b4f-4d33-93e8-1a0154062c6c"/>
    <xsd:import namespace="5b63817d-15dc-41ca-af41-5ee9740cff0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1:_ip_UnifiedCompliancePolicyProperties" minOccurs="0"/>
                <xsd:element ref="ns1:_ip_UnifiedCompliancePolicyUIAction"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7e89a67-0b4f-4d33-93e8-1a0154062c6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9e4503a0-b685-4c11-a324-e364750599e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63817d-15dc-41ca-af41-5ee9740cff01"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24bce85b-888f-4922-8e6d-ad839441317c}" ma:internalName="TaxCatchAll" ma:showField="CatchAllData" ma:web="5b63817d-15dc-41ca-af41-5ee9740cff0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7e89a67-0b4f-4d33-93e8-1a0154062c6c">
      <Terms xmlns="http://schemas.microsoft.com/office/infopath/2007/PartnerControls"/>
    </lcf76f155ced4ddcb4097134ff3c332f>
    <TaxCatchAll xmlns="5b63817d-15dc-41ca-af41-5ee9740cff01"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2FEEA1A8-0B95-4DFC-8089-63D1B8162BB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7e89a67-0b4f-4d33-93e8-1a0154062c6c"/>
    <ds:schemaRef ds:uri="5b63817d-15dc-41ca-af41-5ee9740cff0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8D45B72-4870-4D43-9FD1-8DA4991D8B84}">
  <ds:schemaRefs>
    <ds:schemaRef ds:uri="http://schemas.microsoft.com/sharepoint/v3/contenttype/forms"/>
  </ds:schemaRefs>
</ds:datastoreItem>
</file>

<file path=customXml/itemProps3.xml><?xml version="1.0" encoding="utf-8"?>
<ds:datastoreItem xmlns:ds="http://schemas.openxmlformats.org/officeDocument/2006/customXml" ds:itemID="{7A0BB477-7D69-46ED-AADD-5A2C183C49F7}">
  <ds:schemaRefs>
    <ds:schemaRef ds:uri="http://schemas.microsoft.com/office/2006/metadata/properties"/>
    <ds:schemaRef ds:uri="http://schemas.microsoft.com/office/infopath/2007/PartnerControls"/>
    <ds:schemaRef ds:uri="47e89a67-0b4f-4d33-93e8-1a0154062c6c"/>
    <ds:schemaRef ds:uri="5b63817d-15dc-41ca-af41-5ee9740cff01"/>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emplate>NM-Presentation</Template>
  <TotalTime>22</TotalTime>
  <Words>1346</Words>
  <Application>Microsoft Macintosh PowerPoint</Application>
  <PresentationFormat>Widescreen</PresentationFormat>
  <Paragraphs>253</Paragraphs>
  <Slides>19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Aptos Light</vt:lpstr>
      <vt:lpstr>Arial</vt:lpstr>
      <vt:lpstr>Calibri</vt:lpstr>
      <vt:lpstr>Century Gothic</vt:lpstr>
      <vt:lpstr>NM-Presentation</vt:lpstr>
      <vt:lpstr>Title of the presentation</vt:lpstr>
      <vt:lpstr>Page headline goes here, can be up to two lines</vt:lpstr>
      <vt:lpstr>Page headline goes here</vt:lpstr>
      <vt:lpstr>Page headline goes here,  up to two lines</vt:lpstr>
      <vt:lpstr>Page head goes here, up to two lines</vt:lpstr>
      <vt:lpstr>Page headline goes here, up to two lines</vt:lpstr>
      <vt:lpstr>Page headline up to two lines</vt:lpstr>
      <vt:lpstr>Page headline goes here, up to two lines</vt:lpstr>
      <vt:lpstr>Page headline goes here, up to two lines</vt:lpstr>
      <vt:lpstr>Page headline goes here, up to two lines</vt:lpstr>
      <vt:lpstr>Page headline goes here, up to two lines</vt:lpstr>
      <vt:lpstr>Page headline goes here, up to two lines</vt:lpstr>
      <vt:lpstr>Page headline goes here, up to two lines</vt:lpstr>
      <vt:lpstr>Page headline goes here, up to two lines</vt:lpstr>
      <vt:lpstr>Page headline here, up to two lines</vt:lpstr>
      <vt:lpstr>Divider or Section</vt:lpstr>
      <vt:lpstr>Thank you</vt:lpstr>
      <vt:lpstr>Icons</vt:lpstr>
      <vt:lpstr>Icons, 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Salinas, Veronika</dc:creator>
  <cp:lastModifiedBy>NM268919@nm.org</cp:lastModifiedBy>
  <cp:revision>6</cp:revision>
  <dcterms:created xsi:type="dcterms:W3CDTF">2024-11-13T20:30:43Z</dcterms:created>
  <dcterms:modified xsi:type="dcterms:W3CDTF">2026-02-22T23:48:40Z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1b86c14-7a6f-495c-8ad3-202986669410_Enabled">
    <vt:lpwstr>true</vt:lpwstr>
  </property>
  <property fmtid="{D5CDD505-2E9C-101B-9397-08002B2CF9AE}" pid="3" name="MSIP_Label_b1b86c14-7a6f-495c-8ad3-202986669410_SetDate">
    <vt:lpwstr>2024-11-13T20:33:01Z</vt:lpwstr>
  </property>
  <property fmtid="{D5CDD505-2E9C-101B-9397-08002B2CF9AE}" pid="4" name="MSIP_Label_b1b86c14-7a6f-495c-8ad3-202986669410_Method">
    <vt:lpwstr>Standard</vt:lpwstr>
  </property>
  <property fmtid="{D5CDD505-2E9C-101B-9397-08002B2CF9AE}" pid="5" name="MSIP_Label_b1b86c14-7a6f-495c-8ad3-202986669410_Name">
    <vt:lpwstr>Internal</vt:lpwstr>
  </property>
  <property fmtid="{D5CDD505-2E9C-101B-9397-08002B2CF9AE}" pid="6" name="MSIP_Label_b1b86c14-7a6f-495c-8ad3-202986669410_SiteId">
    <vt:lpwstr>2596038f-3ea4-4f0c-aed1-066eb6544c3b</vt:lpwstr>
  </property>
  <property fmtid="{D5CDD505-2E9C-101B-9397-08002B2CF9AE}" pid="7" name="MSIP_Label_b1b86c14-7a6f-495c-8ad3-202986669410_ActionId">
    <vt:lpwstr>61a8a19d-48d4-4d35-b2a0-981fa5979271</vt:lpwstr>
  </property>
  <property fmtid="{D5CDD505-2E9C-101B-9397-08002B2CF9AE}" pid="8" name="MSIP_Label_b1b86c14-7a6f-495c-8ad3-202986669410_ContentBits">
    <vt:lpwstr>0</vt:lpwstr>
  </property>
  <property fmtid="{D5CDD505-2E9C-101B-9397-08002B2CF9AE}" pid="9" name="ContentTypeId">
    <vt:lpwstr>0x0101003A4D0429FF8956469A6356D918DA543D</vt:lpwstr>
  </property>
  <property fmtid="{D5CDD505-2E9C-101B-9397-08002B2CF9AE}" pid="10" name="MediaServiceImageTags">
    <vt:lpwstr/>
  </property>
</Properties>
</file>