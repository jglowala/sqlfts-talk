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media/image11.svg" ContentType="image/svg+xml"/>
  <Override PartName="/ppt/media/image2.svg" ContentType="image/svg+xml"/>
  <Override PartName="/ppt/media/image4.svg" ContentType="image/svg+xml"/>
  <Override PartName="/ppt/media/image6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05" r:id="rId4"/>
  </p:sldMasterIdLst>
  <p:notesMasterIdLst>
    <p:notesMasterId r:id="rId24"/>
  </p:notes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9"/>
    <p:sldId id="271" r:id="rId8"/>
    <p:sldId id="272" r:id="rId7"/>
    <p:sldId id="273" r:id="rId6"/>
    <p:sldId id="274" r:id="rId5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</p:sldIdLst>
  <p:sldSz cx="12192000" cy="6858000"/>
  <p:notesSz cx="6858000" cy="9144000"/>
  <p:defaultTextStyle>
    <a:defPPr>
      <a:defRPr lang="en-US"/>
    </a:defPPr>
    <a:lvl1pPr marL="0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585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9170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754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8339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924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E2A84"/>
    <a:srgbClr val="401F68"/>
    <a:srgbClr val="3F1F68"/>
    <a:srgbClr val="ED5540"/>
    <a:srgbClr val="FFC622"/>
    <a:srgbClr val="00865B"/>
    <a:srgbClr val="7FCECD"/>
    <a:srgbClr val="5191CD"/>
    <a:srgbClr val="57B946"/>
    <a:srgbClr val="D9C82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166"/>
    <p:restoredTop sz="94830"/>
  </p:normalViewPr>
  <p:slideViewPr>
    <p:cSldViewPr snapToGrid="0" showGuides="1">
      <p:cViewPr varScale="1">
        <p:scale>
          <a:sx n="121" d="100"/>
          <a:sy n="121" d="100"/>
        </p:scale>
        <p:origin x="896" y="1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23" d="100"/>
        <a:sy n="123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9.xml"/><Relationship Id="rId6" Type="http://schemas.openxmlformats.org/officeDocument/2006/relationships/slide" Target="slides/slide18.xml"/><Relationship Id="rId7" Type="http://schemas.openxmlformats.org/officeDocument/2006/relationships/slide" Target="slides/slide17.xml"/><Relationship Id="rId8" Type="http://schemas.openxmlformats.org/officeDocument/2006/relationships/slide" Target="slides/slide16.xml"/><Relationship Id="rId9" Type="http://schemas.openxmlformats.org/officeDocument/2006/relationships/slide" Target="slides/slide15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% Patients with Meaningful Recovery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PTS (van Alfen 2006)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1 Year</c:v>
                </c:pt>
                <c:pt idx="1">
                  <c:v>2 Years</c:v>
                </c:pt>
                <c:pt idx="2">
                  <c:v>3 Years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36</c:v>
                </c:pt>
                <c:pt idx="1">
                  <c:v>75</c:v>
                </c:pt>
                <c:pt idx="2">
                  <c:v>89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Post-Cardiac Sx (Dimopoulou)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1 Year</c:v>
                </c:pt>
                <c:pt idx="1">
                  <c:v>2 Years</c:v>
                </c:pt>
                <c:pt idx="2">
                  <c:v>3 Years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60</c:v>
                </c:pt>
                <c:pt idx="1">
                  <c:v>80</c:v>
                </c:pt>
                <c:pt idx="2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66F302-C2A4-DD49-A872-2BB2B3F2F0AF}" type="datetimeFigureOut">
              <a:rPr lang="en-US" smtClean="0"/>
              <a:t>2/22/26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39966F-DF03-C541-8CA6-08220F0854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26770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585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9170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75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833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92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Today's talk focuses on non-traumatic causes of diaphragm dysfunction in adults — a diagnosis that spans multiple specialties and is frequently delayed. References: Fogarty MJ et al. Physiology (Bethesda). 2018;33(2):113-126.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Objectives frame the talk. No specific citation required for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traces the complete neural pathway controlling diaphragmatic respiration.</a:t>
            </a:r>
          </a:p>
          <a:p/>
          <a:p>
            <a:r>
              <a:t>CITATIONS:</a:t>
            </a:r>
          </a:p>
          <a:p>
            <a:r>
              <a:t>• Feldman JL, Mitchell GS, Nattie EE. Breathing: rhythmicity, plasticity, chemosensitivity. Annu Rev Neurosci. 2003;26:239-266.</a:t>
            </a:r>
          </a:p>
          <a:p>
            <a:r>
              <a:t>• Fogarty MJ, Mantilla CB, Sieck GC. Breathing: Motor Control of Diaphragm Muscle. Physiology (Bethesda). 2018;33(2):113-126.</a:t>
            </a:r>
          </a:p>
          <a:p>
            <a:r>
              <a:t>• Pre-Bötzinger complex: Smith JC et al. Pre-Botzinger complex: a brainstem region that may generate respiratory rhythm in mammals. Science. 1991;254(5032):726-729.</a:t>
            </a:r>
          </a:p>
          <a:p>
            <a:r>
              <a:t>• CCHS (Ondine's curse): Weese-Mayer DE et al. Congenital central hypoventilation syndrome (CCHS) and sudden infant death syndrome (SIDS): kindred disorders of autonomic regulation. Respir Physiol Neurobiol. 2008;164(1-2):38-48.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divider — no citation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CITATIONS:</a:t>
            </a:r>
          </a:p>
          <a:p>
            <a:r>
              <a:t>• Fogarty MJ, Mantilla CB, Sieck GC. Physiology (Bethesda). 2018;33(2):113-126.</a:t>
            </a:r>
          </a:p>
          <a:p>
            <a:r>
              <a:t>• Gibson GJ. Diaphragmatic paresis: pathophysiology, clinical features, and investigation. Thorax. 1989;44(11):960-970.</a:t>
            </a:r>
          </a:p>
          <a:p>
            <a:r>
              <a:t>• Laroche CM et al. Diaphragm strength in patients with recent hemidiaphragm paralysis. Thorax. 1988;43(3):170-174. [FVC 20-30% decline figure]</a:t>
            </a:r>
          </a:p>
          <a:p>
            <a:r>
              <a:t>• Newsom Davis J et al. Diaphragm function and alveolar hypoventilation. Q J Med. 1976;45(177):87-100. [Supine FVC drop figure]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CITATIONS:</a:t>
            </a:r>
          </a:p>
          <a:p>
            <a:r>
              <a:t>• Merle M, Borrelly M, Braun FM. The phrenic nerve anatomy. Hand Clin. 1995;11(4):567-572.</a:t>
            </a:r>
          </a:p>
          <a:p>
            <a:r>
              <a:t>• Kumka M. Critical sites of entrapment of the posterior division of the human phrenic nerve. J Can Chiropr Assoc. 2000.</a:t>
            </a:r>
          </a:p>
          <a:p>
            <a:r>
              <a:t>• Dimopoulou I et al. Phrenic nerve dysfunction after cardiac operations. Chest. 1998;113(1):8-14. [Left predominance post-cardiac surgery]</a:t>
            </a:r>
          </a:p>
          <a:p>
            <a:r>
              <a:t>• Standring S (ed). Gray's Anatomy, 41st ed. Elsevier; 2015. Chapter on phrenic nerve.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CITATIONS:</a:t>
            </a:r>
          </a:p>
          <a:p>
            <a:r>
              <a:t>• Gibson GJ. Thorax. 1989;44(11):960-970. [Classic review of diaphragm paresis physiology]</a:t>
            </a:r>
          </a:p>
          <a:p>
            <a:r>
              <a:t>• Laghi FA, Tobin MJ. Disorders of the respiratory muscles. Am J Respir Crit Care Med. 2003;168(1):10-48.</a:t>
            </a:r>
          </a:p>
          <a:p>
            <a:r>
              <a:t>• Laroche CM et al. Thorax. 1988;43(3):170-174. [Upright vs supine FVC data]</a:t>
            </a:r>
          </a:p>
          <a:p>
            <a:r>
              <a:t>• Newsom Davis J et al. Q J Med. 1976;45:87-100. [Bilateral paralysis physiology]</a:t>
            </a:r>
          </a:p>
          <a:p>
            <a:r>
              <a:t>• Hart N et al. Respiratory symptoms and sleep-disordered breathing in patients with diaphragmatic paralysis. Thorax. 2002;57(4):289-294.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divider.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CITATIONS:</a:t>
            </a:r>
          </a:p>
          <a:p>
            <a:r>
              <a:t>• Laghi FA, Tobin MJ. Am J Respir Crit Care Med. 2003;168(1):10-48. [Comprehensive review of all etiologies]</a:t>
            </a:r>
          </a:p>
          <a:p>
            <a:r>
              <a:t>• van Alfen N. Nat Rev Neurol. 2011;7(6):315-322. [Parsonage-Turner]</a:t>
            </a:r>
          </a:p>
          <a:p>
            <a:r>
              <a:t>• Kokatnur L, Rudrappa M. Diaphragmatic Palsy. Diseases. 2018;6(1):16. [Etiology classification]</a:t>
            </a:r>
          </a:p>
          <a:p>
            <a:r>
              <a:t>• Dimopoulou I et al. Chest. 1998;113(1):8-14. [Iatrogenic]</a:t>
            </a:r>
          </a:p>
          <a:p>
            <a:r>
              <a:t>• Demoule A et al. Intensive Care Med. 2013;39(7):1285-94. [CIM/VIDD]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CITATIONS:</a:t>
            </a:r>
          </a:p>
          <a:p>
            <a:r>
              <a:t>• Dimopoulou I et al. Phrenic nerve dysfunction after cardiac operations: electrophysiological evaluation of risk factors. Chest. 1998;113(1):8-14.</a:t>
            </a:r>
          </a:p>
          <a:p>
            <a:r>
              <a:t>• Abd-Elsayed AA et al. Incidence of phrenic nerve injury after cardiac surgery. J Thorac Cardiovasc Surg. 2013.</a:t>
            </a:r>
          </a:p>
          <a:p>
            <a:r>
              <a:t>• Sacher F et al. Phrenic nerve injury after catheter ablation of atrial fibrillation. Heart Rhythm. 2006;3(12):1389-1393.</a:t>
            </a:r>
          </a:p>
          <a:p>
            <a:r>
              <a:t>• Neal JM et al. ASRA Practice Advisory on Neurologic Complications in Regional Anesthesia. Reg Anesth Pain Med. 2008. [Interscalene block 100% transient phrenic palsy]</a:t>
            </a:r>
          </a:p>
          <a:p>
            <a:r>
              <a:t>• Johansson K et al. Phrenic nerve injury after radiation therapy. Radiother Oncol. 1992.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CITATIONS:</a:t>
            </a:r>
          </a:p>
          <a:p>
            <a:r>
              <a:t>• van Alfen N, van Engelen BG. The clinical spectrum of neuralgic amyotrophy in 246 cases. Brain. 2006;129(2):438-450. [7% phrenic involvement, recovery rates]</a:t>
            </a:r>
          </a:p>
          <a:p>
            <a:r>
              <a:t>• van Alfen N. Clinical and pathophysiological concepts of neuralgic amyotrophy. Nat Rev Neurol. 2011;7(6):315-322.</a:t>
            </a:r>
          </a:p>
          <a:p>
            <a:r>
              <a:t>• Tsairis P et al. Natural history of brachial plexus neuropathy. Arch Neurol. 1972;27(2):109-117.</a:t>
            </a:r>
          </a:p>
          <a:p>
            <a:r>
              <a:t>• Feinberg JH et al. The role of MRI in the management of patients with neuralgic amyotrophy. Orthopedics. 2000.</a:t>
            </a:r>
          </a:p>
          <a:p>
            <a:r>
              <a:t>• COVID-19 trigger: Shepherd S et al. Neuralgic amyotrophy following SARS-CoV-2 infection. J Peripher Nerv Syst. 2020.</a:t>
            </a:r>
          </a:p>
          <a:p>
            <a:r>
              <a:t>• Hereditary form (SEPT9): Hannibal MC et al. Phenotypic variation in hereditary neuralgic amyotrophy. Neurology. 2009.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CITATIONS:</a:t>
            </a:r>
          </a:p>
          <a:p>
            <a:r>
              <a:t>• National SCI Statistical Center. Facts and Figures at a Glance. 2022. [22,000 new SCIs/year, 60% cervical]</a:t>
            </a:r>
          </a:p>
          <a:p>
            <a:r>
              <a:t>• Berlowitz DJ et al. Respiratory problems and management in people with spinal cord injury. Breathe. 2016.</a:t>
            </a:r>
          </a:p>
          <a:p>
            <a:r>
              <a:t>• Brown R et al. Respiratory dysfunction and management in spinal cord injury. Respir Care. 2006;51(8):853-870.</a:t>
            </a:r>
          </a:p>
          <a:p>
            <a:r>
              <a:t>• ALS diaphragm: Lechtzin N et al. Supine respiratory function in patients with ALS. Chest. 2002;121(6):1882-1887.</a:t>
            </a:r>
          </a:p>
          <a:p>
            <a:r>
              <a:t>• Miller RG et al. Practice guideline update: Amyotrophic Lateral Sclerosis. Neurology. 2009;73(15):1218-1226. [NIV recommendation at FVC &lt;50%]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CITATIONS:</a:t>
            </a:r>
          </a:p>
          <a:p>
            <a:r>
              <a:t>• Demoule A et al. Diaphragm dysfunction on admission to ICU: prevalence, risk factors, and prognostic impact. Intensive Care Med. 2013;39(7):1285-1294. [64-80% prevalence]</a:t>
            </a:r>
          </a:p>
          <a:p>
            <a:r>
              <a:t>• Goligher EC et al. Mechanical Ventilation-induced Diaphragm Atrophy Strongly Impacts Clinical Outcomes. Am J Respir Crit Care Med. 2018;197(2):204-213. [6% force loss per day]</a:t>
            </a:r>
          </a:p>
          <a:p>
            <a:r>
              <a:t>• Levine S et al. Rapid disuse atrophy of diaphragm fibers in mechanically ventilated humans. N Engl J Med. 2008;358(13):1327-1335. [18-69 hour atrophy]</a:t>
            </a:r>
          </a:p>
          <a:p>
            <a:r>
              <a:t>• Hermans G, Van den Berghe G. Clinical review: intensive care unit acquired weakness. Crit Care. 2015;19(1):274. [60% ICU-acquired weakness in sepsis]</a:t>
            </a:r>
          </a:p>
          <a:p>
            <a:r>
              <a:t>• Matamis D et al. Ultrasound evaluation of the diaphragm in critically ill patients. Intensive Care Med. 2013;39(5):801-810. [Ultrasound thresholds]</a:t>
            </a:r>
          </a:p>
          <a:p>
            <a:r>
              <a:t>• Goligher EC et al. Evolution of diaphragm thickness during mechanical ventilation: impact of inspiratory effort. Am J Respir Crit Care Med. 2015;192(9):1080-1088.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CITATIONS:</a:t>
            </a:r>
          </a:p>
          <a:p>
            <a:r>
              <a:t>• ALS NIV: Bourke SC et al. Non-invasive ventilation for ALS — a randomised controlled trial. Lancet Neurol. 2006;5(2):140-147. [~7 month survival benefit]</a:t>
            </a:r>
          </a:p>
          <a:p>
            <a:r>
              <a:t>• ALS FVC threshold: Miller RG et al. Neurology. 2009;73(15):1218-1226.</a:t>
            </a:r>
          </a:p>
          <a:p>
            <a:r>
              <a:t>• Pompe disease: Van der Beek NAME et al. Pompe disease in adults. J Neurol Neurosurg Psychiatry. 2012;83(11):1086-1091.</a:t>
            </a:r>
          </a:p>
          <a:p>
            <a:r>
              <a:t>• Duchenne / NIV: Eagle M et al. Survival in Duchenne muscular dystrophy. Neuromuscul Disord. 2002;12(10):926-929.</a:t>
            </a:r>
          </a:p>
          <a:p>
            <a:r>
              <a:t>• GBS respiratory: Lawn ND et al. Anticipating mechanical ventilation in GBS. Arch Neurol. 2001;58(6):893-898. [30% require ventilation]</a:t>
            </a:r>
          </a:p>
          <a:p>
            <a:r>
              <a:t>• Myasthenic crisis: Thomas CE et al. Myasthenic crisis. Neurology. 1997;48(5):1253-1260.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divider.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CITATIONS:</a:t>
            </a:r>
          </a:p>
          <a:p>
            <a:r>
              <a:t>• Gibson GJ. Thorax. 1989;44(11):960-970. [Classic clinical features review]</a:t>
            </a:r>
          </a:p>
          <a:p>
            <a:r>
              <a:t>• Hart N et al. Respiratory symptoms and sleep-disordered breathing in patients with diaphragmatic paralysis. Thorax. 2002;57(4):289-294. [Orthopnea and nocturnal symptoms]</a:t>
            </a:r>
          </a:p>
          <a:p>
            <a:r>
              <a:t>• Higgs SM et al. Long-term results of diaphragmatic plication for unilateral diaphragm paralysis. J Heart Lung Transplant. 2002;21(12):1279-1285. [Symptom spectrum]</a:t>
            </a:r>
          </a:p>
          <a:p>
            <a:r>
              <a:t>• Gayan-Ramirez G, Decramer M. Effects of mechanical ventilation on diaphragm function and biology. Eur Respir J. 2002;20(6):1579-1586.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CITATIONS:</a:t>
            </a:r>
          </a:p>
          <a:p>
            <a:r>
              <a:t>• Summerhill EM et al. Monitoring recovery from diaphragm paralysis with ultrasound. Chest. 2008;133(3):737-743.</a:t>
            </a:r>
          </a:p>
          <a:p>
            <a:r>
              <a:t>• Matamis D et al. Ultrasound evaluation of the diaphragm in critically ill patients. Intensive Care Med. 2013;39(5):801-810.</a:t>
            </a:r>
          </a:p>
          <a:p>
            <a:r>
              <a:t>• Laroche CM et al. Sniff nasal inspiratory pressure: a non-invasive assessment of inspiratory muscle strength. Thorax. 1988;43(10):813-818.</a:t>
            </a:r>
          </a:p>
          <a:p>
            <a:r>
              <a:t>• Mills GH et al. Phrenic nerve conduction studies: a technique for recording from the diaphragm. Eur Respir J. 1995;8(3):404-409.</a:t>
            </a:r>
          </a:p>
          <a:p>
            <a:r>
              <a:t>• Ammache Z et al. Childhood-onset neuralgic amyotrophy — electrophysiologic and MR imaging features. Neurology. 2001.</a:t>
            </a:r>
          </a:p>
          <a:p>
            <a:r>
              <a:t>• Sniff test: Chen HC et al. Fluoroscopic assessment of diaphragmatic function. Eur J Radiol. 2014.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divider.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CITATIONS:</a:t>
            </a:r>
          </a:p>
          <a:p>
            <a:r>
              <a:t>• ALS NIV Level I evidence: Bourke SC et al. Lancet Neurol. 2006;5(2):140-147.</a:t>
            </a:r>
          </a:p>
          <a:p>
            <a:r>
              <a:t>• MG crisis management: Thomas CE et al. Myasthenic crisis. Neurology. 1997;48(5):1253-1260.</a:t>
            </a:r>
          </a:p>
          <a:p>
            <a:r>
              <a:t>• Pompe ERT: Kishnani PS et al. Pompe disease diagnosis and management guideline. Genet Med. 2006;8(5):267-288.</a:t>
            </a:r>
          </a:p>
          <a:p>
            <a:r>
              <a:t>• Mechanically assisted cough: Chatwin M et al. Cough augmentation with mechanical insufflation/exsufflation in patients with neuromuscular weakness. Eur Respir J. 2003;21(3):502-508.</a:t>
            </a:r>
          </a:p>
          <a:p>
            <a:r>
              <a:t>• NIV targets: Windisch W et al. Guidelines for non-invasive and invasive mechanical ventilation for treatment of chronic respiratory failure. Pneumologie. 2010.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CITATIONS:</a:t>
            </a:r>
          </a:p>
          <a:p>
            <a:r>
              <a:t>• van Alfen N, van Engelen BG. The clinical spectrum of neuralgic amyotrophy in 246 cases. Brain. 2006;129(2):438-450. [36% at 1yr, 75% at 2yr, 89% at 3yr]</a:t>
            </a:r>
          </a:p>
          <a:p>
            <a:r>
              <a:t>• Dimopoulou I et al. Phrenic nerve dysfunction after cardiac operations. Chest. 1998;113(1):8-14. [Post-cardiac surgery recovery data]</a:t>
            </a:r>
          </a:p>
          <a:p>
            <a:r>
              <a:t>• Sacher F et al. Phrenic nerve injury after catheter ablation of atrial fibrillation. Heart Rhythm. 2006;3(12):1389-1393. [Post-cryoablation recovery]</a:t>
            </a:r>
          </a:p>
          <a:p>
            <a:r>
              <a:t>• Tsairis P et al. Natural history of brachial plexus neuropathy. Arch Neurol. 1972;27(2):109-117. [Predictors of poor recovery]</a:t>
            </a:r>
          </a:p>
          <a:p>
            <a:r>
              <a:t>• Note: Chart data derived directly from published series; individual institutional results may vary.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CITATIONS:</a:t>
            </a:r>
          </a:p>
          <a:p>
            <a:r>
              <a:t>• Higgs SM et al. Long-term results of diaphragmatic plication for unilateral diaphragm paralysis. J Heart Lung Transplant. 2002;21(12):1279-1285. [FVC +15-25%, 80-90% dyspnea improvement]</a:t>
            </a:r>
          </a:p>
          <a:p>
            <a:r>
              <a:t>• Freeman RK et al. Results of the diaphragm plication for phrenic nerve paralysis. Ann Thorac Surg. 1994;57(6):1479-1483.</a:t>
            </a:r>
          </a:p>
          <a:p>
            <a:r>
              <a:t>• Calvinho P et al. Diaphragmatic eventration and phrenic nerve paralysis: treatment by plication using thoracoscopy. Interact Cardiovasc Thorac Surg. 2009;8(1):74-76.</a:t>
            </a:r>
          </a:p>
          <a:p>
            <a:r>
              <a:t>• Deslauriers J et al. Transaxillary pleurectomy for treatment of bullous emphysema. Chest. 1980. [Technique reference]</a:t>
            </a:r>
          </a:p>
          <a:p>
            <a:r>
              <a:t>• Wright CD et al. Diaphragm plication for unilateral diaphragm paralysis: a 10-year experience. Ann Thorac Surg. 2012;94(3):925-929. [5-year durability data]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Images to be inserted by presenter — replace placeholders with intraoperative VATS photographs.</a:t>
            </a:r>
          </a:p>
          <a:p/>
          <a:p>
            <a:r>
              <a:t>Suggested sources for intraoperative images:</a:t>
            </a:r>
          </a:p>
          <a:p>
            <a:r>
              <a:t>• Freeman RK et al. Ann Thorac Surg. 1994;57(6):1479-1483. [Classic technique description with figures]</a:t>
            </a:r>
          </a:p>
          <a:p>
            <a:r>
              <a:t>• Wright CD et al. Ann Thorac Surg. 2012;94(3):925-929.</a:t>
            </a:r>
          </a:p>
          <a:p>
            <a:r>
              <a:t>• Hwang Z et al. Robotic-assisted diaphragm plication. J Thorac Dis. 2015;7(5):939-942. [VATS and robotic technique photos]</a:t>
            </a:r>
          </a:p>
          <a:p>
            <a:r>
              <a:t>• Calvinho P et al. Interact Cardiovasc Thorac Surg. 2009;8(1):74-76.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CITATIONS:</a:t>
            </a:r>
          </a:p>
          <a:p>
            <a:r>
              <a:t>• Nerve transfer: Kaufman MR et al. Nerve transfers to restore elbow flexion and phrenic function after C5-C6 brachial plexus injuries. Plast Reconstr Surg. 2014;134(3):570e-578e.</a:t>
            </a:r>
          </a:p>
          <a:p>
            <a:r>
              <a:t>• Phrenic nerve reconstruction: Groth SS et al. Phrenic nerve reconstruction. Ann Thorac Surg. 2009;88(3):998-1003.</a:t>
            </a:r>
          </a:p>
          <a:p>
            <a:r>
              <a:t>• Neurolysis for radiation fibrosis: de Ruiter GCW et al. External neurolysis for radiation-induced phrenic neuropathy. Eur J Cardiothorac Surg. 2019.</a:t>
            </a:r>
          </a:p>
          <a:p>
            <a:r>
              <a:t>• Nerve graft timing: Sunderland S. Nerve Injuries and Their Repair. Churchill Livingstone; 1991. [Best results within 6-12 months]</a:t>
            </a:r>
          </a:p>
          <a:p>
            <a:r>
              <a:t>• Overall reconstruction outcomes: Kaufman MR et al. Functional recovery of the diaphragm after phrenic nerve reconstruction. Plast Reconstr Surg. 2014.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CITATIONS:</a:t>
            </a:r>
          </a:p>
          <a:p>
            <a:r>
              <a:t>• DiMarco AF. Phrenic nerve stimulation in patients with spinal cord injury. Respir Physiol Neurobiol. 2009;169(2):200-209. [~80% achieve ventilator-free breathing]</a:t>
            </a:r>
          </a:p>
          <a:p>
            <a:r>
              <a:t>• Onders RP et al. The effects of long-term diaphragm pacing in patients with chronic cervical SCI. J Am Coll Surg. 2007;204(3):394-400.</a:t>
            </a:r>
          </a:p>
          <a:p>
            <a:r>
              <a:t>• VITALS trial: Gonzalez-Bermejo J et al. Diaphragm pacing in patients with amyotrophic lateral sclerosis (DiPALS study). Lancet Neurol. 2016;15(6):565-574. [No survival benefit, possible harm]</a:t>
            </a:r>
          </a:p>
          <a:p>
            <a:r>
              <a:t>• ALS consensus: Andersen PM et al. EFNS guidelines on clinical management of ALS. Eur J Neurol. 2012;19(3):360-375.</a:t>
            </a:r>
          </a:p>
          <a:p>
            <a:r>
              <a:t>• NeuRx DPS: FDA humanitarian device exemption 2008 (SCI); 2011 (ALS).</a:t>
            </a:r>
          </a:p>
          <a:p>
            <a:r>
              <a:t>• Onders RP et al. Complete worldwide operative experience in laparoscopic diaphragm pacing. Surg Endosc. 2009;23(7):1433-1440.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CITATIONS:</a:t>
            </a:r>
          </a:p>
          <a:p>
            <a:r>
              <a:t>• van Alfen N. Nat Rev Neurol. 2011;7(6):315-322. [Diagnostic delay in PTS]</a:t>
            </a:r>
          </a:p>
          <a:p>
            <a:r>
              <a:t>• Kokatnur L, Rudrappa M. Diseases. 2018;6(1):16. [Misdiagnosis and workup gaps]</a:t>
            </a:r>
          </a:p>
          <a:p>
            <a:r>
              <a:t>• Ricoy J et al. Diaphragmatic paralysis. Arch Bronconeumol. 2019;55(1):34-40. [Review of clinical challenges]</a:t>
            </a:r>
          </a:p>
          <a:p>
            <a:r>
              <a:t>• Sfeir PM, Kanj AN. Phrenic nerve palsy and respiratory failure. Curr Opin Pulm Med. 2019.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CITATIONS:</a:t>
            </a:r>
          </a:p>
          <a:p>
            <a:r>
              <a:t>• van Alfen N. Brain. 2006;129(2):438-450. [Diagnostic delays, provider awareness]</a:t>
            </a:r>
          </a:p>
          <a:p>
            <a:r>
              <a:t>• Kaufman MR et al. Plast Reconstr Surg. 2014. [Concentration of expertise at few centers]</a:t>
            </a:r>
          </a:p>
          <a:p>
            <a:r>
              <a:t>• Diaphragm pacing coverage: Onders RP. J Am Coll Surg. 2007. [Payer variability noted]</a:t>
            </a:r>
          </a:p>
          <a:p>
            <a:r>
              <a:t>• General reference: Ricoy J et al. Arch Bronconeumol. 2019;55(1):34-40.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CITATIONS:</a:t>
            </a:r>
          </a:p>
          <a:p>
            <a:r>
              <a:t>• Kokatnur L, Rudrappa M. Diseases. 2018;6(1):16. [Natural history gaps]</a:t>
            </a:r>
          </a:p>
          <a:p>
            <a:r>
              <a:t>• Matamis D et al. Intensive Care Med. 2013. [Ultrasound standardization gap]</a:t>
            </a:r>
          </a:p>
          <a:p>
            <a:r>
              <a:t>• Post-COVID: Beghi E et al. Lancet Neurol. 2020 [Early COVID neurologic complications — phrenic involvement not well studied]</a:t>
            </a:r>
          </a:p>
          <a:p>
            <a:r>
              <a:t>• IVIG in PTS: van Alfen N. Nat Rev Neurol. 2011 [Notes absence of RCT data for IVIG]</a:t>
            </a:r>
          </a:p>
          <a:p>
            <a:r>
              <a:t>• General evidence gap: Ricoy J et al. Arch Bronconeumol. 2019.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to populate with institutional data and group-specific publications/presentations.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CITATIONS:</a:t>
            </a:r>
          </a:p>
          <a:p>
            <a:r>
              <a:t>• Registry development: Feinberg JH et al. The role of electromyography in evaluating outcome in neuralgic amyotrophy. Orthopedics. 2000. [Illustrates need for standardized data capture]</a:t>
            </a:r>
          </a:p>
          <a:p>
            <a:r>
              <a:t>• Transcutaneous stimulation: Siu R et al. Transcutaneous phrenic nerve stimulation. J Spinal Cord Med. 2021.</a:t>
            </a:r>
          </a:p>
          <a:p>
            <a:r>
              <a:t>• Nerve conduits: Grinsell D, Keating CP. Peripheral nerve reconstruction after injury. Biomed Res Int. 2014.</a:t>
            </a:r>
          </a:p>
          <a:p>
            <a:r>
              <a:t>• NfL as biomarker: Benatar M et al. Neurofilament light in ALS. Ann Neurol. 2020 [Extrapolated to phrenic neuropathy research need]</a:t>
            </a:r>
          </a:p>
          <a:p>
            <a:r>
              <a:t>• Post-COVID: Baig AM. Neurological manifestations in COVID-19. J Med Virol. 2020.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Summary slide — no new citations. Key references:</a:t>
            </a:r>
          </a:p>
          <a:p>
            <a:r>
              <a:t>• van Alfen N. Brain. 2006; Nat Rev Neurol. 2011.</a:t>
            </a:r>
          </a:p>
          <a:p>
            <a:r>
              <a:t>• Dimopoulou I et al. Chest. 1998.</a:t>
            </a:r>
          </a:p>
          <a:p>
            <a:r>
              <a:t>• Goligher EC et al. Am J Respir Crit Care Med. 2018.</a:t>
            </a:r>
          </a:p>
          <a:p>
            <a:r>
              <a:t>• Higgs SM et al. J Heart Lung Transplant. 2002.</a:t>
            </a:r>
          </a:p>
          <a:p>
            <a:r>
              <a:t>• DiMarco AF. Respir Physiol Neurobiol. 2009.</a:t>
            </a:r>
          </a:p>
          <a:p>
            <a:r>
              <a:t>• Gonzalez-Bermejo J et al. Lancet Neurol. 2016.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reference list. Presenter should verify and update with any additional institutional publications.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you.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Relationship Id="rId4" Type="http://schemas.openxmlformats.org/officeDocument/2006/relationships/image" Target="../media/image3.png"/><Relationship Id="rId5" Type="http://schemas.openxmlformats.org/officeDocument/2006/relationships/image" Target="../media/image11.svg"/><Relationship Id="rId6" Type="http://schemas.openxmlformats.org/officeDocument/2006/relationships/image" Target="../media/image1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4_Title Slide"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ACC80DDE-5F41-EE3C-EB7B-9FBEFB63CCB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E1DC21C-4F9E-0208-0F33-5EDF26C2E74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7466" t="-148" r="7377" b="148"/>
          <a:stretch/>
        </p:blipFill>
        <p:spPr>
          <a:xfrm>
            <a:off x="2544076" y="-1"/>
            <a:ext cx="9650579" cy="6858000"/>
          </a:xfrm>
          <a:prstGeom prst="rect">
            <a:avLst/>
          </a:prstGeom>
        </p:spPr>
      </p:pic>
      <p:pic>
        <p:nvPicPr>
          <p:cNvPr id="8" name="Picture 7" descr="A black and purple rectangle&#10;&#10;Description automatically generated">
            <a:extLst>
              <a:ext uri="{FF2B5EF4-FFF2-40B4-BE49-F238E27FC236}">
                <a16:creationId xmlns:a16="http://schemas.microsoft.com/office/drawing/2014/main" id="{698B5895-ED31-F534-FBC8-F8EAF2BE724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26250"/>
          <a:stretch/>
        </p:blipFill>
        <p:spPr>
          <a:xfrm>
            <a:off x="0" y="0"/>
            <a:ext cx="89916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70418" y="2011680"/>
            <a:ext cx="6232649" cy="2387600"/>
          </a:xfrm>
        </p:spPr>
        <p:txBody>
          <a:bodyPr anchor="b"/>
          <a:lstStyle>
            <a:lvl1pPr algn="l">
              <a:defRPr sz="5200" spc="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0416" y="4450080"/>
            <a:ext cx="8350251" cy="806099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buNone/>
              <a:defRPr sz="2400" b="0" i="0">
                <a:solidFill>
                  <a:schemeClr val="bg1"/>
                </a:solidFill>
                <a:latin typeface="+mn-lt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9AE824A5-746D-85C5-A198-2205E97BEC3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48644" y="5968182"/>
            <a:ext cx="3054955" cy="379777"/>
          </a:xfrm>
        </p:spPr>
        <p:txBody>
          <a:bodyPr>
            <a:noAutofit/>
          </a:bodyPr>
          <a:lstStyle>
            <a:lvl1pPr>
              <a:defRPr sz="2400" b="0" i="0">
                <a:solidFill>
                  <a:schemeClr val="bg1"/>
                </a:solidFill>
                <a:latin typeface="+mn-lt"/>
              </a:defRPr>
            </a:lvl1pPr>
            <a:lvl2pPr>
              <a:defRPr sz="1067" b="0" i="0">
                <a:latin typeface="Aptos Light" panose="020B0004020202020204" pitchFamily="34" charset="0"/>
              </a:defRPr>
            </a:lvl2pPr>
            <a:lvl3pPr marL="8466" indent="0">
              <a:buNone/>
              <a:defRPr sz="1067" b="0" i="0">
                <a:latin typeface="Aptos Light" panose="020B0004020202020204" pitchFamily="34" charset="0"/>
              </a:defRPr>
            </a:lvl3pPr>
            <a:lvl4pPr marL="232828" indent="0">
              <a:buNone/>
              <a:defRPr sz="1067" b="0" i="0">
                <a:latin typeface="Aptos Light" panose="020B0004020202020204" pitchFamily="34" charset="0"/>
              </a:defRPr>
            </a:lvl4pPr>
            <a:lvl5pPr marL="459305" indent="0">
              <a:buNone/>
              <a:defRPr sz="1067" b="0" i="0">
                <a:latin typeface="Aptos Light" panose="020B0004020202020204" pitchFamily="34" charset="0"/>
              </a:defRPr>
            </a:lvl5pPr>
          </a:lstStyle>
          <a:p>
            <a:pPr lvl="0"/>
            <a:r>
              <a:rPr lang="en-US" dirty="0"/>
              <a:t>Date goes here</a:t>
            </a:r>
          </a:p>
        </p:txBody>
      </p:sp>
      <p:pic>
        <p:nvPicPr>
          <p:cNvPr id="11" name="Picture 10" descr="A close-up of a black background&#10;&#10;Description automatically generated">
            <a:extLst>
              <a:ext uri="{FF2B5EF4-FFF2-40B4-BE49-F238E27FC236}">
                <a16:creationId xmlns:a16="http://schemas.microsoft.com/office/drawing/2014/main" id="{70B404AA-6868-9861-CB35-1A69CCFBB6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212" y="313267"/>
            <a:ext cx="2257273" cy="421109"/>
          </a:xfrm>
          <a:prstGeom prst="rect">
            <a:avLst/>
          </a:prstGeom>
        </p:spPr>
      </p:pic>
      <p:pic>
        <p:nvPicPr>
          <p:cNvPr id="9" name="Picture 8" descr="A close-up of a black background&#10;&#10;Description automatically generated">
            <a:extLst>
              <a:ext uri="{FF2B5EF4-FFF2-40B4-BE49-F238E27FC236}">
                <a16:creationId xmlns:a16="http://schemas.microsoft.com/office/drawing/2014/main" id="{6B50AED2-E296-8EC6-0C25-865058CB2E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212" y="313267"/>
            <a:ext cx="2257273" cy="421109"/>
          </a:xfrm>
          <a:prstGeom prst="rect">
            <a:avLst/>
          </a:prstGeom>
        </p:spPr>
      </p:pic>
      <p:pic>
        <p:nvPicPr>
          <p:cNvPr id="4" name="Picture 3" descr="A close-up of a black background&#10;&#10;Description automatically generated">
            <a:extLst>
              <a:ext uri="{FF2B5EF4-FFF2-40B4-BE49-F238E27FC236}">
                <a16:creationId xmlns:a16="http://schemas.microsoft.com/office/drawing/2014/main" id="{1BB464D5-BC3C-3EAB-C9A0-620A7EF187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212" y="313267"/>
            <a:ext cx="2257273" cy="421109"/>
          </a:xfrm>
          <a:prstGeom prst="rect">
            <a:avLst/>
          </a:prstGeom>
        </p:spPr>
      </p:pic>
      <p:pic>
        <p:nvPicPr>
          <p:cNvPr id="5" name="Picture 4" descr="A close-up of a black background&#10;&#10;Description automatically generated">
            <a:extLst>
              <a:ext uri="{FF2B5EF4-FFF2-40B4-BE49-F238E27FC236}">
                <a16:creationId xmlns:a16="http://schemas.microsoft.com/office/drawing/2014/main" id="{44509C4F-D646-F4FE-6DE9-9CD5142CF1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212" y="313267"/>
            <a:ext cx="2257273" cy="421109"/>
          </a:xfrm>
          <a:prstGeom prst="rect">
            <a:avLst/>
          </a:prstGeom>
        </p:spPr>
      </p:pic>
      <p:pic>
        <p:nvPicPr>
          <p:cNvPr id="7" name="Picture 6" descr="A close-up of a black background&#10;&#10;Description automatically generated">
            <a:extLst>
              <a:ext uri="{FF2B5EF4-FFF2-40B4-BE49-F238E27FC236}">
                <a16:creationId xmlns:a16="http://schemas.microsoft.com/office/drawing/2014/main" id="{E8CBB750-1EF2-9278-90F3-8D15BC15E25B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513212" y="313267"/>
            <a:ext cx="2257273" cy="421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2208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6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70418" y="2505665"/>
            <a:ext cx="6232649" cy="2387600"/>
          </a:xfrm>
        </p:spPr>
        <p:txBody>
          <a:bodyPr anchor="b"/>
          <a:lstStyle>
            <a:lvl1pPr algn="l">
              <a:defRPr sz="5200" spc="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0416" y="4945703"/>
            <a:ext cx="5217583" cy="806099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buNone/>
              <a:defRPr sz="2400" b="0" i="0">
                <a:solidFill>
                  <a:schemeClr val="bg1"/>
                </a:solidFill>
                <a:latin typeface="+mn-lt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9AE824A5-746D-85C5-A198-2205E97BEC3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5760" y="5971032"/>
            <a:ext cx="3054096" cy="379777"/>
          </a:xfrm>
        </p:spPr>
        <p:txBody>
          <a:bodyPr>
            <a:noAutofit/>
          </a:bodyPr>
          <a:lstStyle>
            <a:lvl1pPr>
              <a:defRPr sz="2400" b="0" i="0">
                <a:solidFill>
                  <a:schemeClr val="bg1"/>
                </a:solidFill>
                <a:latin typeface="+mn-lt"/>
              </a:defRPr>
            </a:lvl1pPr>
            <a:lvl2pPr>
              <a:defRPr sz="1067" b="0" i="0">
                <a:latin typeface="Aptos Light" panose="020B0004020202020204" pitchFamily="34" charset="0"/>
              </a:defRPr>
            </a:lvl2pPr>
            <a:lvl3pPr marL="8466" indent="0">
              <a:buNone/>
              <a:defRPr sz="1067" b="0" i="0">
                <a:latin typeface="Aptos Light" panose="020B0004020202020204" pitchFamily="34" charset="0"/>
              </a:defRPr>
            </a:lvl3pPr>
            <a:lvl4pPr marL="232828" indent="0">
              <a:buNone/>
              <a:defRPr sz="1067" b="0" i="0">
                <a:latin typeface="Aptos Light" panose="020B0004020202020204" pitchFamily="34" charset="0"/>
              </a:defRPr>
            </a:lvl4pPr>
            <a:lvl5pPr marL="459305" indent="0">
              <a:buNone/>
              <a:defRPr sz="1067" b="0" i="0">
                <a:latin typeface="Aptos Light" panose="020B0004020202020204" pitchFamily="34" charset="0"/>
              </a:defRPr>
            </a:lvl5pPr>
          </a:lstStyle>
          <a:p>
            <a:pPr lvl="0"/>
            <a:r>
              <a:rPr lang="en-US" dirty="0"/>
              <a:t>Date goes here</a:t>
            </a:r>
          </a:p>
        </p:txBody>
      </p:sp>
      <p:pic>
        <p:nvPicPr>
          <p:cNvPr id="11" name="Picture 10" descr="A close-up of a black background&#10;&#10;Description automatically generated">
            <a:extLst>
              <a:ext uri="{FF2B5EF4-FFF2-40B4-BE49-F238E27FC236}">
                <a16:creationId xmlns:a16="http://schemas.microsoft.com/office/drawing/2014/main" id="{70B404AA-6868-9861-CB35-1A69CCFBB6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212" y="313267"/>
            <a:ext cx="2257273" cy="421109"/>
          </a:xfrm>
          <a:prstGeom prst="rect">
            <a:avLst/>
          </a:prstGeom>
        </p:spPr>
      </p:pic>
      <p:pic>
        <p:nvPicPr>
          <p:cNvPr id="8" name="Picture 7" descr="A close-up of a black background&#10;&#10;Description automatically generated">
            <a:extLst>
              <a:ext uri="{FF2B5EF4-FFF2-40B4-BE49-F238E27FC236}">
                <a16:creationId xmlns:a16="http://schemas.microsoft.com/office/drawing/2014/main" id="{92DEC7B5-1387-08D4-38D9-F9D1AE0596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212" y="313267"/>
            <a:ext cx="2257273" cy="421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369956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ACC80DDE-5F41-EE3C-EB7B-9FBEFB63CCB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pic>
        <p:nvPicPr>
          <p:cNvPr id="7" name="Picture 6" descr="A black and purple rectangle&#10;&#10;Description automatically generated">
            <a:extLst>
              <a:ext uri="{FF2B5EF4-FFF2-40B4-BE49-F238E27FC236}">
                <a16:creationId xmlns:a16="http://schemas.microsoft.com/office/drawing/2014/main" id="{F8189EB8-ABA9-C994-0266-747B17E89C4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6250"/>
          <a:stretch/>
        </p:blipFill>
        <p:spPr>
          <a:xfrm>
            <a:off x="0" y="0"/>
            <a:ext cx="89916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70419" y="2505665"/>
            <a:ext cx="6072584" cy="2387600"/>
          </a:xfrm>
        </p:spPr>
        <p:txBody>
          <a:bodyPr anchor="b"/>
          <a:lstStyle>
            <a:lvl1pPr algn="l">
              <a:defRPr sz="4200" spc="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0418" y="4945703"/>
            <a:ext cx="6072587" cy="806099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buNone/>
              <a:defRPr sz="2000" b="0" i="0">
                <a:solidFill>
                  <a:schemeClr val="bg1"/>
                </a:solidFill>
                <a:latin typeface="+mn-lt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803770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2189" y="0"/>
            <a:ext cx="11453628" cy="1143000"/>
          </a:xfrm>
        </p:spPr>
        <p:txBody>
          <a:bodyPr/>
          <a:lstStyle>
            <a:lvl1pPr>
              <a:lnSpc>
                <a:spcPct val="90000"/>
              </a:lnSpc>
              <a:defRPr spc="0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2189" y="1960537"/>
            <a:ext cx="11453628" cy="4376468"/>
          </a:xfrm>
        </p:spPr>
        <p:txBody>
          <a:bodyPr/>
          <a:lstStyle>
            <a:lvl1pPr>
              <a:lnSpc>
                <a:spcPct val="114000"/>
              </a:lnSpc>
              <a:spcAft>
                <a:spcPts val="400"/>
              </a:spcAft>
              <a:defRPr sz="1800"/>
            </a:lvl1pPr>
            <a:lvl2pPr>
              <a:lnSpc>
                <a:spcPct val="114000"/>
              </a:lnSpc>
              <a:spcAft>
                <a:spcPts val="600"/>
              </a:spcAft>
              <a:defRPr/>
            </a:lvl2pPr>
            <a:lvl3pPr>
              <a:lnSpc>
                <a:spcPct val="114000"/>
              </a:lnSpc>
              <a:spcAft>
                <a:spcPts val="600"/>
              </a:spcAft>
              <a:defRPr/>
            </a:lvl3pPr>
            <a:lvl4pPr>
              <a:lnSpc>
                <a:spcPct val="114000"/>
              </a:lnSpc>
              <a:spcAft>
                <a:spcPts val="600"/>
              </a:spcAft>
              <a:defRPr/>
            </a:lvl4pPr>
            <a:lvl5pPr>
              <a:lnSpc>
                <a:spcPct val="114000"/>
              </a:lnSpc>
              <a:spcAft>
                <a:spcPts val="6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4D5A83BB-9D8E-880B-93F2-512308F059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2534" y="1170432"/>
            <a:ext cx="11453627" cy="573617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000" b="0" i="0">
                <a:latin typeface="+mn-lt"/>
              </a:defRPr>
            </a:lvl1pPr>
            <a:lvl3pPr marL="8466" indent="0">
              <a:buNone/>
              <a:defRPr/>
            </a:lvl3pPr>
            <a:lvl4pPr marL="232828" indent="0">
              <a:buNone/>
              <a:defRPr/>
            </a:lvl4pPr>
            <a:lvl5pPr marL="459305" indent="0">
              <a:buNone/>
              <a:defRPr/>
            </a:lvl5pPr>
          </a:lstStyle>
          <a:p>
            <a:pPr lvl="0"/>
            <a:r>
              <a:rPr lang="en-US" dirty="0"/>
              <a:t>Subhead if necessary</a:t>
            </a:r>
          </a:p>
        </p:txBody>
      </p:sp>
      <p:sp>
        <p:nvSpPr>
          <p:cNvPr id="4" name="Slide Number Placeholder 6">
            <a:extLst>
              <a:ext uri="{FF2B5EF4-FFF2-40B4-BE49-F238E27FC236}">
                <a16:creationId xmlns:a16="http://schemas.microsoft.com/office/drawing/2014/main" id="{724F641B-1C8C-A657-2A4F-9946CE9F3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6640" y="6583477"/>
            <a:ext cx="497708" cy="275167"/>
          </a:xfrm>
          <a:prstGeom prst="rect">
            <a:avLst/>
          </a:prstGeom>
        </p:spPr>
        <p:txBody>
          <a:bodyPr anchor="ctr" anchorCtr="0"/>
          <a:lstStyle>
            <a:lvl1pPr algn="r">
              <a:defRPr sz="930" b="1">
                <a:solidFill>
                  <a:schemeClr val="bg1"/>
                </a:solidFill>
              </a:defRPr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76547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-Columns-Typ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lnSpc>
                <a:spcPct val="90000"/>
              </a:lnSpc>
              <a:defRPr spc="0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2189" y="1956816"/>
            <a:ext cx="5559552" cy="4456684"/>
          </a:xfrm>
        </p:spPr>
        <p:txBody>
          <a:bodyPr/>
          <a:lstStyle>
            <a:lvl1pPr>
              <a:lnSpc>
                <a:spcPct val="114000"/>
              </a:lnSpc>
              <a:spcAft>
                <a:spcPts val="400"/>
              </a:spcAft>
              <a:defRPr sz="1800"/>
            </a:lvl1pPr>
            <a:lvl2pPr>
              <a:lnSpc>
                <a:spcPct val="114000"/>
              </a:lnSpc>
              <a:spcAft>
                <a:spcPts val="600"/>
              </a:spcAft>
              <a:defRPr/>
            </a:lvl2pPr>
            <a:lvl3pPr>
              <a:lnSpc>
                <a:spcPct val="114000"/>
              </a:lnSpc>
              <a:spcAft>
                <a:spcPts val="600"/>
              </a:spcAft>
              <a:defRPr/>
            </a:lvl3pPr>
            <a:lvl4pPr>
              <a:lnSpc>
                <a:spcPct val="114000"/>
              </a:lnSpc>
              <a:spcAft>
                <a:spcPts val="600"/>
              </a:spcAft>
              <a:defRPr/>
            </a:lvl4pPr>
            <a:lvl5pPr>
              <a:lnSpc>
                <a:spcPct val="114000"/>
              </a:lnSpc>
              <a:spcAft>
                <a:spcPts val="6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4D5A83BB-9D8E-880B-93F2-512308F059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2534" y="1170432"/>
            <a:ext cx="11453627" cy="573617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000" b="0" i="0">
                <a:latin typeface="+mn-lt"/>
              </a:defRPr>
            </a:lvl1pPr>
            <a:lvl3pPr marL="8466" indent="0">
              <a:buNone/>
              <a:defRPr/>
            </a:lvl3pPr>
            <a:lvl4pPr marL="232828" indent="0">
              <a:buNone/>
              <a:defRPr/>
            </a:lvl4pPr>
            <a:lvl5pPr marL="459305" indent="0">
              <a:buNone/>
              <a:defRPr/>
            </a:lvl5pPr>
          </a:lstStyle>
          <a:p>
            <a:pPr lvl="0"/>
            <a:r>
              <a:rPr lang="en-US" dirty="0"/>
              <a:t>Subhead if necessary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3C4D9A7-680D-EAB5-E2D1-74AB49916B6A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72784" y="1956816"/>
            <a:ext cx="5559552" cy="4456684"/>
          </a:xfrm>
        </p:spPr>
        <p:txBody>
          <a:bodyPr/>
          <a:lstStyle>
            <a:lvl1pPr>
              <a:lnSpc>
                <a:spcPct val="114000"/>
              </a:lnSpc>
              <a:spcAft>
                <a:spcPts val="400"/>
              </a:spcAft>
              <a:defRPr sz="1800"/>
            </a:lvl1pPr>
            <a:lvl2pPr>
              <a:lnSpc>
                <a:spcPct val="114000"/>
              </a:lnSpc>
              <a:spcAft>
                <a:spcPts val="600"/>
              </a:spcAft>
              <a:defRPr/>
            </a:lvl2pPr>
            <a:lvl3pPr>
              <a:lnSpc>
                <a:spcPct val="114000"/>
              </a:lnSpc>
              <a:spcAft>
                <a:spcPts val="600"/>
              </a:spcAft>
              <a:defRPr/>
            </a:lvl3pPr>
            <a:lvl4pPr>
              <a:lnSpc>
                <a:spcPct val="114000"/>
              </a:lnSpc>
              <a:spcAft>
                <a:spcPts val="600"/>
              </a:spcAft>
              <a:defRPr/>
            </a:lvl4pPr>
            <a:lvl5pPr>
              <a:lnSpc>
                <a:spcPct val="114000"/>
              </a:lnSpc>
              <a:spcAft>
                <a:spcPts val="6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lide Number Placeholder 6">
            <a:extLst>
              <a:ext uri="{FF2B5EF4-FFF2-40B4-BE49-F238E27FC236}">
                <a16:creationId xmlns:a16="http://schemas.microsoft.com/office/drawing/2014/main" id="{207A1DDC-E243-D1AE-BC8A-40F11B37B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6640" y="6583477"/>
            <a:ext cx="497708" cy="275167"/>
          </a:xfrm>
          <a:prstGeom prst="rect">
            <a:avLst/>
          </a:prstGeom>
        </p:spPr>
        <p:txBody>
          <a:bodyPr anchor="ctr" anchorCtr="0"/>
          <a:lstStyle>
            <a:lvl1pPr algn="r">
              <a:defRPr sz="930" b="1">
                <a:solidFill>
                  <a:schemeClr val="bg1"/>
                </a:solidFill>
              </a:defRPr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95397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-P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2188" y="0"/>
            <a:ext cx="7708392" cy="1143000"/>
          </a:xfrm>
        </p:spPr>
        <p:txBody>
          <a:bodyPr/>
          <a:lstStyle>
            <a:lvl1pPr>
              <a:defRPr spc="0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2189" y="1956816"/>
            <a:ext cx="6690764" cy="4456684"/>
          </a:xfrm>
        </p:spPr>
        <p:txBody>
          <a:bodyPr/>
          <a:lstStyle>
            <a:lvl1pPr>
              <a:lnSpc>
                <a:spcPct val="114000"/>
              </a:lnSpc>
              <a:spcAft>
                <a:spcPts val="400"/>
              </a:spcAft>
              <a:defRPr/>
            </a:lvl1pPr>
            <a:lvl2pPr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defRPr/>
            </a:lvl2pPr>
            <a:lvl3pPr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defRPr/>
            </a:lvl3pPr>
            <a:lvl4pPr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defRPr/>
            </a:lvl4pPr>
            <a:lvl5pPr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D4D9DA8-B2E1-9255-0F3F-667449A80D9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77200" y="0"/>
            <a:ext cx="4114800" cy="6553200"/>
          </a:xfrm>
          <a:noFill/>
        </p:spPr>
        <p:txBody>
          <a:bodyPr>
            <a:normAutofit/>
          </a:bodyPr>
          <a:lstStyle>
            <a:lvl1pPr>
              <a:defRPr sz="1200" b="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703186F7-99CC-7E47-8AD7-CF937E00F6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74904" y="1170432"/>
            <a:ext cx="7711016" cy="573617"/>
          </a:xfrm>
        </p:spPr>
        <p:txBody>
          <a:bodyPr/>
          <a:lstStyle>
            <a:lvl1pPr>
              <a:lnSpc>
                <a:spcPct val="100000"/>
              </a:lnSpc>
              <a:defRPr sz="2000" b="0" i="0">
                <a:latin typeface="+mn-lt"/>
              </a:defRPr>
            </a:lvl1pPr>
            <a:lvl3pPr marL="8466" indent="0">
              <a:buNone/>
              <a:defRPr/>
            </a:lvl3pPr>
            <a:lvl4pPr marL="232828" indent="0">
              <a:buNone/>
              <a:defRPr/>
            </a:lvl4pPr>
            <a:lvl5pPr marL="459305" indent="0">
              <a:buNone/>
              <a:defRPr/>
            </a:lvl5pPr>
          </a:lstStyle>
          <a:p>
            <a:pPr lvl="0"/>
            <a:r>
              <a:rPr lang="en-US" dirty="0"/>
              <a:t>Subhead if necessary</a:t>
            </a:r>
          </a:p>
        </p:txBody>
      </p:sp>
      <p:sp>
        <p:nvSpPr>
          <p:cNvPr id="4" name="Slide Number Placeholder 6">
            <a:extLst>
              <a:ext uri="{FF2B5EF4-FFF2-40B4-BE49-F238E27FC236}">
                <a16:creationId xmlns:a16="http://schemas.microsoft.com/office/drawing/2014/main" id="{9820A9D7-C92F-50D2-3DD3-3AB689B7B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6640" y="6583477"/>
            <a:ext cx="497708" cy="275167"/>
          </a:xfrm>
          <a:prstGeom prst="rect">
            <a:avLst/>
          </a:prstGeom>
        </p:spPr>
        <p:txBody>
          <a:bodyPr anchor="ctr" anchorCtr="0"/>
          <a:lstStyle>
            <a:lvl1pPr algn="r">
              <a:defRPr sz="930" b="1">
                <a:solidFill>
                  <a:schemeClr val="bg1"/>
                </a:solidFill>
              </a:defRPr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20548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-Columns-P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pc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72189" y="4528393"/>
            <a:ext cx="5556663" cy="1583719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227A447-AD3E-43E5-8193-BFADE932E8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4904" y="1170432"/>
            <a:ext cx="11453628" cy="573617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000" b="0" i="0">
                <a:latin typeface="+mn-lt"/>
              </a:defRPr>
            </a:lvl1pPr>
            <a:lvl3pPr marL="8466" indent="0">
              <a:buNone/>
              <a:defRPr/>
            </a:lvl3pPr>
            <a:lvl4pPr marL="232828" indent="0">
              <a:buNone/>
              <a:defRPr/>
            </a:lvl4pPr>
            <a:lvl5pPr marL="459305" indent="0">
              <a:buNone/>
              <a:defRPr/>
            </a:lvl5pPr>
          </a:lstStyle>
          <a:p>
            <a:pPr lvl="0"/>
            <a:r>
              <a:rPr lang="en-US" dirty="0"/>
              <a:t>Subhead if necessary</a:t>
            </a:r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79C690AE-22FB-FDE9-21B1-0F2E45C30FD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75488" y="2030650"/>
            <a:ext cx="5099049" cy="24384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9F1552FC-E7FE-74E7-9FC3-DAE8E69EDDF7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6264989" y="4528393"/>
            <a:ext cx="5556663" cy="1583719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Picture Placeholder 18">
            <a:extLst>
              <a:ext uri="{FF2B5EF4-FFF2-40B4-BE49-F238E27FC236}">
                <a16:creationId xmlns:a16="http://schemas.microsoft.com/office/drawing/2014/main" id="{512796C0-CB45-C263-9788-F8AE8804140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64224" y="2030650"/>
            <a:ext cx="5099049" cy="24384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2C1110-ACDB-A90D-C8BD-C9536517B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6640" y="6583477"/>
            <a:ext cx="497708" cy="275167"/>
          </a:xfrm>
          <a:prstGeom prst="rect">
            <a:avLst/>
          </a:prstGeom>
        </p:spPr>
        <p:txBody>
          <a:bodyPr anchor="ctr" anchorCtr="0"/>
          <a:lstStyle>
            <a:lvl1pPr algn="r">
              <a:defRPr sz="930" b="1">
                <a:solidFill>
                  <a:schemeClr val="bg1"/>
                </a:solidFill>
              </a:defRPr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62141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yp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pc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72189" y="1956816"/>
            <a:ext cx="5556663" cy="4120427"/>
          </a:xfrm>
        </p:spPr>
        <p:txBody>
          <a:bodyPr bIns="137160" anchor="ctr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227A447-AD3E-43E5-8193-BFADE932E8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4904" y="1170432"/>
            <a:ext cx="5556663" cy="573617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000" b="0" i="0">
                <a:latin typeface="+mn-lt"/>
              </a:defRPr>
            </a:lvl1pPr>
            <a:lvl3pPr marL="8466" indent="0">
              <a:buNone/>
              <a:defRPr/>
            </a:lvl3pPr>
            <a:lvl4pPr marL="232828" indent="0">
              <a:buNone/>
              <a:defRPr/>
            </a:lvl4pPr>
            <a:lvl5pPr marL="459305" indent="0">
              <a:buNone/>
              <a:defRPr/>
            </a:lvl5pPr>
          </a:lstStyle>
          <a:p>
            <a:pPr lvl="0"/>
            <a:r>
              <a:rPr lang="en-US" dirty="0"/>
              <a:t>Subhead if necessary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457C096-4AC9-390C-2520-4A3B876FA28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1" y="1637770"/>
            <a:ext cx="5729817" cy="47799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Slide Number Placeholder 6">
            <a:extLst>
              <a:ext uri="{FF2B5EF4-FFF2-40B4-BE49-F238E27FC236}">
                <a16:creationId xmlns:a16="http://schemas.microsoft.com/office/drawing/2014/main" id="{A938B46E-9006-CBC8-498C-40536BF7D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6640" y="6583477"/>
            <a:ext cx="497708" cy="275167"/>
          </a:xfrm>
          <a:prstGeom prst="rect">
            <a:avLst/>
          </a:prstGeom>
        </p:spPr>
        <p:txBody>
          <a:bodyPr anchor="ctr" anchorCtr="0"/>
          <a:lstStyle>
            <a:lvl1pPr algn="r">
              <a:defRPr sz="930" b="1">
                <a:solidFill>
                  <a:schemeClr val="bg1"/>
                </a:solidFill>
              </a:defRPr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30137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-Columns-Typ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lnSpc>
                <a:spcPct val="90000"/>
              </a:lnSpc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2189" y="1956816"/>
            <a:ext cx="3520440" cy="4453128"/>
          </a:xfrm>
        </p:spPr>
        <p:txBody>
          <a:bodyPr/>
          <a:lstStyle>
            <a:lvl1pPr>
              <a:lnSpc>
                <a:spcPct val="114000"/>
              </a:lnSpc>
              <a:spcAft>
                <a:spcPts val="400"/>
              </a:spcAft>
              <a:defRPr sz="1800"/>
            </a:lvl1pPr>
            <a:lvl2pPr>
              <a:lnSpc>
                <a:spcPct val="114000"/>
              </a:lnSpc>
              <a:spcAft>
                <a:spcPts val="600"/>
              </a:spcAft>
              <a:defRPr/>
            </a:lvl2pPr>
            <a:lvl3pPr>
              <a:lnSpc>
                <a:spcPct val="114000"/>
              </a:lnSpc>
              <a:spcAft>
                <a:spcPts val="600"/>
              </a:spcAft>
              <a:defRPr/>
            </a:lvl3pPr>
            <a:lvl4pPr>
              <a:lnSpc>
                <a:spcPct val="114000"/>
              </a:lnSpc>
              <a:spcAft>
                <a:spcPts val="600"/>
              </a:spcAft>
              <a:defRPr/>
            </a:lvl4pPr>
            <a:lvl5pPr>
              <a:lnSpc>
                <a:spcPct val="114000"/>
              </a:lnSpc>
              <a:spcAft>
                <a:spcPts val="6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4D5A83BB-9D8E-880B-93F2-512308F059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2534" y="1170432"/>
            <a:ext cx="11453627" cy="573617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000" b="0" i="0">
                <a:latin typeface="+mn-lt"/>
              </a:defRPr>
            </a:lvl1pPr>
            <a:lvl3pPr marL="8466" indent="0">
              <a:buNone/>
              <a:defRPr/>
            </a:lvl3pPr>
            <a:lvl4pPr marL="232828" indent="0">
              <a:buNone/>
              <a:defRPr/>
            </a:lvl4pPr>
            <a:lvl5pPr marL="459305" indent="0">
              <a:buNone/>
              <a:defRPr/>
            </a:lvl5pPr>
          </a:lstStyle>
          <a:p>
            <a:pPr lvl="0"/>
            <a:r>
              <a:rPr lang="en-US" dirty="0"/>
              <a:t>Subhead if necessary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4137307E-40E5-5240-6CF4-FDDE718A1CCC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307149" y="1956816"/>
            <a:ext cx="3520440" cy="4453128"/>
          </a:xfrm>
        </p:spPr>
        <p:txBody>
          <a:bodyPr/>
          <a:lstStyle>
            <a:lvl1pPr>
              <a:lnSpc>
                <a:spcPct val="114000"/>
              </a:lnSpc>
              <a:spcAft>
                <a:spcPts val="400"/>
              </a:spcAft>
              <a:defRPr sz="1800"/>
            </a:lvl1pPr>
            <a:lvl2pPr>
              <a:lnSpc>
                <a:spcPct val="114000"/>
              </a:lnSpc>
              <a:spcAft>
                <a:spcPts val="600"/>
              </a:spcAft>
              <a:defRPr/>
            </a:lvl2pPr>
            <a:lvl3pPr>
              <a:lnSpc>
                <a:spcPct val="114000"/>
              </a:lnSpc>
              <a:spcAft>
                <a:spcPts val="600"/>
              </a:spcAft>
              <a:defRPr/>
            </a:lvl3pPr>
            <a:lvl4pPr>
              <a:lnSpc>
                <a:spcPct val="114000"/>
              </a:lnSpc>
              <a:spcAft>
                <a:spcPts val="600"/>
              </a:spcAft>
              <a:defRPr/>
            </a:lvl4pPr>
            <a:lvl5pPr>
              <a:lnSpc>
                <a:spcPct val="114000"/>
              </a:lnSpc>
              <a:spcAft>
                <a:spcPts val="6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A35DD22-AD94-02F7-726D-EF8870A6BBD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339669" y="1956816"/>
            <a:ext cx="3520440" cy="4453128"/>
          </a:xfrm>
        </p:spPr>
        <p:txBody>
          <a:bodyPr/>
          <a:lstStyle>
            <a:lvl1pPr>
              <a:lnSpc>
                <a:spcPct val="114000"/>
              </a:lnSpc>
              <a:spcAft>
                <a:spcPts val="400"/>
              </a:spcAft>
              <a:defRPr sz="1800"/>
            </a:lvl1pPr>
            <a:lvl2pPr>
              <a:lnSpc>
                <a:spcPct val="114000"/>
              </a:lnSpc>
              <a:spcAft>
                <a:spcPts val="600"/>
              </a:spcAft>
              <a:defRPr/>
            </a:lvl2pPr>
            <a:lvl3pPr>
              <a:lnSpc>
                <a:spcPct val="114000"/>
              </a:lnSpc>
              <a:spcAft>
                <a:spcPts val="600"/>
              </a:spcAft>
              <a:defRPr/>
            </a:lvl3pPr>
            <a:lvl4pPr>
              <a:lnSpc>
                <a:spcPct val="114000"/>
              </a:lnSpc>
              <a:spcAft>
                <a:spcPts val="600"/>
              </a:spcAft>
              <a:defRPr/>
            </a:lvl4pPr>
            <a:lvl5pPr>
              <a:lnSpc>
                <a:spcPct val="114000"/>
              </a:lnSpc>
              <a:spcAft>
                <a:spcPts val="6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Slide Number Placeholder 6">
            <a:extLst>
              <a:ext uri="{FF2B5EF4-FFF2-40B4-BE49-F238E27FC236}">
                <a16:creationId xmlns:a16="http://schemas.microsoft.com/office/drawing/2014/main" id="{D2252798-75B5-6A20-2C7F-A0A9106AC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6640" y="6583477"/>
            <a:ext cx="497708" cy="275167"/>
          </a:xfrm>
          <a:prstGeom prst="rect">
            <a:avLst/>
          </a:prstGeom>
        </p:spPr>
        <p:txBody>
          <a:bodyPr anchor="ctr" anchorCtr="0"/>
          <a:lstStyle>
            <a:lvl1pPr algn="r">
              <a:defRPr sz="930" b="1">
                <a:solidFill>
                  <a:schemeClr val="bg1"/>
                </a:solidFill>
              </a:defRPr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29666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-Columns-Compa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CE243A6D-D989-6475-9B95-66EB2ADB4D73}"/>
              </a:ext>
            </a:extLst>
          </p:cNvPr>
          <p:cNvSpPr/>
          <p:nvPr/>
        </p:nvSpPr>
        <p:spPr>
          <a:xfrm>
            <a:off x="0" y="2044904"/>
            <a:ext cx="12192000" cy="339489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85335" y="1456352"/>
            <a:ext cx="3520440" cy="4572000"/>
          </a:xfrm>
          <a:solidFill>
            <a:schemeClr val="bg1">
              <a:lumMod val="95000"/>
            </a:schemeClr>
          </a:solidFill>
          <a:ln w="25400">
            <a:solidFill>
              <a:schemeClr val="tx2"/>
            </a:solidFill>
          </a:ln>
        </p:spPr>
        <p:txBody>
          <a:bodyPr lIns="164592" tIns="137160" rIns="164592">
            <a:noAutofit/>
          </a:bodyPr>
          <a:lstStyle>
            <a:lvl1pPr algn="ctr">
              <a:lnSpc>
                <a:spcPct val="114000"/>
              </a:lnSpc>
              <a:spcAft>
                <a:spcPts val="400"/>
              </a:spcAft>
              <a:defRPr/>
            </a:lvl1pPr>
            <a:lvl2pPr algn="ctr">
              <a:lnSpc>
                <a:spcPct val="114000"/>
              </a:lnSpc>
              <a:spcAft>
                <a:spcPts val="600"/>
              </a:spcAft>
              <a:defRPr/>
            </a:lvl2pPr>
            <a:lvl3pPr>
              <a:lnSpc>
                <a:spcPct val="114000"/>
              </a:lnSpc>
              <a:spcAft>
                <a:spcPts val="600"/>
              </a:spcAft>
              <a:defRPr/>
            </a:lvl3pPr>
            <a:lvl4pPr>
              <a:lnSpc>
                <a:spcPct val="114000"/>
              </a:lnSpc>
              <a:spcAft>
                <a:spcPts val="600"/>
              </a:spcAft>
              <a:defRPr/>
            </a:lvl4pPr>
            <a:lvl5pPr>
              <a:lnSpc>
                <a:spcPct val="114000"/>
              </a:lnSpc>
              <a:spcAft>
                <a:spcPts val="6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71D212F2-E016-678E-503F-65211A1D60C6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8191535" y="1456352"/>
            <a:ext cx="3520440" cy="4572000"/>
          </a:xfrm>
          <a:solidFill>
            <a:schemeClr val="bg1">
              <a:lumMod val="95000"/>
            </a:schemeClr>
          </a:solidFill>
          <a:ln w="25400">
            <a:solidFill>
              <a:schemeClr val="tx2"/>
            </a:solidFill>
          </a:ln>
        </p:spPr>
        <p:txBody>
          <a:bodyPr lIns="164592" tIns="137160" rIns="164592">
            <a:noAutofit/>
          </a:bodyPr>
          <a:lstStyle>
            <a:lvl1pPr algn="ctr">
              <a:lnSpc>
                <a:spcPct val="114000"/>
              </a:lnSpc>
              <a:spcAft>
                <a:spcPts val="400"/>
              </a:spcAft>
              <a:defRPr/>
            </a:lvl1pPr>
            <a:lvl2pPr algn="ctr">
              <a:lnSpc>
                <a:spcPct val="114000"/>
              </a:lnSpc>
              <a:spcAft>
                <a:spcPts val="600"/>
              </a:spcAft>
              <a:defRPr/>
            </a:lvl2pPr>
            <a:lvl3pPr>
              <a:lnSpc>
                <a:spcPct val="114000"/>
              </a:lnSpc>
              <a:spcAft>
                <a:spcPts val="600"/>
              </a:spcAft>
              <a:defRPr/>
            </a:lvl3pPr>
            <a:lvl4pPr>
              <a:lnSpc>
                <a:spcPct val="114000"/>
              </a:lnSpc>
              <a:spcAft>
                <a:spcPts val="600"/>
              </a:spcAft>
              <a:defRPr/>
            </a:lvl4pPr>
            <a:lvl5pPr>
              <a:lnSpc>
                <a:spcPct val="114000"/>
              </a:lnSpc>
              <a:spcAft>
                <a:spcPts val="6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08FE8B98-FE53-BAD7-940B-691589B7112C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4338435" y="1456352"/>
            <a:ext cx="3520440" cy="4572000"/>
          </a:xfrm>
          <a:solidFill>
            <a:schemeClr val="bg1">
              <a:lumMod val="95000"/>
            </a:schemeClr>
          </a:solidFill>
          <a:ln w="25400">
            <a:solidFill>
              <a:schemeClr val="tx2"/>
            </a:solidFill>
          </a:ln>
        </p:spPr>
        <p:txBody>
          <a:bodyPr lIns="164592" tIns="137160" rIns="164592">
            <a:noAutofit/>
          </a:bodyPr>
          <a:lstStyle>
            <a:lvl1pPr algn="ctr">
              <a:lnSpc>
                <a:spcPct val="114000"/>
              </a:lnSpc>
              <a:spcAft>
                <a:spcPts val="400"/>
              </a:spcAft>
              <a:defRPr/>
            </a:lvl1pPr>
            <a:lvl2pPr algn="ctr">
              <a:lnSpc>
                <a:spcPct val="114000"/>
              </a:lnSpc>
              <a:spcAft>
                <a:spcPts val="600"/>
              </a:spcAft>
              <a:defRPr/>
            </a:lvl2pPr>
            <a:lvl3pPr>
              <a:lnSpc>
                <a:spcPct val="114000"/>
              </a:lnSpc>
              <a:spcAft>
                <a:spcPts val="600"/>
              </a:spcAft>
              <a:defRPr/>
            </a:lvl3pPr>
            <a:lvl4pPr>
              <a:lnSpc>
                <a:spcPct val="114000"/>
              </a:lnSpc>
              <a:spcAft>
                <a:spcPts val="600"/>
              </a:spcAft>
              <a:defRPr/>
            </a:lvl4pPr>
            <a:lvl5pPr>
              <a:lnSpc>
                <a:spcPct val="114000"/>
              </a:lnSpc>
              <a:spcAft>
                <a:spcPts val="6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Slide Number Placeholder 6">
            <a:extLst>
              <a:ext uri="{FF2B5EF4-FFF2-40B4-BE49-F238E27FC236}">
                <a16:creationId xmlns:a16="http://schemas.microsoft.com/office/drawing/2014/main" id="{1411F1FF-3ACF-1975-3CD0-FA1DC10D6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6640" y="6583477"/>
            <a:ext cx="497708" cy="275167"/>
          </a:xfrm>
          <a:prstGeom prst="rect">
            <a:avLst/>
          </a:prstGeom>
        </p:spPr>
        <p:txBody>
          <a:bodyPr anchor="ctr" anchorCtr="0"/>
          <a:lstStyle>
            <a:lvl1pPr algn="r">
              <a:defRPr sz="930" b="1">
                <a:solidFill>
                  <a:schemeClr val="bg1"/>
                </a:solidFill>
              </a:defRPr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39613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-Type-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pc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A25917EB-8EBC-54E5-E082-F2C50065DE90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457201" y="1885506"/>
            <a:ext cx="11277599" cy="4532227"/>
          </a:xfrm>
        </p:spPr>
        <p:txBody>
          <a:bodyPr/>
          <a:lstStyle/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A8F5E660-7E62-50F2-6560-4A37AF0569F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72534" y="1170432"/>
            <a:ext cx="11453627" cy="573617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000" b="0" i="0">
                <a:latin typeface="+mn-lt"/>
              </a:defRPr>
            </a:lvl1pPr>
            <a:lvl3pPr marL="8466" indent="0">
              <a:buNone/>
              <a:defRPr/>
            </a:lvl3pPr>
            <a:lvl4pPr marL="232828" indent="0">
              <a:buNone/>
              <a:defRPr/>
            </a:lvl4pPr>
            <a:lvl5pPr marL="459305" indent="0">
              <a:buNone/>
              <a:defRPr/>
            </a:lvl5pPr>
          </a:lstStyle>
          <a:p>
            <a:pPr lvl="0"/>
            <a:r>
              <a:rPr lang="en-US" dirty="0"/>
              <a:t>Subhead if necessary</a:t>
            </a:r>
          </a:p>
        </p:txBody>
      </p:sp>
      <p:sp>
        <p:nvSpPr>
          <p:cNvPr id="3" name="Slide Number Placeholder 6">
            <a:extLst>
              <a:ext uri="{FF2B5EF4-FFF2-40B4-BE49-F238E27FC236}">
                <a16:creationId xmlns:a16="http://schemas.microsoft.com/office/drawing/2014/main" id="{ED02709C-B9E2-2479-FCC5-059829D6B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6640" y="6583477"/>
            <a:ext cx="497708" cy="275167"/>
          </a:xfrm>
          <a:prstGeom prst="rect">
            <a:avLst/>
          </a:prstGeom>
        </p:spPr>
        <p:txBody>
          <a:bodyPr anchor="ctr" anchorCtr="0"/>
          <a:lstStyle>
            <a:lvl1pPr algn="r">
              <a:defRPr sz="930" b="1">
                <a:solidFill>
                  <a:schemeClr val="bg1"/>
                </a:solidFill>
              </a:defRPr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97751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orient="horz" pos="1328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-Sub-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210ED764-95FB-8EBB-7659-9AEFCB94E21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72534" y="1170432"/>
            <a:ext cx="11453627" cy="573617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000" b="0" i="0">
                <a:latin typeface="+mn-lt"/>
              </a:defRPr>
            </a:lvl1pPr>
            <a:lvl3pPr marL="8466" indent="0">
              <a:buNone/>
              <a:defRPr/>
            </a:lvl3pPr>
            <a:lvl4pPr marL="232828" indent="0">
              <a:buNone/>
              <a:defRPr/>
            </a:lvl4pPr>
            <a:lvl5pPr marL="459305" indent="0">
              <a:buNone/>
              <a:defRPr/>
            </a:lvl5pPr>
          </a:lstStyle>
          <a:p>
            <a:pPr lvl="0"/>
            <a:r>
              <a:rPr lang="en-US" dirty="0"/>
              <a:t>Subhead if necessary</a:t>
            </a:r>
          </a:p>
        </p:txBody>
      </p:sp>
      <p:sp>
        <p:nvSpPr>
          <p:cNvPr id="3" name="Slide Number Placeholder 6">
            <a:extLst>
              <a:ext uri="{FF2B5EF4-FFF2-40B4-BE49-F238E27FC236}">
                <a16:creationId xmlns:a16="http://schemas.microsoft.com/office/drawing/2014/main" id="{55373F48-814A-152B-041B-20CF6CEAD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6640" y="6583477"/>
            <a:ext cx="497708" cy="275167"/>
          </a:xfrm>
          <a:prstGeom prst="rect">
            <a:avLst/>
          </a:prstGeom>
        </p:spPr>
        <p:txBody>
          <a:bodyPr anchor="ctr" anchorCtr="0"/>
          <a:lstStyle>
            <a:lvl1pPr algn="r">
              <a:defRPr sz="930" b="1">
                <a:solidFill>
                  <a:schemeClr val="bg1"/>
                </a:solidFill>
              </a:defRPr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81425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F6ABA64-368E-BBC0-663A-E04E9904B76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3EB608DE-BFCD-A2BA-DB2F-60A4A85A828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112" t="-148" r="7377" b="148"/>
          <a:stretch/>
        </p:blipFill>
        <p:spPr>
          <a:xfrm>
            <a:off x="-7147" y="1"/>
            <a:ext cx="8941484" cy="6858001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07F6CAA3-8590-69C0-BCEF-50C02B09A4CE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" t="1633" r="28586"/>
          <a:stretch/>
        </p:blipFill>
        <p:spPr>
          <a:xfrm>
            <a:off x="2752898" y="0"/>
            <a:ext cx="9439103" cy="686819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ED0132E-7B12-5E0A-3026-66DB8B11427A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47021" y="5298724"/>
            <a:ext cx="2257273" cy="42110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96001" y="606689"/>
            <a:ext cx="5729817" cy="2387600"/>
          </a:xfrm>
        </p:spPr>
        <p:txBody>
          <a:bodyPr rIns="73152" anchor="b"/>
          <a:lstStyle>
            <a:lvl1pPr algn="r">
              <a:defRPr sz="52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E274995-A486-3498-56E0-BCAF34D3131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47021" y="5298724"/>
            <a:ext cx="2257273" cy="42110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7D5E1C3-9FA2-812F-68A0-884F83841065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47021" y="5298724"/>
            <a:ext cx="2257273" cy="42110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DF2A1F7-2DA3-AC5C-92EC-87F1062355BA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47021" y="5298724"/>
            <a:ext cx="2257273" cy="42110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A5D240E-F985-54F9-937A-598D1A1D4061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47021" y="5298724"/>
            <a:ext cx="2257273" cy="421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670228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Relationship Id="rId16" Type="http://schemas.openxmlformats.org/officeDocument/2006/relationships/image" Target="../media/image2.svg"/><Relationship Id="rId17" Type="http://schemas.openxmlformats.org/officeDocument/2006/relationships/image" Target="../media/image3.png"/><Relationship Id="rId18" Type="http://schemas.openxmlformats.org/officeDocument/2006/relationships/image" Target="../media/image4.svg"/><Relationship Id="rId19" Type="http://schemas.openxmlformats.org/officeDocument/2006/relationships/image" Target="../media/image5.png"/><Relationship Id="rId20" Type="http://schemas.openxmlformats.org/officeDocument/2006/relationships/image" Target="../media/image6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72189" y="0"/>
            <a:ext cx="11453628" cy="1143000"/>
          </a:xfrm>
          <a:prstGeom prst="rect">
            <a:avLst/>
          </a:prstGeom>
        </p:spPr>
        <p:txBody>
          <a:bodyPr vert="horz" lIns="73152" tIns="45720" rIns="91440" bIns="45720" rtlCol="0" anchor="b" anchorCtr="0">
            <a:noAutofit/>
          </a:bodyPr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2189" y="2622003"/>
            <a:ext cx="11453628" cy="355496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84648D25-2907-76E6-F373-A073DDE56335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75782" y="6658064"/>
            <a:ext cx="1670904" cy="103257"/>
          </a:xfrm>
          <a:prstGeom prst="rect">
            <a:avLst/>
          </a:prstGeom>
        </p:spPr>
      </p:pic>
      <p:pic>
        <p:nvPicPr>
          <p:cNvPr id="19" name="Graphic 18">
            <a:extLst>
              <a:ext uri="{FF2B5EF4-FFF2-40B4-BE49-F238E27FC236}">
                <a16:creationId xmlns:a16="http://schemas.microsoft.com/office/drawing/2014/main" id="{42CD8742-78CC-2836-6668-C8A0EBEE414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75782" y="6658064"/>
            <a:ext cx="1670904" cy="103257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53AE01DE-90C4-B404-F28D-321ADD0553A0}"/>
              </a:ext>
            </a:extLst>
          </p:cNvPr>
          <p:cNvSpPr/>
          <p:nvPr/>
        </p:nvSpPr>
        <p:spPr>
          <a:xfrm>
            <a:off x="1" y="6554538"/>
            <a:ext cx="12192000" cy="304800"/>
          </a:xfrm>
          <a:prstGeom prst="rect">
            <a:avLst/>
          </a:prstGeom>
          <a:gradFill>
            <a:gsLst>
              <a:gs pos="23000">
                <a:srgbClr val="38175A"/>
              </a:gs>
              <a:gs pos="48000">
                <a:srgbClr val="4E2A84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pic>
        <p:nvPicPr>
          <p:cNvPr id="26" name="Graphic 25">
            <a:extLst>
              <a:ext uri="{FF2B5EF4-FFF2-40B4-BE49-F238E27FC236}">
                <a16:creationId xmlns:a16="http://schemas.microsoft.com/office/drawing/2014/main" id="{D11852D9-AE8A-AFEA-DCDC-96EF7854D9F4}"/>
              </a:ext>
            </a:extLst>
          </p:cNvPr>
          <p:cNvPicPr>
            <a:picLocks noChangeAspect="1"/>
          </p:cNvPicPr>
          <p:nvPr/>
        </p:nvPicPr>
        <p:blipFill rotWithShape="1"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rcRect l="28799" t="85341" b="592"/>
          <a:stretch/>
        </p:blipFill>
        <p:spPr>
          <a:xfrm>
            <a:off x="0" y="6556376"/>
            <a:ext cx="2829489" cy="301624"/>
          </a:xfrm>
          <a:prstGeom prst="rect">
            <a:avLst/>
          </a:prstGeom>
        </p:spPr>
      </p:pic>
      <p:sp>
        <p:nvSpPr>
          <p:cNvPr id="27" name="Footer Placeholder 2">
            <a:extLst>
              <a:ext uri="{FF2B5EF4-FFF2-40B4-BE49-F238E27FC236}">
                <a16:creationId xmlns:a16="http://schemas.microsoft.com/office/drawing/2014/main" id="{99B5B88B-F3FF-DC9B-1E8A-89B0406BE3BF}"/>
              </a:ext>
            </a:extLst>
          </p:cNvPr>
          <p:cNvSpPr txBox="1">
            <a:spLocks/>
          </p:cNvSpPr>
          <p:nvPr/>
        </p:nvSpPr>
        <p:spPr>
          <a:xfrm>
            <a:off x="4450471" y="6598308"/>
            <a:ext cx="6908800" cy="269217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aseline="0" dirty="0">
                <a:solidFill>
                  <a:schemeClr val="bg1"/>
                </a:solidFill>
                <a:latin typeface="Century Gothic" panose="020B0502020202020204" pitchFamily="34" charset="0"/>
              </a:rPr>
              <a:t>Leading the way to better care</a:t>
            </a:r>
          </a:p>
        </p:txBody>
      </p:sp>
      <p:pic>
        <p:nvPicPr>
          <p:cNvPr id="28" name="Graphic 27">
            <a:extLst>
              <a:ext uri="{FF2B5EF4-FFF2-40B4-BE49-F238E27FC236}">
                <a16:creationId xmlns:a16="http://schemas.microsoft.com/office/drawing/2014/main" id="{0A26BD3D-2CBD-1C35-7E3C-714964E9E9CF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1421645" y="6655750"/>
            <a:ext cx="97536" cy="121920"/>
          </a:xfrm>
          <a:prstGeom prst="rect">
            <a:avLst/>
          </a:prstGeom>
        </p:spPr>
      </p:pic>
      <p:pic>
        <p:nvPicPr>
          <p:cNvPr id="29" name="Graphic 28">
            <a:extLst>
              <a:ext uri="{FF2B5EF4-FFF2-40B4-BE49-F238E27FC236}">
                <a16:creationId xmlns:a16="http://schemas.microsoft.com/office/drawing/2014/main" id="{552565F4-9FD9-E8B3-4A03-9AAD30B932D7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19719" y="6659402"/>
            <a:ext cx="1670904" cy="10325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48F7278-2615-2054-B90E-2AA753C02FCC}"/>
              </a:ext>
            </a:extLst>
          </p:cNvPr>
          <p:cNvSpPr/>
          <p:nvPr/>
        </p:nvSpPr>
        <p:spPr>
          <a:xfrm>
            <a:off x="1" y="6554538"/>
            <a:ext cx="12192000" cy="304800"/>
          </a:xfrm>
          <a:prstGeom prst="rect">
            <a:avLst/>
          </a:prstGeom>
          <a:gradFill>
            <a:gsLst>
              <a:gs pos="23000">
                <a:srgbClr val="38175A"/>
              </a:gs>
              <a:gs pos="48000">
                <a:srgbClr val="4E2A84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CFCDD35-1AC9-108E-C18C-ECE15875388E}"/>
              </a:ext>
            </a:extLst>
          </p:cNvPr>
          <p:cNvPicPr>
            <a:picLocks noChangeAspect="1"/>
          </p:cNvPicPr>
          <p:nvPr/>
        </p:nvPicPr>
        <p:blipFill rotWithShape="1"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rcRect l="28799" t="85341" b="592"/>
          <a:stretch/>
        </p:blipFill>
        <p:spPr>
          <a:xfrm>
            <a:off x="0" y="6556376"/>
            <a:ext cx="2829489" cy="301624"/>
          </a:xfrm>
          <a:prstGeom prst="rect">
            <a:avLst/>
          </a:prstGeom>
        </p:spPr>
      </p:pic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630B59BD-9A7D-4D29-8E54-E1CD14439CCC}"/>
              </a:ext>
            </a:extLst>
          </p:cNvPr>
          <p:cNvSpPr txBox="1">
            <a:spLocks/>
          </p:cNvSpPr>
          <p:nvPr/>
        </p:nvSpPr>
        <p:spPr>
          <a:xfrm>
            <a:off x="4450471" y="6598308"/>
            <a:ext cx="6908800" cy="269217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aseline="0" dirty="0">
                <a:solidFill>
                  <a:schemeClr val="bg1"/>
                </a:solidFill>
                <a:latin typeface="Century Gothic" panose="020B0502020202020204" pitchFamily="34" charset="0"/>
              </a:rPr>
              <a:t>Leading the way to better care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E869D689-0909-8B4E-CECC-CF149412BE2E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1421645" y="6655750"/>
            <a:ext cx="97536" cy="12192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B9F16B1-46AC-A97A-60FF-87C85E6C914F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19719" y="6659402"/>
            <a:ext cx="1670904" cy="103257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AC5A1B2-7E72-4BEE-F4C1-A5BAF246D0D7}"/>
              </a:ext>
            </a:extLst>
          </p:cNvPr>
          <p:cNvSpPr/>
          <p:nvPr userDrawn="1"/>
        </p:nvSpPr>
        <p:spPr>
          <a:xfrm>
            <a:off x="1" y="6554538"/>
            <a:ext cx="12192000" cy="304800"/>
          </a:xfrm>
          <a:prstGeom prst="rect">
            <a:avLst/>
          </a:prstGeom>
          <a:gradFill>
            <a:gsLst>
              <a:gs pos="23000">
                <a:srgbClr val="38175A"/>
              </a:gs>
              <a:gs pos="48000">
                <a:srgbClr val="4E2A84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9D014D1F-722A-72FE-DC46-2CE32A178B2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rcRect l="28799" t="85341" b="592"/>
          <a:stretch/>
        </p:blipFill>
        <p:spPr>
          <a:xfrm>
            <a:off x="0" y="6556376"/>
            <a:ext cx="2829489" cy="301624"/>
          </a:xfrm>
          <a:prstGeom prst="rect">
            <a:avLst/>
          </a:prstGeom>
        </p:spPr>
      </p:pic>
      <p:sp>
        <p:nvSpPr>
          <p:cNvPr id="11" name="Footer Placeholder 2">
            <a:extLst>
              <a:ext uri="{FF2B5EF4-FFF2-40B4-BE49-F238E27FC236}">
                <a16:creationId xmlns:a16="http://schemas.microsoft.com/office/drawing/2014/main" id="{EC3D6817-EAA2-FBC2-9FE7-68758D84F57D}"/>
              </a:ext>
            </a:extLst>
          </p:cNvPr>
          <p:cNvSpPr txBox="1">
            <a:spLocks/>
          </p:cNvSpPr>
          <p:nvPr userDrawn="1"/>
        </p:nvSpPr>
        <p:spPr>
          <a:xfrm>
            <a:off x="4450471" y="6598308"/>
            <a:ext cx="6908800" cy="269217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aseline="0" dirty="0">
                <a:solidFill>
                  <a:schemeClr val="bg1"/>
                </a:solidFill>
                <a:latin typeface="Century Gothic" panose="020B0502020202020204" pitchFamily="34" charset="0"/>
              </a:rPr>
              <a:t>Leading the way to better care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B3BE1B18-FE9D-F957-8448-1940B46DDA8A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1421645" y="6655750"/>
            <a:ext cx="97536" cy="12192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247728EF-C926-D874-EFE4-FA3ECA2A8A2C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19719" y="6659402"/>
            <a:ext cx="1670904" cy="103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94367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06" r:id="rId1"/>
    <p:sldLayoutId id="2147483907" r:id="rId2"/>
    <p:sldLayoutId id="2147483908" r:id="rId3"/>
    <p:sldLayoutId id="2147483909" r:id="rId4"/>
    <p:sldLayoutId id="2147483910" r:id="rId5"/>
    <p:sldLayoutId id="2147483911" r:id="rId6"/>
    <p:sldLayoutId id="2147483912" r:id="rId7"/>
    <p:sldLayoutId id="2147483913" r:id="rId8"/>
    <p:sldLayoutId id="2147483914" r:id="rId9"/>
    <p:sldLayoutId id="2147483915" r:id="rId10"/>
    <p:sldLayoutId id="2147483916" r:id="rId11"/>
    <p:sldLayoutId id="2147483917" r:id="rId12"/>
    <p:sldLayoutId id="2147483918" r:id="rId13"/>
  </p:sldLayoutIdLst>
  <p:hf hdr="0" ft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3200" b="0" i="0" kern="1200" spc="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377" rtl="0" eaLnBrk="1" latinLnBrk="0" hangingPunct="1">
        <a:lnSpc>
          <a:spcPct val="114000"/>
        </a:lnSpc>
        <a:spcBef>
          <a:spcPts val="1000"/>
        </a:spcBef>
        <a:spcAft>
          <a:spcPts val="400"/>
        </a:spcAft>
        <a:buFontTx/>
        <a:buNone/>
        <a:defRPr sz="1800" b="1" i="0" kern="1200">
          <a:solidFill>
            <a:schemeClr val="tx1"/>
          </a:solidFill>
          <a:latin typeface="+mn-lt"/>
          <a:ea typeface="+mn-ea"/>
          <a:cs typeface="+mn-cs"/>
        </a:defRPr>
      </a:lvl1pPr>
      <a:lvl2pPr marL="8466" indent="0" algn="l" defTabSz="914377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FontTx/>
        <a:buNone/>
        <a:tabLst/>
        <a:defRPr sz="1600" b="0" i="0" kern="1200">
          <a:solidFill>
            <a:schemeClr val="tx1"/>
          </a:solidFill>
          <a:latin typeface="+mn-lt"/>
          <a:ea typeface="+mn-ea"/>
          <a:cs typeface="+mn-cs"/>
        </a:defRPr>
      </a:lvl2pPr>
      <a:lvl3pPr marL="232828" indent="-224361" algn="l" defTabSz="914377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chemeClr val="tx2"/>
        </a:buClr>
        <a:buFont typeface="Arial" panose="020B0604020202020204" pitchFamily="34" charset="0"/>
        <a:buChar char="•"/>
        <a:tabLst/>
        <a:defRPr sz="1600" b="0" i="0" kern="1200">
          <a:solidFill>
            <a:schemeClr val="tx1"/>
          </a:solidFill>
          <a:latin typeface="+mn-lt"/>
          <a:ea typeface="+mn-ea"/>
          <a:cs typeface="+mn-cs"/>
        </a:defRPr>
      </a:lvl3pPr>
      <a:lvl4pPr marL="459306" indent="-226478" algn="l" defTabSz="914377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chemeClr val="tx2"/>
        </a:buClr>
        <a:buFont typeface="Arial" panose="020B0604020202020204" pitchFamily="34" charset="0"/>
        <a:buChar char="•"/>
        <a:tabLst/>
        <a:defRPr sz="1600" b="0" i="0" kern="1200">
          <a:solidFill>
            <a:schemeClr val="tx1"/>
          </a:solidFill>
          <a:latin typeface="+mn-lt"/>
          <a:ea typeface="+mn-ea"/>
          <a:cs typeface="+mn-cs"/>
        </a:defRPr>
      </a:lvl4pPr>
      <a:lvl5pPr marL="694249" indent="-234945" algn="l" defTabSz="914377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chemeClr val="tx2"/>
        </a:buClr>
        <a:buFont typeface="Arial" panose="020B0604020202020204" pitchFamily="34" charset="0"/>
        <a:buChar char="•"/>
        <a:tabLst/>
        <a:defRPr sz="1600" b="0" i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7">
          <p15:clr>
            <a:srgbClr val="F26B43"/>
          </p15:clr>
        </p15:guide>
        <p15:guide id="18" pos="7680">
          <p15:clr>
            <a:srgbClr val="F26B43"/>
          </p15:clr>
        </p15:guide>
        <p15:guide id="19" pos="288">
          <p15:clr>
            <a:srgbClr val="F26B43"/>
          </p15:clr>
        </p15:guide>
        <p15:guide id="20" pos="7392">
          <p15:clr>
            <a:srgbClr val="F26B43"/>
          </p15:clr>
        </p15:guide>
        <p15:guide id="21" orient="horz">
          <p15:clr>
            <a:srgbClr val="F26B43"/>
          </p15:clr>
        </p15:guide>
        <p15:guide id="22" orient="horz" pos="4320">
          <p15:clr>
            <a:srgbClr val="F26B43"/>
          </p15:clr>
        </p15:guide>
        <p15:guide id="23" orient="horz" pos="172">
          <p15:clr>
            <a:srgbClr val="F26B43"/>
          </p15:clr>
        </p15:guide>
        <p15:guide id="24" orient="horz" pos="3985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Diaphragm Dysfunction in Adults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Non-Traumatic Causes: Phrenic Nerve Injury, Neuralgic Amyotrophy, Spinal Cord Disease, and Beyond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February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2"/>
            <a:r>
              <a:t>Trace the neural pathway from respiratory centers to the diaphragm</a:t>
            </a:r>
          </a:p>
          <a:p>
            <a:pPr lvl="2"/>
            <a:r>
              <a:t>Identify major non-traumatic etiologies organized by mechanism</a:t>
            </a:r>
          </a:p>
          <a:p>
            <a:pPr lvl="2"/>
            <a:r>
              <a:t>Recognize acute and chronic clinical presentations</a:t>
            </a:r>
          </a:p>
          <a:p>
            <a:pPr lvl="2"/>
            <a:r>
              <a:t>Apply a diagnostic algorithm including sniff test, ultrasound, and phrenic NCS/EMG</a:t>
            </a:r>
          </a:p>
          <a:p>
            <a:pPr lvl="2"/>
            <a:r>
              <a:t>Select appropriate management: NIV, plication, pacing, or nerve reconstruction</a:t>
            </a:r>
          </a:p>
          <a:p>
            <a:pPr lvl="2"/>
            <a:r>
              <a:t>Discuss evidence gaps and future research directions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After this presentation, attendees will be able to: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Neural Pathway of Respiration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From cortical drive to diaphragmatic contraction — dysfunction can arise at any level</a:t>
            </a:r>
          </a:p>
        </p:txBody>
      </p:sp>
      <p:sp>
        <p:nvSpPr>
          <p:cNvPr id="4" name="Oval 3"/>
          <p:cNvSpPr/>
          <p:nvPr/>
        </p:nvSpPr>
        <p:spPr>
          <a:xfrm>
            <a:off x="596000" y="2200000"/>
            <a:ext cx="1600000" cy="560000"/>
          </a:xfrm>
          <a:prstGeom prst="ellipse">
            <a:avLst/>
          </a:prstGeom>
          <a:solidFill>
            <a:srgbClr val="4E2A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0">
                <a:solidFill>
                  <a:srgbClr val="FFFFFF"/>
                </a:solidFill>
              </a:rPr>
              <a:t>Cerebral Cortex
(Voluntary drive)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336000" y="2480000"/>
            <a:ext cx="0" cy="0"/>
          </a:xfrm>
          <a:prstGeom prst="line">
            <a:avLst/>
          </a:prstGeom>
          <a:ln w="19050">
            <a:solidFill>
              <a:srgbClr val="585858"/>
            </a:solidFill>
            <a:headEnd type="arrow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2476000" y="2200000"/>
            <a:ext cx="1600000" cy="560000"/>
          </a:xfrm>
          <a:prstGeom prst="ellipse">
            <a:avLst/>
          </a:prstGeom>
          <a:solidFill>
            <a:srgbClr val="007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0">
                <a:solidFill>
                  <a:srgbClr val="FFFFFF"/>
                </a:solidFill>
              </a:rPr>
              <a:t>Brainstem
(Pre-Bötzinger complex
Automatic rhythm)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216000" y="2480000"/>
            <a:ext cx="0" cy="0"/>
          </a:xfrm>
          <a:prstGeom prst="line">
            <a:avLst/>
          </a:prstGeom>
          <a:ln w="19050">
            <a:solidFill>
              <a:srgbClr val="585858"/>
            </a:solidFill>
            <a:headEnd type="arrow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356000" y="2200000"/>
            <a:ext cx="1600000" cy="560000"/>
          </a:xfrm>
          <a:prstGeom prst="ellipse">
            <a:avLst/>
          </a:prstGeom>
          <a:solidFill>
            <a:srgbClr val="007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0">
                <a:solidFill>
                  <a:srgbClr val="FFFFFF"/>
                </a:solidFill>
              </a:rPr>
              <a:t>Cervical Spinal Cord
C3 – C5
(Phrenic motor neurons)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2480000"/>
            <a:ext cx="0" cy="0"/>
          </a:xfrm>
          <a:prstGeom prst="line">
            <a:avLst/>
          </a:prstGeom>
          <a:ln w="19050">
            <a:solidFill>
              <a:srgbClr val="585858"/>
            </a:solidFill>
            <a:headEnd type="arrow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6236000" y="2200000"/>
            <a:ext cx="1600000" cy="560000"/>
          </a:xfrm>
          <a:prstGeom prst="ellipse">
            <a:avLst/>
          </a:prstGeom>
          <a:solidFill>
            <a:srgbClr val="4E2A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0">
                <a:solidFill>
                  <a:srgbClr val="FFFFFF"/>
                </a:solidFill>
              </a:rPr>
              <a:t>Phrenic Nerve
(Motor axons)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976000" y="2480000"/>
            <a:ext cx="0" cy="0"/>
          </a:xfrm>
          <a:prstGeom prst="line">
            <a:avLst/>
          </a:prstGeom>
          <a:ln w="19050">
            <a:solidFill>
              <a:srgbClr val="585858"/>
            </a:solidFill>
            <a:headEnd type="arrow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8116000" y="2200000"/>
            <a:ext cx="1600000" cy="560000"/>
          </a:xfrm>
          <a:prstGeom prst="ellipse">
            <a:avLst/>
          </a:prstGeom>
          <a:solidFill>
            <a:srgbClr val="007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0">
                <a:solidFill>
                  <a:srgbClr val="FFFFFF"/>
                </a:solidFill>
              </a:rPr>
              <a:t>Neuromuscular
Junction
(AChR)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856000" y="2480000"/>
            <a:ext cx="0" cy="0"/>
          </a:xfrm>
          <a:prstGeom prst="line">
            <a:avLst/>
          </a:prstGeom>
          <a:ln w="19050">
            <a:solidFill>
              <a:srgbClr val="585858"/>
            </a:solidFill>
            <a:headEnd type="arrow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9996000" y="2200000"/>
            <a:ext cx="1600000" cy="560000"/>
          </a:xfrm>
          <a:prstGeom prst="ellipse">
            <a:avLst/>
          </a:prstGeom>
          <a:solidFill>
            <a:srgbClr val="4E2A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0">
                <a:solidFill>
                  <a:srgbClr val="FFFFFF"/>
                </a:solidFill>
              </a:rPr>
              <a:t>Diaphragm
Muscle
(Contraction)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000" y="2840000"/>
            <a:ext cx="16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85858"/>
                </a:solidFill>
              </a:rPr>
              <a:t>Stroke, ALS
(UMN)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76000" y="2840000"/>
            <a:ext cx="16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85858"/>
                </a:solidFill>
              </a:rPr>
              <a:t>Ondine's curse
(CCHS)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56000" y="2840000"/>
            <a:ext cx="16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85858"/>
                </a:solidFill>
              </a:rPr>
              <a:t>SCI, myelopathy
disc herniation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6000" y="2840000"/>
            <a:ext cx="16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85858"/>
                </a:solidFill>
              </a:rPr>
              <a:t>Iatrogenic injury
PTS, radiation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16000" y="2840000"/>
            <a:ext cx="16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85858"/>
                </a:solidFill>
              </a:rPr>
              <a:t>Myasthenia gravis
Lambert-Eaton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96000" y="2840000"/>
            <a:ext cx="16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85858"/>
                </a:solidFill>
              </a:rPr>
              <a:t>Myopathy
Pompe, dystrophies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Anatomy &amp; Physiology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The phrenic nerve–diaphragm axis: structure, function, and vulnerability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Phrenic Nerve: Physiologic Role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Motor Function</a:t>
            </a:r>
          </a:p>
          <a:p>
            <a:pPr lvl="2"/>
            <a:r>
              <a:t>Sole motor innervation of the diaphragm — accessory respiratory muscles cannot fully substitute</a:t>
            </a:r>
          </a:p>
          <a:p>
            <a:pPr lvl="2"/>
            <a:r>
              <a:t>Unilateral loss: FVC falls ~20–30% upright, ~40–50% supine; typically compensated in healthy adults</a:t>
            </a:r>
          </a:p>
          <a:p>
            <a:pPr lvl="2"/>
            <a:r>
              <a:t>Bilateral loss: acute respiratory failure requiring ventilatory support in virtually all patients</a:t>
            </a:r>
          </a:p>
          <a:p>
            <a:pPr/>
            <a:r>
              <a:rPr b="1"/>
              <a:t>Sensory Function</a:t>
            </a:r>
          </a:p>
          <a:p>
            <a:pPr lvl="2"/>
            <a:r>
              <a:t>Carries sensory afferents from the pericardium, mediastinal pleura, and diaphragmatic peritoneum</a:t>
            </a:r>
          </a:p>
          <a:p>
            <a:pPr lvl="2"/>
            <a:r>
              <a:t>Phrenic irritation → ipsilateral shoulder-tip pain (referred via C3–C5 dermatome)</a:t>
            </a:r>
          </a:p>
          <a:p>
            <a:pPr/>
            <a:r>
              <a:rPr b="1"/>
              <a:t>Additional Roles</a:t>
            </a:r>
          </a:p>
          <a:p>
            <a:pPr lvl="2"/>
            <a:r>
              <a:t>Contributes to cough, Valsalva, parturition, and defecation via abdominal pressure generation</a:t>
            </a:r>
          </a:p>
          <a:p>
            <a:pPr lvl="2"/>
            <a:r>
              <a:t>Maintains thoraco-abdominal pressure gradient critical for venous return and lymphatic flow</a:t>
            </a:r>
          </a:p>
          <a:p>
            <a:pPr lvl="2"/>
            <a:r>
              <a:t>Phrenic motor neurons also receive input from central pattern generators and cortical voluntary drive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The sole motor supply of the diaphragm — no redundancy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Phrenic Nerve Anatomy &amp; Vulnerability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Origin &amp; Course</a:t>
            </a:r>
          </a:p>
          <a:p>
            <a:pPr lvl="2"/>
            <a:r>
              <a:t>"C3, 4, 5 keeps the diaphragm alive" — ventral rami of C3, C4, C5</a:t>
            </a:r>
          </a:p>
          <a:p>
            <a:pPr lvl="2"/>
            <a:r>
              <a:t>Crosses anterior scalene → enters thorax lateral to subclavian vessels</a:t>
            </a:r>
          </a:p>
          <a:p>
            <a:pPr lvl="2"/>
            <a:r>
              <a:t>Right: shorter, travels beside SVC and IVC to right hemidiaphragm</a:t>
            </a:r>
          </a:p>
          <a:p>
            <a:pPr lvl="2"/>
            <a:r>
              <a:t>Left: longer, crosses aortic arch, left subclavian artery, and pericardium</a:t>
            </a:r>
          </a:p>
          <a:p>
            <a:pPr lvl="2"/>
            <a:r>
              <a:t>Terminal branches: sternal, anterolateral, posterolateral, crural</a:t>
            </a:r>
          </a:p>
          <a:p>
            <a:pPr/>
            <a:r>
              <a:rPr b="1"/>
              <a:t>Vulnerability Points</a:t>
            </a:r>
          </a:p>
          <a:p>
            <a:pPr lvl="2"/>
            <a:r>
              <a:t>① Scalene region: deep cervical biopsy, block procedures, subclavian lines</a:t>
            </a:r>
          </a:p>
          <a:p>
            <a:pPr lvl="2"/>
            <a:r>
              <a:t>② Thoracic inlet: subclavian/IJ central lines, cervical rib, Pancoast tumors</a:t>
            </a:r>
          </a:p>
          <a:p>
            <a:pPr lvl="2"/>
            <a:r>
              <a:t>③ Pericardium / mediastinum: cardiac surgery, cryoablation for AF</a:t>
            </a:r>
          </a:p>
          <a:p>
            <a:pPr lvl="2"/>
            <a:r>
              <a:t>④ Aortic arch (left): thoracic aortic aneurysm, mediastinal dissection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Arises C3–C4–C5 — long mediastinal course creates multiple injury sites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pPr/>
            <a:r>
              <a:rPr b="1"/>
              <a:t>Clinical Pearl</a:t>
            </a:r>
          </a:p>
          <a:p>
            <a:pPr lvl="2"/>
            <a:r>
              <a:t>The left phrenic is more commonly injured after cardiac surgery due to its proximity to the left pericardium and left IMA harvest field</a:t>
            </a:r>
          </a:p>
          <a:p>
            <a:pPr lvl="2"/>
            <a:r>
              <a:t>The right phrenic is more commonly affected by mediastinal lymphadenopathy (right paratracheal nodes)</a:t>
            </a:r>
          </a:p>
        </p:txBody>
      </p:sp>
      <p:sp>
        <p:nvSpPr>
          <p:cNvPr id="6" name="Oval 5"/>
          <p:cNvSpPr/>
          <p:nvPr/>
        </p:nvSpPr>
        <p:spPr>
          <a:xfrm>
            <a:off x="7800000" y="1200000"/>
            <a:ext cx="2000000" cy="420000"/>
          </a:xfrm>
          <a:prstGeom prst="ellipse">
            <a:avLst/>
          </a:prstGeom>
          <a:solidFill>
            <a:srgbClr val="4E2A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Brainstem / C3-C5</a:t>
            </a:r>
          </a:p>
        </p:txBody>
      </p:sp>
      <p:sp>
        <p:nvSpPr>
          <p:cNvPr id="7" name="Oval 6"/>
          <p:cNvSpPr/>
          <p:nvPr/>
        </p:nvSpPr>
        <p:spPr>
          <a:xfrm>
            <a:off x="7300000" y="1900000"/>
            <a:ext cx="2800000" cy="380000"/>
          </a:xfrm>
          <a:prstGeom prst="ellipse">
            <a:avLst/>
          </a:prstGeom>
          <a:solidFill>
            <a:srgbClr val="007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FFFFFF"/>
                </a:solidFill>
              </a:rPr>
              <a:t>① Anterior Scalene / Thoracic Inlet</a:t>
            </a:r>
          </a:p>
        </p:txBody>
      </p:sp>
      <p:sp>
        <p:nvSpPr>
          <p:cNvPr id="8" name="Oval 7"/>
          <p:cNvSpPr/>
          <p:nvPr/>
        </p:nvSpPr>
        <p:spPr>
          <a:xfrm>
            <a:off x="7400000" y="2550000"/>
            <a:ext cx="2600000" cy="380000"/>
          </a:xfrm>
          <a:prstGeom prst="ellipse">
            <a:avLst/>
          </a:prstGeom>
          <a:solidFill>
            <a:srgbClr val="007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FFFFFF"/>
                </a:solidFill>
              </a:rPr>
              <a:t>② Pericardium / Mediastinum</a:t>
            </a:r>
          </a:p>
        </p:txBody>
      </p:sp>
      <p:sp>
        <p:nvSpPr>
          <p:cNvPr id="9" name="Oval 8"/>
          <p:cNvSpPr/>
          <p:nvPr/>
        </p:nvSpPr>
        <p:spPr>
          <a:xfrm>
            <a:off x="7100000" y="3200000"/>
            <a:ext cx="1800000" cy="380000"/>
          </a:xfrm>
          <a:prstGeom prst="ellipse">
            <a:avLst/>
          </a:prstGeom>
          <a:solidFill>
            <a:srgbClr val="585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FFFFFF"/>
                </a:solidFill>
              </a:rPr>
              <a:t>③ Aortic Arch (L)</a:t>
            </a:r>
          </a:p>
        </p:txBody>
      </p:sp>
      <p:sp>
        <p:nvSpPr>
          <p:cNvPr id="10" name="Oval 9"/>
          <p:cNvSpPr/>
          <p:nvPr/>
        </p:nvSpPr>
        <p:spPr>
          <a:xfrm>
            <a:off x="9300000" y="3200000"/>
            <a:ext cx="1800000" cy="380000"/>
          </a:xfrm>
          <a:prstGeom prst="ellipse">
            <a:avLst/>
          </a:prstGeom>
          <a:solidFill>
            <a:srgbClr val="585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FFFFFF"/>
                </a:solidFill>
              </a:rPr>
              <a:t>④ IVC/SVC (R)</a:t>
            </a:r>
          </a:p>
        </p:txBody>
      </p:sp>
      <p:sp>
        <p:nvSpPr>
          <p:cNvPr id="11" name="Oval 10"/>
          <p:cNvSpPr/>
          <p:nvPr/>
        </p:nvSpPr>
        <p:spPr>
          <a:xfrm>
            <a:off x="7300000" y="3900000"/>
            <a:ext cx="3200000" cy="420000"/>
          </a:xfrm>
          <a:prstGeom prst="ellipse">
            <a:avLst/>
          </a:prstGeom>
          <a:solidFill>
            <a:srgbClr val="4E2A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Diaphragm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800000" y="1620000"/>
            <a:ext cx="0" cy="280000"/>
          </a:xfrm>
          <a:prstGeom prst="line">
            <a:avLst/>
          </a:prstGeom>
          <a:ln w="19050">
            <a:solidFill>
              <a:srgbClr val="4E2A84"/>
            </a:solidFill>
            <a:headEnd type="arrow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800000" y="2280000"/>
            <a:ext cx="0" cy="280000"/>
          </a:xfrm>
          <a:prstGeom prst="line">
            <a:avLst/>
          </a:prstGeom>
          <a:ln w="19050">
            <a:solidFill>
              <a:srgbClr val="4E2A84"/>
            </a:solidFill>
            <a:headEnd type="arrow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800000" y="2930000"/>
            <a:ext cx="0" cy="280000"/>
          </a:xfrm>
          <a:prstGeom prst="line">
            <a:avLst/>
          </a:prstGeom>
          <a:ln w="19050">
            <a:solidFill>
              <a:srgbClr val="4E2A84"/>
            </a:solidFill>
            <a:headEnd type="arrow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900000" y="4400000"/>
            <a:ext cx="48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85858"/>
                </a:solidFill>
              </a:rPr>
              <a:t>Phrenic nerve length: ~30 cm (R) / ~35 cm (L)
Right shorter; left more vulnerable to mediastinal disease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Diaphragm Physiology and the Impact of Paralysis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Normal Function</a:t>
            </a:r>
          </a:p>
          <a:p>
            <a:pPr lvl="2"/>
            <a:r>
              <a:t>Primary muscle of inspiration — ~70% of tidal volume at rest</a:t>
            </a:r>
          </a:p>
          <a:p>
            <a:pPr lvl="2"/>
            <a:r>
              <a:t>Contraction lowers dome, increases thoracic volume, creates negative intrathoracic pressure</a:t>
            </a:r>
          </a:p>
          <a:p>
            <a:pPr/>
            <a:r>
              <a:rPr b="1"/>
              <a:t>Unilateral Paralysis</a:t>
            </a:r>
          </a:p>
          <a:p>
            <a:pPr lvl="2"/>
            <a:r>
              <a:t>Paradoxical upward movement on affected side during inspiration</a:t>
            </a:r>
          </a:p>
          <a:p>
            <a:pPr lvl="2"/>
            <a:r>
              <a:t>FVC: ↓20–30% upright; ↓40–50% supine (gravitational visceral shift)</a:t>
            </a:r>
          </a:p>
          <a:p>
            <a:pPr lvl="2"/>
            <a:r>
              <a:t>Often asymptomatic in otherwise healthy adults; symptomatic with any comorbidity</a:t>
            </a:r>
          </a:p>
          <a:p>
            <a:pPr/>
            <a:r>
              <a:rPr b="1"/>
              <a:t>Bilateral Paralysis</a:t>
            </a:r>
          </a:p>
          <a:p>
            <a:pPr lvl="2"/>
            <a:r>
              <a:t>Severe orthopnea; FVC ↓50%+ supine vs. upright</a:t>
            </a:r>
          </a:p>
          <a:p>
            <a:pPr lvl="2"/>
            <a:r>
              <a:t>Nocturnal hypoventilation → morning headache, hypersomnolence, hypercapnia</a:t>
            </a:r>
          </a:p>
          <a:p>
            <a:pPr lvl="2"/>
            <a:r>
              <a:t>Typically requires NIV or ventilatory support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Understanding compensation and decompensation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Non-Traumatic Etiologies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Organized by mechanism: neuromuscular, autoimmune/inflammatory, and structural/physical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Causes of Non-Traumatic Diaphragm Dysfunction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Neuromuscular</a:t>
            </a:r>
          </a:p>
          <a:p>
            <a:pPr lvl="2"/>
            <a:r>
              <a:t>ALS (amyotrophic lateral sclerosis)</a:t>
            </a:r>
          </a:p>
          <a:p>
            <a:pPr lvl="2"/>
            <a:r>
              <a:t>Duchenne / Becker / Limb-girdle MD</a:t>
            </a:r>
          </a:p>
          <a:p>
            <a:pPr lvl="2"/>
            <a:r>
              <a:t>Pompe disease (acid maltase deficiency)</a:t>
            </a:r>
          </a:p>
          <a:p>
            <a:pPr lvl="2"/>
            <a:r>
              <a:t>Mitochondrial myopathies</a:t>
            </a:r>
          </a:p>
          <a:p>
            <a:pPr lvl="2"/>
            <a:r>
              <a:t>Critical illness myopathy (CIM)</a:t>
            </a:r>
          </a:p>
          <a:p>
            <a:pPr lvl="2"/>
            <a:r>
              <a:t>Ventilator-induced diaphragm dysfunction</a:t>
            </a:r>
          </a:p>
          <a:p>
            <a:pPr lvl="2"/>
            <a:r>
              <a:t>Cervical SCI (C3–C5)</a:t>
            </a:r>
          </a:p>
          <a:p>
            <a:pPr lvl="2"/>
            <a:r>
              <a:t>Cervical myelopathy / disc herniation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Organized by mechanism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pPr/>
            <a:r>
              <a:rPr b="1"/>
              <a:t>Autoimmune / Inflammatory</a:t>
            </a:r>
          </a:p>
          <a:p>
            <a:pPr lvl="2"/>
            <a:r>
              <a:t>Parsonage-Turner syndrome (neuralgic amyotrophy)</a:t>
            </a:r>
          </a:p>
          <a:p>
            <a:pPr lvl="2"/>
            <a:r>
              <a:t>Myasthenia gravis</a:t>
            </a:r>
          </a:p>
          <a:p>
            <a:pPr lvl="2"/>
            <a:r>
              <a:t>Lambert-Eaton myasthenic syndrome</a:t>
            </a:r>
          </a:p>
          <a:p>
            <a:pPr lvl="2"/>
            <a:r>
              <a:t>Guillain-Barré syndrome</a:t>
            </a:r>
          </a:p>
          <a:p>
            <a:pPr lvl="2"/>
            <a:r>
              <a:t>CIDP (chronic inflammatory demyelinating polyneuropathy)</a:t>
            </a:r>
          </a:p>
          <a:p>
            <a:pPr lvl="2"/>
            <a:r>
              <a:t>Viral phrenic neuritis (EBV, CMV, COVID-19)</a:t>
            </a:r>
          </a:p>
          <a:p>
            <a:pPr lvl="2"/>
            <a:r>
              <a:t>Vasculitis (PAN, SLE)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5"/>
          </p:nvPr>
        </p:nvSpPr>
        <p:spPr/>
        <p:txBody>
          <a:bodyPr/>
          <a:lstStyle/>
          <a:p>
            <a:pPr/>
            <a:r>
              <a:rPr b="1"/>
              <a:t>Structural / Physical</a:t>
            </a:r>
          </a:p>
          <a:p>
            <a:pPr lvl="2"/>
            <a:r>
              <a:t>Iatrogenic phrenic nerve injury (cardiac surgery, cryoablation, central lines)</a:t>
            </a:r>
          </a:p>
          <a:p>
            <a:pPr lvl="2"/>
            <a:r>
              <a:t>Radiation-induced phrenic neuropathy</a:t>
            </a:r>
          </a:p>
          <a:p>
            <a:pPr lvl="2"/>
            <a:r>
              <a:t>Mediastinal tumor / lymphadenopathy</a:t>
            </a:r>
          </a:p>
          <a:p>
            <a:pPr lvl="2"/>
            <a:r>
              <a:t>Thoracic aortic aneurysm</a:t>
            </a:r>
          </a:p>
          <a:p>
            <a:pPr lvl="2"/>
            <a:r>
              <a:t>Substernal goiter / thyroid mass</a:t>
            </a:r>
          </a:p>
          <a:p>
            <a:pPr lvl="2"/>
            <a:r>
              <a:t>Cervical rib / thoracic outlet syndrome</a:t>
            </a:r>
          </a:p>
          <a:p>
            <a:pPr lvl="2"/>
            <a:r>
              <a:t>Lung cancer (Pancoast, central)</a:t>
            </a:r>
          </a:p>
          <a:p>
            <a:pPr lvl="2"/>
            <a:r>
              <a:t>Idiopathic (~10–20% unilateral cases)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Iatrogenic Phrenic Nerve Injury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Cardiac Surgery</a:t>
            </a:r>
          </a:p>
          <a:p>
            <a:pPr lvl="2"/>
            <a:r>
              <a:t>Incidence 0.3–9.7% after CABG or valve surgery</a:t>
            </a:r>
          </a:p>
          <a:p>
            <a:pPr lvl="2"/>
            <a:r>
              <a:t>Mechanisms: cold cardioplegia ice slush, left IMA harvest traction</a:t>
            </a:r>
          </a:p>
          <a:p>
            <a:pPr lvl="2"/>
            <a:r>
              <a:t>Most recover 6–12 months; persistent palsy in ~1–2%</a:t>
            </a:r>
          </a:p>
          <a:p>
            <a:pPr/>
            <a:r>
              <a:rPr b="1"/>
              <a:t>Catheter Ablation (AF)</a:t>
            </a:r>
          </a:p>
          <a:p>
            <a:pPr lvl="2"/>
            <a:r>
              <a:t>Cryoablation: phrenic injury 0.4–11%; real-time phrenic pacing now standard</a:t>
            </a:r>
          </a:p>
          <a:p>
            <a:pPr lvl="2"/>
            <a:r>
              <a:t>RF ablation: rare, &lt;1%</a:t>
            </a:r>
          </a:p>
          <a:p>
            <a:pPr/>
            <a:r>
              <a:rPr b="1"/>
              <a:t>Central Lines / Regional Blocks</a:t>
            </a:r>
          </a:p>
          <a:p>
            <a:pPr lvl="2"/>
            <a:r>
              <a:t>Subclavian/IJ catheterization, interscalene brachial plexus block (~100% transient phrenic block)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Most common identifiable cause — ask about every prior chest/neck/cardiac procedure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pPr/>
            <a:r>
              <a:rPr b="1"/>
              <a:t>Other Surgical Causes</a:t>
            </a:r>
          </a:p>
          <a:p>
            <a:pPr lvl="2"/>
            <a:r>
              <a:t>Cervical spine surgery (C3–C5): direct trauma or retraction</a:t>
            </a:r>
          </a:p>
          <a:p>
            <a:pPr lvl="2"/>
            <a:r>
              <a:t>Thoracic surgery: lobectomy, pneumonectomy, mediastinal dissection</a:t>
            </a:r>
          </a:p>
          <a:p>
            <a:pPr lvl="2"/>
            <a:r>
              <a:t>Esophagectomy, thyroidectomy, neck dissection</a:t>
            </a:r>
          </a:p>
          <a:p>
            <a:pPr/>
            <a:r>
              <a:rPr b="1"/>
              <a:t>Radiation Therapy</a:t>
            </a:r>
          </a:p>
          <a:p>
            <a:pPr lvl="2"/>
            <a:r>
              <a:t>Delayed: months–years after mediastinal or cervical fields</a:t>
            </a:r>
          </a:p>
          <a:p>
            <a:pPr lvl="2"/>
            <a:r>
              <a:t>Progressive fibrosis → often irreversible</a:t>
            </a:r>
          </a:p>
          <a:p>
            <a:pPr lvl="2"/>
            <a:r>
              <a:t>Lymphoma, lung cancer, breast cancer RT most implicated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Parsonage-Turner Syndrome (Neuralgic Amyotrophy)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Definition &amp; Epidemiology</a:t>
            </a:r>
          </a:p>
          <a:p>
            <a:pPr lvl="2"/>
            <a:r>
              <a:t>Idiopathic inflammatory brachial plexus neuropathy; incidence ~1–3/100,000/year</a:t>
            </a:r>
          </a:p>
          <a:p>
            <a:pPr lvl="2"/>
            <a:r>
              <a:t>Phrenic nerve involved in ~7% of PTS; bilateral phrenic in ~7% of those</a:t>
            </a:r>
          </a:p>
          <a:p>
            <a:pPr lvl="2"/>
            <a:r>
              <a:t>Hereditary form (SEPT9 mutation): more frequent phrenic involvement</a:t>
            </a:r>
          </a:p>
          <a:p>
            <a:pPr/>
            <a:r>
              <a:rPr b="1"/>
              <a:t>Pathophysiology</a:t>
            </a:r>
          </a:p>
          <a:p>
            <a:pPr lvl="2"/>
            <a:r>
              <a:t>Immune-mediated focal demyelination and axonal injury of peripheral nerves</a:t>
            </a:r>
          </a:p>
          <a:p>
            <a:pPr lvl="2"/>
            <a:r>
              <a:t>Triggers: viral illness (EBV, CMV, COVID-19), surgery, vaccination, intense exercise</a:t>
            </a:r>
          </a:p>
          <a:p>
            <a:pPr/>
            <a:r>
              <a:rPr b="1"/>
              <a:t>Clinical Presentation</a:t>
            </a:r>
          </a:p>
          <a:p>
            <a:pPr lvl="2"/>
            <a:r>
              <a:t>Classic: acute severe shoulder/arm pain → progressive weakness</a:t>
            </a:r>
          </a:p>
          <a:p>
            <a:pPr lvl="2"/>
            <a:r>
              <a:t>Phrenic-predominant variant: dyspnea without arm pain — commonly missed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An underrecognized immune-mediated phrenic neuropathy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pPr/>
            <a:r>
              <a:rPr b="1"/>
              <a:t>Diagnosis</a:t>
            </a:r>
          </a:p>
          <a:p>
            <a:pPr lvl="2"/>
            <a:r>
              <a:t>CXR: elevated hemidiaphragm</a:t>
            </a:r>
          </a:p>
          <a:p>
            <a:pPr lvl="2"/>
            <a:r>
              <a:t>Sniff fluoroscopy: paradoxical diaphragm movement</a:t>
            </a:r>
          </a:p>
          <a:p>
            <a:pPr lvl="2"/>
            <a:r>
              <a:t>MRI brachial plexus: hourglass nerve constriction, T2 signal in denervated muscles</a:t>
            </a:r>
          </a:p>
          <a:p>
            <a:pPr lvl="2"/>
            <a:r>
              <a:t>Phrenic NCS: absent/reduced CMAP; needle EMG: fibrillations in diaphragm</a:t>
            </a:r>
          </a:p>
          <a:p>
            <a:pPr/>
            <a:r>
              <a:rPr b="1"/>
              <a:t>Prognosis &amp; Treatment</a:t>
            </a:r>
          </a:p>
          <a:p>
            <a:pPr lvl="2"/>
            <a:r>
              <a:t>Spontaneous recovery 70–80% at 2–3 years</a:t>
            </a:r>
          </a:p>
          <a:p>
            <a:pPr lvl="2"/>
            <a:r>
              <a:t>High-dose corticosteroids: may shorten acute pain; uncertain effect on recovery</a:t>
            </a:r>
          </a:p>
          <a:p>
            <a:pPr lvl="2"/>
            <a:r>
              <a:t>IVIG: emerging evidence for severe/non-recovering cases</a:t>
            </a:r>
          </a:p>
          <a:p>
            <a:pPr lvl="2"/>
            <a:r>
              <a:t>Plication: consider if no recovery after 18–24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Cervical Spinal Cord Disease and Diaphragm Dysfunction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Cervical Spinal Cord Injury (SCI)</a:t>
            </a:r>
          </a:p>
          <a:p>
            <a:pPr lvl="2"/>
            <a:r>
              <a:t>C1–C2 complete: no diaphragm function — full ventilator dependence</a:t>
            </a:r>
          </a:p>
          <a:p>
            <a:pPr lvl="2"/>
            <a:r>
              <a:t>C3–C4 complete: partial diaphragm function — usually requires ventilatory support</a:t>
            </a:r>
          </a:p>
          <a:p>
            <a:pPr lvl="2"/>
            <a:r>
              <a:t>C5 and below: diaphragm largely intact; accessory muscles impaired</a:t>
            </a:r>
          </a:p>
          <a:p>
            <a:pPr lvl="2"/>
            <a:r>
              <a:t>~22,000 new SCIs/year in US; ~60% cervical; ~30% ventilator-dependent at discharge</a:t>
            </a:r>
          </a:p>
          <a:p>
            <a:pPr/>
            <a:r>
              <a:rPr b="1"/>
              <a:t>Cervical Myelopathy (Degenerative)</a:t>
            </a:r>
          </a:p>
          <a:p>
            <a:pPr lvl="2"/>
            <a:r>
              <a:t>Progressive cord compression at C3–C5; insidious dyspnea often misattributed</a:t>
            </a:r>
          </a:p>
          <a:p>
            <a:pPr lvl="2"/>
            <a:r>
              <a:t>Decompressive surgery can halt or partially reverse dysfunction</a:t>
            </a:r>
          </a:p>
          <a:p>
            <a:pPr/>
            <a:r>
              <a:rPr b="1"/>
              <a:t>Cervical Disc Herniation (C3–C5)</a:t>
            </a:r>
          </a:p>
          <a:p>
            <a:pPr lvl="2"/>
            <a:r>
              <a:t>Rare but documented cause of acute unilateral diaphragm paresis</a:t>
            </a:r>
          </a:p>
          <a:p>
            <a:pPr lvl="2"/>
            <a:r>
              <a:t>Surgical decompression usually leads to recovery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Phrenic motor neurons at C3–C5 are the critical link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pPr/>
            <a:r>
              <a:rPr b="1"/>
              <a:t>ALS — Motor Neuron Disease</a:t>
            </a:r>
          </a:p>
          <a:p>
            <a:pPr lvl="2"/>
            <a:r>
              <a:t>Diaphragm involvement heralds respiratory failure; "respiratory-onset" ALS well-described</a:t>
            </a:r>
          </a:p>
          <a:p>
            <a:pPr lvl="2"/>
            <a:r>
              <a:t>FVC &lt;50%: strong predictor of 12-month mortality without NIV</a:t>
            </a:r>
          </a:p>
          <a:p>
            <a:pPr/>
            <a:r>
              <a:rPr b="1"/>
              <a:t>Monitoring Recommendations</a:t>
            </a:r>
          </a:p>
          <a:p>
            <a:pPr lvl="2"/>
            <a:r>
              <a:t>Serial supine FVC measurement in all cervical SCI patients</a:t>
            </a:r>
          </a:p>
          <a:p>
            <a:pPr lvl="2"/>
            <a:r>
              <a:t>Nocturnal oximetry to detect early hypoventilation</a:t>
            </a:r>
          </a:p>
          <a:p>
            <a:pPr lvl="2"/>
            <a:r>
              <a:t>Phrenic NCS to assess lower motor neuron integrity before considering pacing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Critical Illness Diaphragmatic Dysfunction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Epidemiology</a:t>
            </a:r>
          </a:p>
          <a:p>
            <a:pPr lvl="2"/>
            <a:r>
              <a:t>Diaphragm dysfunction present in 64–80% of ICU patients at admission</a:t>
            </a:r>
          </a:p>
          <a:p>
            <a:pPr lvl="2"/>
            <a:r>
              <a:t>Independently associated with prolonged ventilation, ICU LOS, and mortality</a:t>
            </a:r>
          </a:p>
          <a:p>
            <a:pPr/>
            <a:r>
              <a:rPr b="1"/>
              <a:t>Ventilator-Induced Diaphragm Dysfunction (VIDD)</a:t>
            </a:r>
          </a:p>
          <a:p>
            <a:pPr lvl="2"/>
            <a:r>
              <a:t>Controlled MV causes diaphragm atrophy within 18–69 hours (animal and human data)</a:t>
            </a:r>
          </a:p>
          <a:p>
            <a:pPr lvl="2"/>
            <a:r>
              <a:t>Myofibril loss, oxidative stress, proteolysis → ↓ force-generating capacity</a:t>
            </a:r>
          </a:p>
          <a:p>
            <a:pPr lvl="2"/>
            <a:r>
              <a:t>Magnitude: 6% force loss per day of controlled ventilation in humans</a:t>
            </a:r>
          </a:p>
          <a:p>
            <a:pPr/>
            <a:r>
              <a:rPr b="1"/>
              <a:t>Critical Illness Polyneuropathy / Myopathy (CIP/CIM)</a:t>
            </a:r>
          </a:p>
          <a:p>
            <a:pPr lvl="2"/>
            <a:r>
              <a:t>ICU-acquired weakness in up to 60% of patients with sepsis or MODS</a:t>
            </a:r>
          </a:p>
          <a:p>
            <a:pPr lvl="2"/>
            <a:r>
              <a:t>Phrenic nerve involvement impairs spontaneous breathing trial success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An ICU-acquired syndrome with major impact on weaning and survival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pPr/>
            <a:r>
              <a:rPr b="1"/>
              <a:t>Diagnosis in the ICU</a:t>
            </a:r>
          </a:p>
          <a:p>
            <a:pPr lvl="2"/>
            <a:r>
              <a:t>Bedside ultrasound: thickening fraction &lt;20% → paralysis/paresis</a:t>
            </a:r>
          </a:p>
          <a:p>
            <a:pPr lvl="2"/>
            <a:r>
              <a:t>Excursion &lt;10 mm (tidal), &lt;25 mm (deep breath) → dysfunction</a:t>
            </a:r>
          </a:p>
          <a:p>
            <a:pPr lvl="2"/>
            <a:r>
              <a:t>Phrenic nerve magnetic stimulation: non-volitional assessment of strength</a:t>
            </a:r>
          </a:p>
          <a:p>
            <a:pPr/>
            <a:r>
              <a:rPr b="1"/>
              <a:t>Prevention &amp; Treatment</a:t>
            </a:r>
          </a:p>
          <a:p>
            <a:pPr lvl="2"/>
            <a:r>
              <a:t>Avoid controlled ventilation: use assisted modes (PSV, NAVA) to maintain diaphragm activity</a:t>
            </a:r>
          </a:p>
          <a:p>
            <a:pPr lvl="2"/>
            <a:r>
              <a:t>Avoid over-assistance: excessive support also causes disuse atrophy (reverse VIDD)</a:t>
            </a:r>
          </a:p>
          <a:p>
            <a:pPr lvl="2"/>
            <a:r>
              <a:t>Inspiratory muscle training during weaning: emerging evidence for accelerating liberation</a:t>
            </a:r>
          </a:p>
          <a:p>
            <a:pPr lvl="2"/>
            <a:r>
              <a:t>Treat underlying sepsis/MODS aggressively — CIP/CIM often partially reversible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Neuromuscular Disorders Causing Diaphragm Dysfunction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ALS</a:t>
            </a:r>
          </a:p>
          <a:p>
            <a:pPr lvl="2"/>
            <a:r>
              <a:t>Diaphragm inevitably involved; NIV at FVC &lt;50% extends survival ~7 months</a:t>
            </a:r>
          </a:p>
          <a:p>
            <a:pPr/>
            <a:r>
              <a:rPr b="1"/>
              <a:t>Myasthenia Gravis</a:t>
            </a:r>
          </a:p>
          <a:p>
            <a:pPr lvl="2"/>
            <a:r>
              <a:t>Myasthenic crisis: acute diaphragm/accessory muscle fatigability → respiratory failure</a:t>
            </a:r>
          </a:p>
          <a:p>
            <a:pPr lvl="2"/>
            <a:r>
              <a:t>Plasma exchange or IVIG; BiPAP/intubation as needed</a:t>
            </a:r>
          </a:p>
          <a:p>
            <a:pPr/>
            <a:r>
              <a:rPr b="1"/>
              <a:t>Pompe Disease (Acid Maltase Deficiency)</a:t>
            </a:r>
          </a:p>
          <a:p>
            <a:pPr lvl="2"/>
            <a:r>
              <a:t>Adult-onset: unexplained proximal weakness + respiratory failure</a:t>
            </a:r>
          </a:p>
          <a:p>
            <a:pPr lvl="2"/>
            <a:r>
              <a:t>Diagnosis: GAA enzyme activity; treatment: alglucosidase alfa (ERT)</a:t>
            </a:r>
          </a:p>
          <a:p>
            <a:pPr/>
            <a:r>
              <a:rPr b="1"/>
              <a:t>Muscular Dystrophies</a:t>
            </a:r>
          </a:p>
          <a:p>
            <a:pPr lvl="2"/>
            <a:r>
              <a:t>Duchenne: diaphragm weakness by 2nd decade; NIV extends median survival ~25 years</a:t>
            </a:r>
          </a:p>
          <a:p>
            <a:pPr lvl="2"/>
            <a:r>
              <a:t>Emery-Dreifuss, LGMD subtypes: variable but important respiratory involvement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Diaphragm involvement determines prognosis and survival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pPr/>
            <a:r>
              <a:rPr b="1"/>
              <a:t>Guillain-Barré Syndrome</a:t>
            </a:r>
          </a:p>
          <a:p>
            <a:pPr lvl="2"/>
            <a:r>
              <a:t>Ascending paralysis reaches diaphragm in ~30%; IVIG or plasmapheresis; most recover</a:t>
            </a:r>
          </a:p>
          <a:p>
            <a:pPr/>
            <a:r>
              <a:rPr b="1"/>
              <a:t>CIDP (Chronic Inflammatory Demyelinating Polyneuropathy)</a:t>
            </a:r>
          </a:p>
          <a:p>
            <a:pPr lvl="2"/>
            <a:r>
              <a:t>Rare cause of bilateral phrenic palsy; responds to immunotherapy</a:t>
            </a:r>
          </a:p>
          <a:p>
            <a:pPr/>
            <a:r>
              <a:rPr b="1"/>
              <a:t>Lambert-Eaton Myasthenic Syndrome</a:t>
            </a:r>
          </a:p>
          <a:p>
            <a:pPr lvl="2"/>
            <a:r>
              <a:t>Paraneoplastic (SCLC) or autoimmune (anti-VGCC); proximal &gt; respiratory involvement</a:t>
            </a:r>
          </a:p>
          <a:p>
            <a:pPr/>
            <a:r>
              <a:rPr b="1"/>
              <a:t>Key Principle</a:t>
            </a:r>
          </a:p>
          <a:p>
            <a:pPr lvl="2"/>
            <a:r>
              <a:t>For any unexplained adult respiratory failure, rule out treatable neuromuscular disease before attributing to "idiopathic"</a:t>
            </a:r>
          </a:p>
          <a:p>
            <a:pPr lvl="2"/>
            <a:r>
              <a:t>Minimum workup: AChR/anti-MuSK Ab, GAA activity, CK, paraneoplastic panel, NCS/EMG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Diagnosis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From bedside examination to advanced neurophysiology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Clinical Presentation of Diaphragm Dysfunction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Symptoms</a:t>
            </a:r>
          </a:p>
          <a:p>
            <a:pPr lvl="2"/>
            <a:r>
              <a:t>Dyspnea on exertion — often the first complaint in unilateral paralysis</a:t>
            </a:r>
          </a:p>
          <a:p>
            <a:pPr lvl="2"/>
            <a:r>
              <a:t>Orthopnea: worsening dyspnea supine — hallmark of bilateral dysfunction</a:t>
            </a:r>
          </a:p>
          <a:p>
            <a:pPr lvl="2"/>
            <a:r>
              <a:t>Paradoxical abdominal movement on inspiration</a:t>
            </a:r>
          </a:p>
          <a:p>
            <a:pPr lvl="2"/>
            <a:r>
              <a:t>Difficulty sleeping flat; nocturnal desaturation, morning headache (CO₂ retention)</a:t>
            </a:r>
          </a:p>
          <a:p>
            <a:pPr lvl="2"/>
            <a:r>
              <a:t>Impaired cough → recurrent aspiration pneumonia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Spectrum from incidental CXR finding to acute respiratory failure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pPr/>
            <a:r>
              <a:rPr b="1"/>
              <a:t>Physical Examination</a:t>
            </a:r>
          </a:p>
          <a:p>
            <a:pPr lvl="2"/>
            <a:r>
              <a:t>Reduced breath sounds at affected base</a:t>
            </a:r>
          </a:p>
          <a:p>
            <a:pPr lvl="2"/>
            <a:r>
              <a:t>Accessory muscle use at rest → suggests bilateral/severe involvement</a:t>
            </a:r>
          </a:p>
          <a:p>
            <a:pPr lvl="2"/>
            <a:r>
              <a:t>Abdominal paradox: abdomen moves inward during inspiration</a:t>
            </a:r>
          </a:p>
          <a:p>
            <a:pPr lvl="2"/>
            <a:r>
              <a:t>Neurologic exam: limb weakness, fasciculations (ALS, myelopathy), reflexes</a:t>
            </a:r>
          </a:p>
          <a:p>
            <a:pPr/>
            <a:r>
              <a:rPr b="1"/>
              <a:t>Failure Spectrum</a:t>
            </a:r>
          </a:p>
          <a:p>
            <a:pPr lvl="2"/>
            <a:r>
              <a:t>Incidental: asymptomatic hemidiaphragm elevation on CXR</a:t>
            </a:r>
          </a:p>
          <a:p>
            <a:pPr lvl="2"/>
            <a:r>
              <a:t>Moderate: exertional dyspnea, orthopnea, exercise intolerance</a:t>
            </a:r>
          </a:p>
          <a:p>
            <a:pPr lvl="2"/>
            <a:r>
              <a:t>Severe: chronic hypercapnic respiratory failure, cor pulmonale, NIV dependence</a:t>
            </a:r>
          </a:p>
          <a:p>
            <a:pPr lvl="2"/>
            <a:r>
              <a:t>Acute crisis: ventilatory failure requiring emergent intubation (MG crisis, GBS)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Diagnostic Workup for Diaphragm Dysfunction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Chest X-Ray</a:t>
            </a:r>
          </a:p>
          <a:p>
            <a:pPr lvl="2"/>
            <a:r>
              <a:t>Elevated hemidiaphragm; compare to prior films to determine acuity</a:t>
            </a:r>
          </a:p>
          <a:p>
            <a:pPr/>
            <a:r>
              <a:rPr b="1"/>
              <a:t>Fluoroscopic Sniff Test</a:t>
            </a:r>
          </a:p>
          <a:p>
            <a:pPr lvl="2"/>
            <a:r>
              <a:t>Paradoxical upward movement on sniff = paralysis; sensitivity ~90% unilateral</a:t>
            </a:r>
          </a:p>
          <a:p>
            <a:pPr lvl="2"/>
            <a:r>
              <a:t>False-negative possible in bilateral (accessory muscles mask paradox)</a:t>
            </a:r>
          </a:p>
          <a:p>
            <a:pPr/>
            <a:r>
              <a:rPr b="1"/>
              <a:t>Diaphragm Ultrasound (M-mode)</a:t>
            </a:r>
          </a:p>
          <a:p>
            <a:pPr lvl="2"/>
            <a:r>
              <a:t>Thickening fraction &lt;20% during tidal breathing = paralysis/paresis</a:t>
            </a:r>
          </a:p>
          <a:p>
            <a:pPr lvl="2"/>
            <a:r>
              <a:t>Excursion: &lt;10 mm tidal / &lt;25 mm deep breath = reduced</a:t>
            </a:r>
          </a:p>
          <a:p>
            <a:pPr/>
            <a:r>
              <a:rPr b="1"/>
              <a:t>Pulmonary Function Tests</a:t>
            </a:r>
          </a:p>
          <a:p>
            <a:pPr lvl="2"/>
            <a:r>
              <a:t>Supine vs upright FVC: &gt;20% fall = diaphragm dysfunction; &gt;50% = likely bilateral</a:t>
            </a:r>
          </a:p>
          <a:p>
            <a:pPr lvl="2"/>
            <a:r>
              <a:t>MIP &lt;25 cmH₂O and SNIP &lt;40 cmH₂O: predict respiratory failure in neuromuscular disease</a:t>
            </a:r>
          </a:p>
          <a:p>
            <a:pPr/>
            <a:r>
              <a:rPr b="1"/>
              <a:t>Phrenic NCS / Needle EMG</a:t>
            </a:r>
          </a:p>
          <a:p>
            <a:pPr lvl="2"/>
            <a:r>
              <a:t>Cervical phrenic stimulation → epigastric CMAP; absent/reduced = neuropathy</a:t>
            </a:r>
          </a:p>
          <a:p>
            <a:pPr lvl="2"/>
            <a:r>
              <a:t>Diaphragm needle EMG: fibrillations/PSWs confirm denervation; MUP analysis for prognosis</a:t>
            </a:r>
          </a:p>
          <a:p>
            <a:pPr/>
            <a:r>
              <a:rPr b="1"/>
              <a:t>CT / MRI</a:t>
            </a:r>
          </a:p>
          <a:p>
            <a:pPr lvl="2"/>
            <a:r>
              <a:t>Structural causes (mediastinal mass, C-spine disease); MRI brachial plexus for PTS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Combine anatomic imaging, functional testing, and neurophysiology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Management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From observation to plication to diaphragm pacing and nerve reconstruction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Conservative and Medical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Treat the Underlying Etiology</a:t>
            </a:r>
          </a:p>
          <a:p>
            <a:pPr lvl="2"/>
            <a:r>
              <a:t>Parsonage-Turner: corticosteroids for acute pain; IVIG for refractory cases</a:t>
            </a:r>
          </a:p>
          <a:p>
            <a:pPr lvl="2"/>
            <a:r>
              <a:t>Myasthenia gravis: pyridostigmine, immunosuppression, thymectomy, plasma exchange/IVIG in crisis</a:t>
            </a:r>
          </a:p>
          <a:p>
            <a:pPr lvl="2"/>
            <a:r>
              <a:t>Cervical myelopathy/disc: surgical decompression may restore phrenic function</a:t>
            </a:r>
          </a:p>
          <a:p>
            <a:pPr lvl="2"/>
            <a:r>
              <a:t>Pompe disease: enzyme replacement therapy (alglucosidase alfa)</a:t>
            </a:r>
          </a:p>
          <a:p>
            <a:pPr lvl="2"/>
            <a:r>
              <a:t>GBS: IVIG or plasma exchange; ventilatory support during nadir</a:t>
            </a:r>
          </a:p>
          <a:p>
            <a:pPr/>
            <a:r>
              <a:rPr b="1"/>
              <a:t>Observation</a:t>
            </a:r>
          </a:p>
          <a:p>
            <a:pPr lvl="2"/>
            <a:r>
              <a:t>Asymptomatic unilateral paralysis with normal reserve: serial PFTs every 6–12 months</a:t>
            </a:r>
          </a:p>
          <a:p>
            <a:pPr lvl="2"/>
            <a:r>
              <a:t>Iatrogenic injury: observe 12–18 months for spontaneous recovery before surgical intervention</a:t>
            </a:r>
          </a:p>
          <a:p>
            <a:pPr lvl="2"/>
            <a:r>
              <a:t>Parsonage-Turner: observe 18–24 months; most recover without surgery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Treat the cause first — optimize respiratory reserve before surgical intervention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pPr/>
            <a:r>
              <a:rPr b="1"/>
              <a:t>Non-Invasive Ventilation (NIV)</a:t>
            </a:r>
          </a:p>
          <a:p>
            <a:pPr lvl="2"/>
            <a:r>
              <a:t>BiPAP/CPAP for nocturnal hypoventilation: first-line for bilateral paralysis</a:t>
            </a:r>
          </a:p>
          <a:p>
            <a:pPr lvl="2"/>
            <a:r>
              <a:t>ALS: initiate at FVC &lt;50% or symptomatic (Level I evidence for survival benefit)</a:t>
            </a:r>
          </a:p>
          <a:p>
            <a:pPr lvl="2"/>
            <a:r>
              <a:t>Muscular dystrophy: NIV as bridge to pacing or tracheostomy</a:t>
            </a:r>
          </a:p>
          <a:p>
            <a:pPr lvl="2"/>
            <a:r>
              <a:t>Target: nocturnal SpO₂ &gt;94%, morning PCO₂ normalization</a:t>
            </a:r>
          </a:p>
          <a:p>
            <a:pPr/>
            <a:r>
              <a:rPr b="1"/>
              <a:t>Pulmonary Rehabilitation</a:t>
            </a:r>
          </a:p>
          <a:p>
            <a:pPr lvl="2"/>
            <a:r>
              <a:t>Inspiratory muscle training: improves endurance in partial dysfunction</a:t>
            </a:r>
          </a:p>
          <a:p>
            <a:pPr lvl="2"/>
            <a:r>
              <a:t>Mechanically assisted cough (CoughAssist): airway clearance in neuromuscular patients</a:t>
            </a:r>
          </a:p>
          <a:p>
            <a:pPr lvl="2"/>
            <a:r>
              <a:t>Positioning: head-of-bed elevation reduces orthopnea; prone positioning in selected ICU patients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Spontaneous Recovery of Phrenic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/>
            <a:r>
              <a:rPr b="1"/>
              <a:t>Key Data Points (van Alfen 2006)</a:t>
            </a:r>
          </a:p>
          <a:p>
            <a:pPr lvl="2"/>
            <a:r>
              <a:t>36% show meaningful recovery at 1 year</a:t>
            </a:r>
          </a:p>
          <a:p>
            <a:pPr lvl="2"/>
            <a:r>
              <a:t>75% show meaningful recovery at 2 years</a:t>
            </a:r>
          </a:p>
          <a:p>
            <a:pPr lvl="2"/>
            <a:r>
              <a:t>89% show meaningful recovery at 3 years</a:t>
            </a:r>
          </a:p>
          <a:p>
            <a:pPr lvl="2"/>
            <a:r>
              <a:t>~10% have incomplete/no recovery at 3 years</a:t>
            </a:r>
          </a:p>
          <a:p>
            <a:pPr/>
            <a:r>
              <a:rPr b="1"/>
              <a:t>Predictors of Poorer Recovery</a:t>
            </a:r>
          </a:p>
          <a:p>
            <a:pPr lvl="2"/>
            <a:r>
              <a:t>Bilateral phrenic involvement</a:t>
            </a:r>
          </a:p>
          <a:p>
            <a:pPr lvl="2"/>
            <a:r>
              <a:t>Hereditary form (SEPT9 mutation)</a:t>
            </a:r>
          </a:p>
          <a:p>
            <a:pPr lvl="2"/>
            <a:r>
              <a:t>Severe initial axonal loss on EMG/NCS</a:t>
            </a:r>
          </a:p>
          <a:p>
            <a:pPr/>
            <a:r>
              <a:rPr b="1"/>
              <a:t>Iatrogenic Phrenic Injury Recovery</a:t>
            </a:r>
          </a:p>
          <a:p>
            <a:pPr lvl="2"/>
            <a:r>
              <a:t>Post-cardiac surgery: 80–85% recover within 12 months (Dimopoulou 1998)</a:t>
            </a:r>
          </a:p>
          <a:p>
            <a:pPr lvl="2"/>
            <a:r>
              <a:t>Post-cryoablation: ~90% transient; persistent palsy in &lt;1% (Sacher 2006)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Van Alfen et al. (Brain, 2006) — 246-patient series of neuralgic amyotrophy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4" sz="quarter"/>
          </p:nvPr>
        </p:nvSpPr>
        <p:spPr/>
        <p:txBody>
          <a:bodyPr/>
          <a:lstStyle/>
          <a:p/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400800" y="1371600"/>
          <a:ext cx="5303520" cy="4389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Diaphragm 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Indications</a:t>
            </a:r>
          </a:p>
          <a:p>
            <a:pPr lvl="2"/>
            <a:r>
              <a:t>Symptomatic unilateral paralysis persisting &gt;12–18 months with no expected neurologic recovery</a:t>
            </a:r>
          </a:p>
          <a:p>
            <a:pPr lvl="2"/>
            <a:r>
              <a:t>FVC &lt;70% predicted or significant orthopnea limiting quality of life</a:t>
            </a:r>
          </a:p>
          <a:p>
            <a:pPr lvl="2"/>
            <a:r>
              <a:t>Not appropriate for bilateral paralysis (does not improve overall ventilatory mechanics)</a:t>
            </a:r>
          </a:p>
          <a:p>
            <a:pPr/>
            <a:r>
              <a:rPr b="1"/>
              <a:t>Operative Technique</a:t>
            </a:r>
          </a:p>
          <a:p>
            <a:pPr lvl="2"/>
            <a:r>
              <a:t>VATS approach (2–3 ports): circumferential plication of the flaccid hemidiaphragm</a:t>
            </a:r>
          </a:p>
          <a:p>
            <a:pPr lvl="2"/>
            <a:r>
              <a:t>Multiple rows of non-absorbable sutures (0-Prolene): flatten and tension the dome</a:t>
            </a:r>
          </a:p>
          <a:p>
            <a:pPr lvl="2"/>
            <a:r>
              <a:t>Goal: eliminate paradoxical movement, restore mediastinal position</a:t>
            </a:r>
          </a:p>
          <a:p>
            <a:pPr lvl="2"/>
            <a:r>
              <a:t>Thoracotomy reserved for bilateral cases or if VATS not feasible</a:t>
            </a:r>
          </a:p>
          <a:p>
            <a:pPr/>
            <a:r>
              <a:rPr b="1"/>
              <a:t>Outcomes</a:t>
            </a:r>
          </a:p>
          <a:p>
            <a:pPr lvl="2"/>
            <a:r>
              <a:t>FVC improvement: +15–25% at 6 months; maintained at 5-year follow-up</a:t>
            </a:r>
          </a:p>
          <a:p>
            <a:pPr lvl="2"/>
            <a:r>
              <a:t>Dyspnea improvement in 80–90% of patients</a:t>
            </a:r>
          </a:p>
          <a:p>
            <a:pPr lvl="2"/>
            <a:r>
              <a:t>30-day mortality &lt;1%; recurrence of paradox rare with adequate suture tension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Effective for symptomatic unilateral paralysis refractory to conservative management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Diaphragm Plication: Intraoperative Views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VATS approach — 2 to 3 port technique</a:t>
            </a:r>
          </a:p>
        </p:txBody>
      </p:sp>
      <p:sp>
        <p:nvSpPr>
          <p:cNvPr id="4" name="Oval 3"/>
          <p:cNvSpPr/>
          <p:nvPr/>
        </p:nvSpPr>
        <p:spPr>
          <a:xfrm>
            <a:off x="1219200" y="1700000"/>
            <a:ext cx="3200000" cy="3400000"/>
          </a:xfrm>
          <a:prstGeom prst="ellipse">
            <a:avLst/>
          </a:prstGeom>
          <a:solidFill>
            <a:srgbClr val="D8D6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0">
                <a:solidFill>
                  <a:srgbClr val="585858"/>
                </a:solidFill>
              </a:rPr>
              <a:t>[ Image placeholder ]
Flaccid hemidiaphragm
before 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19200" y="5180000"/>
            <a:ext cx="3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85858"/>
                </a:solidFill>
              </a:rPr>
              <a:t>Paradoxical upward displacement
visible — liver/spleen elevated</a:t>
            </a:r>
          </a:p>
        </p:txBody>
      </p:sp>
      <p:sp>
        <p:nvSpPr>
          <p:cNvPr id="6" name="Oval 5"/>
          <p:cNvSpPr/>
          <p:nvPr/>
        </p:nvSpPr>
        <p:spPr>
          <a:xfrm>
            <a:off x="4876800" y="1700000"/>
            <a:ext cx="3200000" cy="3400000"/>
          </a:xfrm>
          <a:prstGeom prst="ellipse">
            <a:avLst/>
          </a:prstGeom>
          <a:solidFill>
            <a:srgbClr val="D8D6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0">
                <a:solidFill>
                  <a:srgbClr val="585858"/>
                </a:solidFill>
              </a:rPr>
              <a:t>[ Image placeholder ]
Suture placement
(0-Prolene horizontal mattress)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76800" y="5180000"/>
            <a:ext cx="3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85858"/>
                </a:solidFill>
              </a:rPr>
              <a:t>Multiple rows placed
from posterior to anterior</a:t>
            </a:r>
          </a:p>
        </p:txBody>
      </p:sp>
      <p:sp>
        <p:nvSpPr>
          <p:cNvPr id="8" name="Oval 7"/>
          <p:cNvSpPr/>
          <p:nvPr/>
        </p:nvSpPr>
        <p:spPr>
          <a:xfrm>
            <a:off x="8534400" y="1700000"/>
            <a:ext cx="3200000" cy="3400000"/>
          </a:xfrm>
          <a:prstGeom prst="ellipse">
            <a:avLst/>
          </a:prstGeom>
          <a:solidFill>
            <a:srgbClr val="D8D6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0">
                <a:solidFill>
                  <a:srgbClr val="585858"/>
                </a:solidFill>
              </a:rPr>
              <a:t>[ Image placeholder ]
Tensioned diaphragm
after plication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34400" y="5180000"/>
            <a:ext cx="3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85858"/>
                </a:solidFill>
              </a:rPr>
              <a:t>Dome lowered and flattened
Paradox eliminated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Surgical Techniques for Phrenic Nerve Reconstruction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Options depend on injury location, extent of loss, and time since injury</a:t>
            </a:r>
          </a:p>
        </p:txBody>
      </p:sp>
      <p:sp>
        <p:nvSpPr>
          <p:cNvPr id="4" name="Oval 3"/>
          <p:cNvSpPr/>
          <p:nvPr/>
        </p:nvSpPr>
        <p:spPr>
          <a:xfrm>
            <a:off x="160000" y="1450000"/>
            <a:ext cx="3400000" cy="500000"/>
          </a:xfrm>
          <a:prstGeom prst="ellipse">
            <a:avLst/>
          </a:prstGeom>
          <a:solidFill>
            <a:srgbClr val="4E2A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Nerve Transfer
(Neurotization)</a:t>
            </a:r>
          </a:p>
        </p:txBody>
      </p:sp>
      <p:sp>
        <p:nvSpPr>
          <p:cNvPr id="5" name="Oval 4"/>
          <p:cNvSpPr/>
          <p:nvPr/>
        </p:nvSpPr>
        <p:spPr>
          <a:xfrm>
            <a:off x="360000" y="2010000"/>
            <a:ext cx="900000" cy="380000"/>
          </a:xfrm>
          <a:prstGeom prst="ellipse">
            <a:avLst/>
          </a:prstGeom>
          <a:solidFill>
            <a:srgbClr val="D8D6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900" b="0">
                <a:solidFill>
                  <a:srgbClr val="585858"/>
                </a:solidFill>
              </a:rPr>
              <a:t>Proximal nerve</a:t>
            </a:r>
          </a:p>
        </p:txBody>
      </p:sp>
      <p:sp>
        <p:nvSpPr>
          <p:cNvPr id="6" name="Oval 5"/>
          <p:cNvSpPr/>
          <p:nvPr/>
        </p:nvSpPr>
        <p:spPr>
          <a:xfrm>
            <a:off x="2460000" y="2010000"/>
            <a:ext cx="900000" cy="380000"/>
          </a:xfrm>
          <a:prstGeom prst="ellipse">
            <a:avLst/>
          </a:prstGeom>
          <a:solidFill>
            <a:srgbClr val="D8D6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900" b="0">
                <a:solidFill>
                  <a:srgbClr val="585858"/>
                </a:solidFill>
              </a:rPr>
              <a:t>Distal nerve
(diaphragm)</a:t>
            </a:r>
          </a:p>
        </p:txBody>
      </p:sp>
      <p:sp>
        <p:nvSpPr>
          <p:cNvPr id="7" name="Oval 6"/>
          <p:cNvSpPr/>
          <p:nvPr/>
        </p:nvSpPr>
        <p:spPr>
          <a:xfrm>
            <a:off x="1360000" y="1660000"/>
            <a:ext cx="1000000" cy="340000"/>
          </a:xfrm>
          <a:prstGeom prst="ellipse">
            <a:avLst/>
          </a:prstGeom>
          <a:solidFill>
            <a:srgbClr val="007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800" b="0">
                <a:solidFill>
                  <a:srgbClr val="FFFFFF"/>
                </a:solidFill>
              </a:rPr>
              <a:t>Donor
(intercostal)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60000" y="2000000"/>
            <a:ext cx="0" cy="200000"/>
          </a:xfrm>
          <a:prstGeom prst="line">
            <a:avLst/>
          </a:prstGeom>
          <a:ln w="19050">
            <a:solidFill>
              <a:srgbClr val="4E2A84"/>
            </a:solidFill>
            <a:headEnd type="arrow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260000" y="2200000"/>
            <a:ext cx="1200000" cy="0"/>
          </a:xfrm>
          <a:prstGeom prst="line">
            <a:avLst/>
          </a:prstGeom>
          <a:ln w="19050">
            <a:solidFill>
              <a:srgbClr val="4E2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60000" y="4090000"/>
            <a:ext cx="34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585858"/>
                </a:solidFill>
              </a:rPr>
              <a:t>Donor nerve (e.g., intercostal or
spinal accessory) coapted to
distal phrenic stump
Best when proximal phrenic is
unavailable or irreversibly damaged</a:t>
            </a:r>
          </a:p>
        </p:txBody>
      </p:sp>
      <p:sp>
        <p:nvSpPr>
          <p:cNvPr id="11" name="Oval 10"/>
          <p:cNvSpPr/>
          <p:nvPr/>
        </p:nvSpPr>
        <p:spPr>
          <a:xfrm>
            <a:off x="4396000" y="1450000"/>
            <a:ext cx="3400000" cy="500000"/>
          </a:xfrm>
          <a:prstGeom prst="ellipse">
            <a:avLst/>
          </a:prstGeom>
          <a:solidFill>
            <a:srgbClr val="007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Neurolysis / Lysis of Adhesions</a:t>
            </a:r>
          </a:p>
        </p:txBody>
      </p:sp>
      <p:sp>
        <p:nvSpPr>
          <p:cNvPr id="12" name="Oval 11"/>
          <p:cNvSpPr/>
          <p:nvPr/>
        </p:nvSpPr>
        <p:spPr>
          <a:xfrm>
            <a:off x="4596000" y="2010000"/>
            <a:ext cx="900000" cy="380000"/>
          </a:xfrm>
          <a:prstGeom prst="ellipse">
            <a:avLst/>
          </a:prstGeom>
          <a:solidFill>
            <a:srgbClr val="D8D6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900" b="0">
                <a:solidFill>
                  <a:srgbClr val="585858"/>
                </a:solidFill>
              </a:rPr>
              <a:t>Proximal nerve</a:t>
            </a:r>
          </a:p>
        </p:txBody>
      </p:sp>
      <p:sp>
        <p:nvSpPr>
          <p:cNvPr id="13" name="Oval 12"/>
          <p:cNvSpPr/>
          <p:nvPr/>
        </p:nvSpPr>
        <p:spPr>
          <a:xfrm>
            <a:off x="6696000" y="2010000"/>
            <a:ext cx="900000" cy="380000"/>
          </a:xfrm>
          <a:prstGeom prst="ellipse">
            <a:avLst/>
          </a:prstGeom>
          <a:solidFill>
            <a:srgbClr val="D8D6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900" b="0">
                <a:solidFill>
                  <a:srgbClr val="585858"/>
                </a:solidFill>
              </a:rPr>
              <a:t>Distal nerve
(diaphragm)</a:t>
            </a:r>
          </a:p>
        </p:txBody>
      </p:sp>
      <p:sp>
        <p:nvSpPr>
          <p:cNvPr id="14" name="Oval 13"/>
          <p:cNvSpPr/>
          <p:nvPr/>
        </p:nvSpPr>
        <p:spPr>
          <a:xfrm>
            <a:off x="5646000" y="2060000"/>
            <a:ext cx="900000" cy="280000"/>
          </a:xfrm>
          <a:prstGeom prst="ellipse">
            <a:avLst/>
          </a:prstGeom>
          <a:solidFill>
            <a:srgbClr val="585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800" b="0">
                <a:solidFill>
                  <a:srgbClr val="FFFFFF"/>
                </a:solidFill>
              </a:rPr>
              <a:t>Scar/fibrosis
released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6000" y="2200000"/>
            <a:ext cx="0" cy="0"/>
          </a:xfrm>
          <a:prstGeom prst="line">
            <a:avLst/>
          </a:prstGeom>
          <a:ln w="19050">
            <a:solidFill>
              <a:srgbClr val="4E2A84"/>
            </a:solidFill>
            <a:headEnd type="arrow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096000" y="2200000"/>
            <a:ext cx="0" cy="0"/>
          </a:xfrm>
          <a:prstGeom prst="line">
            <a:avLst/>
          </a:prstGeom>
          <a:ln w="19050">
            <a:solidFill>
              <a:srgbClr val="4E2A84"/>
            </a:solidFill>
            <a:headEnd type="arrow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496000" y="2200000"/>
            <a:ext cx="1200000" cy="0"/>
          </a:xfrm>
          <a:prstGeom prst="line">
            <a:avLst/>
          </a:prstGeom>
          <a:ln w="25400">
            <a:solidFill>
              <a:srgbClr val="0074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396000" y="4090000"/>
            <a:ext cx="34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585858"/>
                </a:solidFill>
              </a:rPr>
              <a:t>External neurolysis of fibrotic
scar/adhesions compressing
an intact phrenic nerve
Best for compressive causes
(radiation fibrosis, cervical rib)</a:t>
            </a:r>
          </a:p>
        </p:txBody>
      </p:sp>
      <p:sp>
        <p:nvSpPr>
          <p:cNvPr id="19" name="Oval 18"/>
          <p:cNvSpPr/>
          <p:nvPr/>
        </p:nvSpPr>
        <p:spPr>
          <a:xfrm>
            <a:off x="8632000" y="1450000"/>
            <a:ext cx="3400000" cy="500000"/>
          </a:xfrm>
          <a:prstGeom prst="ellipse">
            <a:avLst/>
          </a:prstGeom>
          <a:solidFill>
            <a:srgbClr val="4E2A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Nerve Graft (Interposition Repair)</a:t>
            </a:r>
          </a:p>
        </p:txBody>
      </p:sp>
      <p:sp>
        <p:nvSpPr>
          <p:cNvPr id="20" name="Oval 19"/>
          <p:cNvSpPr/>
          <p:nvPr/>
        </p:nvSpPr>
        <p:spPr>
          <a:xfrm>
            <a:off x="8832000" y="2010000"/>
            <a:ext cx="900000" cy="380000"/>
          </a:xfrm>
          <a:prstGeom prst="ellipse">
            <a:avLst/>
          </a:prstGeom>
          <a:solidFill>
            <a:srgbClr val="D8D6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900" b="0">
                <a:solidFill>
                  <a:srgbClr val="585858"/>
                </a:solidFill>
              </a:rPr>
              <a:t>Proximal nerve</a:t>
            </a:r>
          </a:p>
        </p:txBody>
      </p:sp>
      <p:sp>
        <p:nvSpPr>
          <p:cNvPr id="21" name="Oval 20"/>
          <p:cNvSpPr/>
          <p:nvPr/>
        </p:nvSpPr>
        <p:spPr>
          <a:xfrm>
            <a:off x="10932000" y="2010000"/>
            <a:ext cx="900000" cy="380000"/>
          </a:xfrm>
          <a:prstGeom prst="ellipse">
            <a:avLst/>
          </a:prstGeom>
          <a:solidFill>
            <a:srgbClr val="D8D6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900" b="0">
                <a:solidFill>
                  <a:srgbClr val="585858"/>
                </a:solidFill>
              </a:rPr>
              <a:t>Distal nerve
(diaphragm)</a:t>
            </a:r>
          </a:p>
        </p:txBody>
      </p:sp>
      <p:sp>
        <p:nvSpPr>
          <p:cNvPr id="22" name="Oval 21"/>
          <p:cNvSpPr/>
          <p:nvPr/>
        </p:nvSpPr>
        <p:spPr>
          <a:xfrm>
            <a:off x="9832000" y="2010000"/>
            <a:ext cx="1000000" cy="380000"/>
          </a:xfrm>
          <a:prstGeom prst="ellipse">
            <a:avLst/>
          </a:prstGeom>
          <a:solidFill>
            <a:srgbClr val="007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800" b="0">
                <a:solidFill>
                  <a:srgbClr val="FFFFFF"/>
                </a:solidFill>
              </a:rPr>
              <a:t>Nerve graft
(sural)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732000" y="2200000"/>
            <a:ext cx="100000" cy="0"/>
          </a:xfrm>
          <a:prstGeom prst="line">
            <a:avLst/>
          </a:prstGeom>
          <a:ln w="19050">
            <a:solidFill>
              <a:srgbClr val="4E2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832000" y="2200000"/>
            <a:ext cx="100000" cy="0"/>
          </a:xfrm>
          <a:prstGeom prst="line">
            <a:avLst/>
          </a:prstGeom>
          <a:ln w="19050">
            <a:solidFill>
              <a:srgbClr val="4E2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632000" y="4090000"/>
            <a:ext cx="34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585858"/>
                </a:solidFill>
              </a:rPr>
              <a:t>Sural or other sensory nerve
bridges a gap between
proximal and distal stumps
Best within 6–12 months of
sharp/resection injury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Diaphragm Pacing (Phrenic Nerve / Diaphragm Stimulation)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Indications</a:t>
            </a:r>
          </a:p>
          <a:p>
            <a:pPr lvl="2"/>
            <a:r>
              <a:t>Cervical SCI (C1–C4) with intact lower motor neuron phrenic pathways</a:t>
            </a:r>
          </a:p>
          <a:p>
            <a:pPr lvl="2"/>
            <a:r>
              <a:t>CCHS (congenital central hypoventilation syndrome)</a:t>
            </a:r>
          </a:p>
          <a:p>
            <a:pPr lvl="2"/>
            <a:r>
              <a:t>ALS: FDA humanitarian device exemption; routine use NOT recommended (see VITALS trial)</a:t>
            </a:r>
          </a:p>
          <a:p>
            <a:pPr lvl="2"/>
            <a:r>
              <a:t>Prerequisite: intact phrenic nerve + viable diaphragm (confirmed by EMG/NCS)</a:t>
            </a:r>
          </a:p>
          <a:p>
            <a:pPr/>
            <a:r>
              <a:rPr b="1"/>
              <a:t>Systems</a:t>
            </a:r>
          </a:p>
          <a:p>
            <a:pPr lvl="2"/>
            <a:r>
              <a:t>NeuRx DPS (Synapse Biomedical): laparoscopic intramuscular electrodes — FDA-approved SCI/ALS</a:t>
            </a:r>
          </a:p>
          <a:p>
            <a:pPr lvl="2"/>
            <a:r>
              <a:t>Avery Biomedical: implanted electrodes around phrenic nerves in thorax</a:t>
            </a:r>
          </a:p>
          <a:p>
            <a:pPr/>
            <a:r>
              <a:rPr b="1"/>
              <a:t>Outcomes in SCI</a:t>
            </a:r>
          </a:p>
          <a:p>
            <a:pPr lvl="2"/>
            <a:r>
              <a:t>~80% achieve ventilator-free breathing &gt;4 h/day with appropriate conditioning</a:t>
            </a:r>
          </a:p>
          <a:p>
            <a:pPr lvl="2"/>
            <a:r>
              <a:t>Improved QOL: speech, smell, mobility; fewer pulmonary infections vs. PPV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Restoring ventilation through electrical stimulation — key role in SCI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pPr/>
            <a:r>
              <a:rPr b="1"/>
              <a:t>ALS Controversy — The VITALS Trial</a:t>
            </a:r>
          </a:p>
          <a:p>
            <a:pPr lvl="2"/>
            <a:r>
              <a:t>Randomized trial (n=74): diaphragm pacing did not improve survival</a:t>
            </a:r>
          </a:p>
          <a:p>
            <a:pPr lvl="2"/>
            <a:r>
              <a:t>Possible acceleration of decline in some patients</a:t>
            </a:r>
          </a:p>
          <a:p>
            <a:pPr lvl="2"/>
            <a:r>
              <a:t>Current consensus: do not offer diaphragm pacing routinely in ALS outside of clinical trial</a:t>
            </a:r>
          </a:p>
          <a:p>
            <a:pPr/>
            <a:r>
              <a:rPr b="1"/>
              <a:t>Patient Selection Criteria</a:t>
            </a:r>
          </a:p>
          <a:p>
            <a:pPr lvl="2"/>
            <a:r>
              <a:t>Phrenic CMAP present and &gt;20% of normal amplitude</a:t>
            </a:r>
          </a:p>
          <a:p>
            <a:pPr lvl="2"/>
            <a:r>
              <a:t>Diaphragm needle EMG: active MUPs present (not purely fibrillations)</a:t>
            </a:r>
          </a:p>
          <a:p>
            <a:pPr/>
            <a:r>
              <a:rPr b="1"/>
              <a:t>Phrenic Nerve Stimulation (PNS)</a:t>
            </a:r>
          </a:p>
          <a:p>
            <a:pPr lvl="2"/>
            <a:r>
              <a:t>Older thoracic approach; now largely replaced by laparoscopic DPS for new implants</a:t>
            </a:r>
          </a:p>
          <a:p>
            <a:pPr lvl="2"/>
            <a:r>
              <a:t>Transcutaneous stimulation: non-invasive; emerging for rehabilitation in SCI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Issues in Real Clinical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Delayed Diagnosis</a:t>
            </a:r>
          </a:p>
          <a:p>
            <a:pPr lvl="2"/>
            <a:r>
              <a:t>Mean time from symptom onset to diagnosis of Parsonage-Turner: &gt;6 months in most series</a:t>
            </a:r>
          </a:p>
          <a:p>
            <a:pPr lvl="2"/>
            <a:r>
              <a:t>Diaphragm dysfunction frequently misattributed to cardiac, pulmonary, or deconditioning</a:t>
            </a:r>
          </a:p>
          <a:p>
            <a:pPr lvl="2"/>
            <a:r>
              <a:t>Phrenic NCS/EMG rarely requested in initial dyspnea workup</a:t>
            </a:r>
          </a:p>
          <a:p>
            <a:pPr/>
            <a:r>
              <a:rPr b="1"/>
              <a:t>Lack of Standardized Workup Protocols</a:t>
            </a:r>
          </a:p>
          <a:p>
            <a:pPr lvl="2"/>
            <a:r>
              <a:t>No consensus on mandatory inclusion of sniff test, diaphragm ultrasound, or phrenic NCS</a:t>
            </a:r>
          </a:p>
          <a:p>
            <a:pPr lvl="2"/>
            <a:r>
              <a:t>Supine FVC — a simple, inexpensive test — is underutilized in clinical practice</a:t>
            </a:r>
          </a:p>
          <a:p>
            <a:pPr/>
            <a:r>
              <a:rPr b="1"/>
              <a:t>Multi-Specialty Gaps</a:t>
            </a:r>
          </a:p>
          <a:p>
            <a:pPr lvl="2"/>
            <a:r>
              <a:t>Patients may see cardiology, pulmonology, neurology, or thoracic surgery in isolation</a:t>
            </a:r>
          </a:p>
          <a:p>
            <a:pPr lvl="2"/>
            <a:r>
              <a:t>No established multidisciplinary pathway for diaphragm dysfunction in most institutions</a:t>
            </a:r>
          </a:p>
          <a:p>
            <a:pPr/>
            <a:r>
              <a:rPr b="1"/>
              <a:t>Surgical Expertise</a:t>
            </a:r>
          </a:p>
          <a:p>
            <a:pPr lvl="2"/>
            <a:r>
              <a:t>Diaphragm plication and phrenic nerve reconstruction performed at only a handful of centers</a:t>
            </a:r>
          </a:p>
          <a:p>
            <a:pPr lvl="2"/>
            <a:r>
              <a:t>Significant variability in technique and patient selection criteria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Barriers to Optimized Care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Provider Awareness</a:t>
            </a:r>
          </a:p>
          <a:p>
            <a:pPr lvl="2"/>
            <a:r>
              <a:t>Low awareness of phrenic-predominant PTS — often not in differential for unexplained dyspnea</a:t>
            </a:r>
          </a:p>
          <a:p>
            <a:pPr lvl="2"/>
            <a:r>
              <a:t>Phrenic NCS/EMG technically demanding; limited availability outside academic centers</a:t>
            </a:r>
          </a:p>
          <a:p>
            <a:pPr/>
            <a:r>
              <a:rPr b="1"/>
              <a:t>Patient-Level Barriers</a:t>
            </a:r>
          </a:p>
          <a:p>
            <a:pPr lvl="2"/>
            <a:r>
              <a:t>Symptoms often insidious — patients adapt gradually and delay presentation</a:t>
            </a:r>
          </a:p>
          <a:p>
            <a:pPr lvl="2"/>
            <a:r>
              <a:t>Orthopnea may be attributed to obesity, GERD, or anxiety</a:t>
            </a:r>
          </a:p>
          <a:p>
            <a:pPr/>
            <a:r>
              <a:rPr b="1"/>
              <a:t>Structural/System Barriers</a:t>
            </a:r>
          </a:p>
          <a:p>
            <a:pPr lvl="2"/>
            <a:r>
              <a:t>No ICD-10 billing code specifically for "phrenic neuropathy" — under-captured in administrative data</a:t>
            </a:r>
          </a:p>
          <a:p>
            <a:pPr lvl="2"/>
            <a:r>
              <a:t>Diaphragm pacing not covered by all payers for non-SCI indications</a:t>
            </a:r>
          </a:p>
          <a:p>
            <a:pPr lvl="2"/>
            <a:r>
              <a:t>Referral pathways to centers performing plication or nerve reconstruction are poorly defined</a:t>
            </a:r>
          </a:p>
          <a:p>
            <a:pPr/>
            <a:r>
              <a:rPr b="1"/>
              <a:t>Evidence Barriers</a:t>
            </a:r>
          </a:p>
          <a:p>
            <a:pPr lvl="2"/>
            <a:r>
              <a:t>No randomized trials for most interventions; decision-making relies on case series and registry data</a:t>
            </a:r>
          </a:p>
          <a:p>
            <a:pPr lvl="2"/>
            <a:r>
              <a:t>Lack of validated patient-reported outcome measures specific to diaphragm dysfunction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Gaps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Epidemiology</a:t>
            </a:r>
          </a:p>
          <a:p>
            <a:pPr lvl="2"/>
            <a:r>
              <a:t>True incidence of phrenic neuropathy from all causes is unknown — no population-level registry</a:t>
            </a:r>
          </a:p>
          <a:p>
            <a:pPr lvl="2"/>
            <a:r>
              <a:t>Natural history beyond 3 years poorly characterized for most etiologies</a:t>
            </a:r>
          </a:p>
          <a:p>
            <a:pPr/>
            <a:r>
              <a:rPr b="1"/>
              <a:t>Diagnostic Studies</a:t>
            </a:r>
          </a:p>
          <a:p>
            <a:pPr lvl="2"/>
            <a:r>
              <a:t>No validated clinical decision rule for when to perform phrenic NCS/EMG</a:t>
            </a:r>
          </a:p>
          <a:p>
            <a:pPr lvl="2"/>
            <a:r>
              <a:t>Optimal ultrasound thresholds and measurement protocols not standardized</a:t>
            </a:r>
          </a:p>
          <a:p>
            <a:pPr lvl="2"/>
            <a:r>
              <a:t>Comparative accuracy of sniff test vs. ultrasound vs. phrenic NCS not directly studied</a:t>
            </a:r>
          </a:p>
          <a:p>
            <a:pPr/>
            <a:r>
              <a:rPr b="1"/>
              <a:t>Interventional Evidence</a:t>
            </a:r>
          </a:p>
          <a:p>
            <a:pPr lvl="2"/>
            <a:r>
              <a:t>No RCT comparing plication vs. observation vs. nerve reconstruction</a:t>
            </a:r>
          </a:p>
          <a:p>
            <a:pPr lvl="2"/>
            <a:r>
              <a:t>Optimal timing of plication (12 vs. 18 vs. 24 months) not established</a:t>
            </a:r>
          </a:p>
          <a:p>
            <a:pPr lvl="2"/>
            <a:r>
              <a:t>No prospective data on phrenic nerve reconstruction outcomes beyond case series</a:t>
            </a:r>
          </a:p>
          <a:p>
            <a:pPr/>
            <a:r>
              <a:rPr b="1"/>
              <a:t>Emerging Areas</a:t>
            </a:r>
          </a:p>
          <a:p>
            <a:pPr lvl="2"/>
            <a:r>
              <a:t>Post-COVID phrenic neuropathy: prevalence, natural history, and treatment response unknown</a:t>
            </a:r>
          </a:p>
          <a:p>
            <a:pPr lvl="2"/>
            <a:r>
              <a:t>Role of IVIG in PTS: no adequately powered RCT</a:t>
            </a:r>
          </a:p>
          <a:p>
            <a:pPr lvl="2"/>
            <a:r>
              <a:t>Biomarkers of phrenic nerve regeneration: no validated serum or imaging markers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Our Group's Work Thus Far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>
                <a:solidFill>
                  <a:srgbClr val="585858"/>
                </a:solidFill>
              </a:rPr>
              <a:t>[To be completed by presenter]</a:t>
            </a:r>
          </a:p>
          <a:p>
            <a:pPr lvl="2"/>
            <a:r>
              <a:t>Institutional case series — number of patients, etiologies, procedures</a:t>
            </a:r>
          </a:p>
          <a:p>
            <a:pPr lvl="2"/>
            <a:r>
              <a:t>Outcomes data: FVC improvement after plication, recovery rates</a:t>
            </a:r>
          </a:p>
          <a:p>
            <a:pPr lvl="2"/>
            <a:r>
              <a:t>Any published or presented abstracts</a:t>
            </a:r>
          </a:p>
          <a:p>
            <a:pPr lvl="2"/>
            <a:r>
              <a:t>Collaborative or multi-institutional work</a:t>
            </a:r>
          </a:p>
          <a:p>
            <a:pPr lvl="2"/>
            <a:r>
              <a:t>Ongoing prospective studies or registry enrollment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Avenues and Current Research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Clinical &amp; Translational Priorities</a:t>
            </a:r>
          </a:p>
          <a:p>
            <a:pPr lvl="2"/>
            <a:r>
              <a:t>Prospective registry: standardized phenotyping, biobanking, and outcome tracking</a:t>
            </a:r>
          </a:p>
          <a:p>
            <a:pPr lvl="2"/>
            <a:r>
              <a:t>Multicenter RCT: plication vs. observation vs. nerve reconstruction with QOL endpoints</a:t>
            </a:r>
          </a:p>
          <a:p>
            <a:pPr lvl="2"/>
            <a:r>
              <a:t>Validated outcome measures: diaphragm-specific patient-reported outcomes instrument</a:t>
            </a:r>
          </a:p>
          <a:p>
            <a:pPr/>
            <a:r>
              <a:rPr b="1"/>
              <a:t>Emerging Technologies</a:t>
            </a:r>
          </a:p>
          <a:p>
            <a:pPr lvl="2"/>
            <a:r>
              <a:t>Transcutaneous phrenic stimulation for non-invasive rehabilitation in SCI/PTS</a:t>
            </a:r>
          </a:p>
          <a:p>
            <a:pPr lvl="2"/>
            <a:r>
              <a:t>Nerve conduits and scaffold-guided axonal regeneration for phrenic nerve reconstruction</a:t>
            </a:r>
          </a:p>
          <a:p>
            <a:pPr lvl="2"/>
            <a:r>
              <a:t>AI-assisted diaphragm ultrasound analysis for automated dysfunction detection</a:t>
            </a:r>
          </a:p>
          <a:p>
            <a:pPr/>
            <a:r>
              <a:rPr b="1"/>
              <a:t>Open Questions</a:t>
            </a:r>
          </a:p>
          <a:p>
            <a:pPr lvl="2"/>
            <a:r>
              <a:t>Can early IVIG alter the recovery trajectory in severe PTS?</a:t>
            </a:r>
          </a:p>
          <a:p>
            <a:pPr lvl="2"/>
            <a:r>
              <a:t>What is the optimal timing for nerve reconstruction vs. awaiting spontaneous recovery?</a:t>
            </a:r>
          </a:p>
          <a:p>
            <a:pPr lvl="2"/>
            <a:r>
              <a:t>Can biomarkers (NfL, CMAP amplitude decline rate) predict recovery in phrenic neuropathy?</a:t>
            </a:r>
          </a:p>
          <a:p>
            <a:pPr lvl="2"/>
            <a:r>
              <a:t>How significant is post-COVID phrenic neuropathy as a public health burden?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1  Know the full neural pathway</a:t>
            </a:r>
          </a:p>
          <a:p>
            <a:pPr lvl="2"/>
            <a:r>
              <a:t>Dysfunction can arise from cortex to muscle — the etiology determines the treatment</a:t>
            </a:r>
          </a:p>
          <a:p>
            <a:pPr/>
            <a:r>
              <a:rPr b="1"/>
              <a:t>2  Organize the differential by mechanism</a:t>
            </a:r>
          </a:p>
          <a:p>
            <a:pPr lvl="2"/>
            <a:r>
              <a:t>Neuromuscular vs. autoimmune/inflammatory vs. structural/physical</a:t>
            </a:r>
          </a:p>
          <a:p>
            <a:pPr lvl="2"/>
            <a:r>
              <a:t>Always ask about prior cardiac, thoracic, and cervical spine surgery (iatrogenic is #1)</a:t>
            </a:r>
          </a:p>
          <a:p>
            <a:pPr/>
            <a:r>
              <a:rPr b="1"/>
              <a:t>3  Use functional testing systematically</a:t>
            </a:r>
          </a:p>
          <a:p>
            <a:pPr lvl="2"/>
            <a:r>
              <a:t>Supine FVC drop, sniff test, diaphragm ultrasound, phrenic NCS/EMG</a:t>
            </a:r>
          </a:p>
          <a:p>
            <a:pPr/>
            <a:r>
              <a:rPr b="1"/>
              <a:t>4  Treat the cause; then optimize reserve</a:t>
            </a:r>
          </a:p>
          <a:p>
            <a:pPr lvl="2"/>
            <a:r>
              <a:t>NIV, pulmonary rehab, and airway clearance before surgical intervention</a:t>
            </a:r>
          </a:p>
          <a:p>
            <a:pPr/>
            <a:r>
              <a:rPr b="1"/>
              <a:t>5  Match the intervention to the patient</a:t>
            </a:r>
          </a:p>
          <a:p>
            <a:pPr lvl="2"/>
            <a:r>
              <a:t>Plication: unilateral, no expected recovery, symptoms limiting QOL</a:t>
            </a:r>
          </a:p>
          <a:p>
            <a:pPr lvl="2"/>
            <a:r>
              <a:t>Pacing: intact LMN (SCI); avoid in ALS outside trials</a:t>
            </a:r>
          </a:p>
          <a:p>
            <a:pPr lvl="2"/>
            <a:r>
              <a:t>Nerve reconstruction: early, within 6–12 months of injury</a:t>
            </a:r>
          </a:p>
          <a:p>
            <a:pPr/>
            <a:r>
              <a:rPr b="1"/>
              <a:t>6  Recognize the evidence gaps — they are substantial</a:t>
            </a:r>
          </a:p>
          <a:p>
            <a:pPr lvl="2"/>
            <a:r>
              <a:t>No RCTs; no standardized registries; emerging technologies need rigorous evaluation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A systematic approach to a diagnosis that is often delayed or missed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Selected 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2"/>
            <a:r>
              <a:rPr sz="900"/>
              <a:t>van Alfen N, van Engelen BG. Clinical spectrum of neuralgic amyotrophy. Brain. 2006;129:438-450.</a:t>
            </a:r>
          </a:p>
          <a:p>
            <a:pPr lvl="2"/>
            <a:r>
              <a:rPr sz="900"/>
              <a:t>Fogarty MJ, Mantilla CB, Sieck GC. Motor Control of Diaphragm Muscle. Physiology. 2018;33:113-126.</a:t>
            </a:r>
          </a:p>
          <a:p>
            <a:pPr lvl="2"/>
            <a:r>
              <a:rPr sz="900"/>
              <a:t>Gibson GJ. Diaphragmatic paresis: pathophysiology, clinical features. Thorax. 1989;44:960-970.</a:t>
            </a:r>
          </a:p>
          <a:p>
            <a:pPr lvl="2"/>
            <a:r>
              <a:rPr sz="900"/>
              <a:t>Laghi FA, Tobin MJ. Disorders of the respiratory muscles. Am J Respir Crit Care Med. 2003;168:10-48.</a:t>
            </a:r>
          </a:p>
          <a:p>
            <a:pPr lvl="2"/>
            <a:r>
              <a:rPr sz="900"/>
              <a:t>Dimopoulou I et al. Phrenic nerve dysfunction after cardiac operations. Chest. 1998;113:8-14.</a:t>
            </a:r>
          </a:p>
          <a:p>
            <a:pPr lvl="2"/>
            <a:r>
              <a:rPr sz="900"/>
              <a:t>Goligher EC et al. MV-induced Diaphragm Atrophy. Am J Respir Crit Care Med. 2018;197:204-213.</a:t>
            </a:r>
          </a:p>
          <a:p>
            <a:pPr lvl="2"/>
            <a:r>
              <a:rPr sz="900"/>
              <a:t>Demoule A et al. Diaphragm dysfunction on ICU admission. Intensive Care Med. 2013;39:1285-1294.</a:t>
            </a:r>
          </a:p>
          <a:p>
            <a:pPr lvl="2"/>
            <a:r>
              <a:rPr sz="900"/>
              <a:t>Higgs SM et al. Diaphragmatic plication for unilateral paralysis. J Heart Lung Transplant. 2002;21:1279-1285.</a:t>
            </a:r>
          </a:p>
          <a:p>
            <a:pPr lvl="2"/>
            <a:r>
              <a:rPr sz="900"/>
              <a:t>Wright CD et al. Diaphragm plication: 10-year experience. Ann Thorac Surg. 2012;94:925-929.</a:t>
            </a:r>
          </a:p>
          <a:p>
            <a:pPr lvl="2"/>
            <a:r>
              <a:rPr sz="900"/>
              <a:t>DiMarco AF. Phrenic nerve stimulation in SCI. Respir Physiol Neurobiol. 2009;169:200-209.</a:t>
            </a:r>
          </a:p>
          <a:p>
            <a:pPr lvl="2"/>
            <a:r>
              <a:rPr sz="900"/>
              <a:t>Gonzalez-Bermejo J et al. DiPALS (VITALS) trial. Lancet Neurol. 2016;15:565-574.</a:t>
            </a:r>
          </a:p>
          <a:p>
            <a:pPr lvl="2"/>
            <a:r>
              <a:rPr sz="900"/>
              <a:t>Kaufman MR et al. Nerve reconstruction for phrenic paralysis. Plast Reconstr Surg. 2014;134:570e-578e.</a:t>
            </a:r>
          </a:p>
          <a:p>
            <a:pPr lvl="2"/>
            <a:r>
              <a:rPr sz="900"/>
              <a:t>Bourke SC et al. NIV for ALS — RCT. Lancet Neurol. 2006;5:140-147.</a:t>
            </a:r>
          </a:p>
          <a:p>
            <a:pPr lvl="2"/>
            <a:r>
              <a:rPr sz="900"/>
              <a:t>Feldman JL et al. Breathing: rhythmicity. Annu Rev Neurosci. 2003;26:239-266.</a:t>
            </a:r>
          </a:p>
          <a:p>
            <a:pPr lvl="2"/>
            <a:r>
              <a:rPr sz="900"/>
              <a:t>Summerhill EM et al. Monitoring recovery with diaphragm ultrasound. Chest. 2008;133:737-743.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M-Presentation">
  <a:themeElements>
    <a:clrScheme name="Northwestern Medicine 1">
      <a:dk1>
        <a:srgbClr val="FFFFFF"/>
      </a:dk1>
      <a:lt1>
        <a:srgbClr val="342F2E"/>
      </a:lt1>
      <a:dk2>
        <a:srgbClr val="E3E0EE"/>
      </a:dk2>
      <a:lt2>
        <a:srgbClr val="4E2A83"/>
      </a:lt2>
      <a:accent1>
        <a:srgbClr val="401F68"/>
      </a:accent1>
      <a:accent2>
        <a:srgbClr val="EF553F"/>
      </a:accent2>
      <a:accent3>
        <a:srgbClr val="FFC520"/>
      </a:accent3>
      <a:accent4>
        <a:srgbClr val="008656"/>
      </a:accent4>
      <a:accent5>
        <a:srgbClr val="0D2C6C"/>
      </a:accent5>
      <a:accent6>
        <a:srgbClr val="5091CD"/>
      </a:accent6>
      <a:hlink>
        <a:srgbClr val="684C96"/>
      </a:hlink>
      <a:folHlink>
        <a:srgbClr val="836EAA"/>
      </a:folHlink>
    </a:clrScheme>
    <a:fontScheme name="TeleNeo">
      <a:majorFont>
        <a:latin typeface="Century Gothic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ptos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dirty="0" smtClean="0">
            <a:solidFill>
              <a:schemeClr val="bg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lnSpc>
            <a:spcPct val="113000"/>
          </a:lnSpc>
          <a:spcAft>
            <a:spcPts val="600"/>
          </a:spcAft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NM_PPT-Template_Wide_111324" id="{949B5D00-3376-3349-8530-55F0D4BFCCAA}" vid="{0D369564-6835-F043-9450-C4F874667DF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A4D0429FF8956469A6356D918DA543D" ma:contentTypeVersion="20" ma:contentTypeDescription="Create a new document." ma:contentTypeScope="" ma:versionID="5195404b8059da3abd36e7d3f69c1fa9">
  <xsd:schema xmlns:xsd="http://www.w3.org/2001/XMLSchema" xmlns:xs="http://www.w3.org/2001/XMLSchema" xmlns:p="http://schemas.microsoft.com/office/2006/metadata/properties" xmlns:ns1="http://schemas.microsoft.com/sharepoint/v3" xmlns:ns2="47e89a67-0b4f-4d33-93e8-1a0154062c6c" xmlns:ns3="5b63817d-15dc-41ca-af41-5ee9740cff01" targetNamespace="http://schemas.microsoft.com/office/2006/metadata/properties" ma:root="true" ma:fieldsID="0a4b9202e90b8cafffdbab64a2a689bd" ns1:_="" ns2:_="" ns3:_="">
    <xsd:import namespace="http://schemas.microsoft.com/sharepoint/v3"/>
    <xsd:import namespace="47e89a67-0b4f-4d33-93e8-1a0154062c6c"/>
    <xsd:import namespace="5b63817d-15dc-41ca-af41-5ee9740cff0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1:_ip_UnifiedCompliancePolicyProperties" minOccurs="0"/>
                <xsd:element ref="ns1:_ip_UnifiedCompliancePolicyUIActio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7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8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7e89a67-0b4f-4d33-93e8-1a0154062c6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LengthInSeconds" ma:index="22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4" nillable="true" ma:taxonomy="true" ma:internalName="lcf76f155ced4ddcb4097134ff3c332f" ma:taxonomyFieldName="MediaServiceImageTags" ma:displayName="Image Tags" ma:readOnly="false" ma:fieldId="{5cf76f15-5ced-4ddc-b409-7134ff3c332f}" ma:taxonomyMulti="true" ma:sspId="9e4503a0-b685-4c11-a324-e364750599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6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7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b63817d-15dc-41ca-af41-5ee9740cff01" elementFormDefault="qualified">
    <xsd:import namespace="http://schemas.microsoft.com/office/2006/documentManagement/types"/>
    <xsd:import namespace="http://schemas.microsoft.com/office/infopath/2007/PartnerControls"/>
    <xsd:element name="SharedWithUsers" ma:index="2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5" nillable="true" ma:displayName="Taxonomy Catch All Column" ma:hidden="true" ma:list="{24bce85b-888f-4922-8e6d-ad839441317c}" ma:internalName="TaxCatchAll" ma:showField="CatchAllData" ma:web="5b63817d-15dc-41ca-af41-5ee9740cff0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47e89a67-0b4f-4d33-93e8-1a0154062c6c">
      <Terms xmlns="http://schemas.microsoft.com/office/infopath/2007/PartnerControls"/>
    </lcf76f155ced4ddcb4097134ff3c332f>
    <TaxCatchAll xmlns="5b63817d-15dc-41ca-af41-5ee9740cff01" xsi:nil="true"/>
    <_ip_UnifiedCompliancePolicyUIAction xmlns="http://schemas.microsoft.com/sharepoint/v3" xsi:nil="true"/>
    <_ip_UnifiedCompliancePolicyProperties xmlns="http://schemas.microsoft.com/sharepoint/v3" xsi:nil="true"/>
  </documentManagement>
</p:properties>
</file>

<file path=customXml/itemProps1.xml><?xml version="1.0" encoding="utf-8"?>
<ds:datastoreItem xmlns:ds="http://schemas.openxmlformats.org/officeDocument/2006/customXml" ds:itemID="{2FEEA1A8-0B95-4DFC-8089-63D1B8162BB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47e89a67-0b4f-4d33-93e8-1a0154062c6c"/>
    <ds:schemaRef ds:uri="5b63817d-15dc-41ca-af41-5ee9740cff0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8D45B72-4870-4D43-9FD1-8DA4991D8B8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A0BB477-7D69-46ED-AADD-5A2C183C49F7}">
  <ds:schemaRefs>
    <ds:schemaRef ds:uri="http://schemas.microsoft.com/office/2006/metadata/properties"/>
    <ds:schemaRef ds:uri="http://schemas.microsoft.com/office/infopath/2007/PartnerControls"/>
    <ds:schemaRef ds:uri="47e89a67-0b4f-4d33-93e8-1a0154062c6c"/>
    <ds:schemaRef ds:uri="5b63817d-15dc-41ca-af41-5ee9740cff01"/>
    <ds:schemaRef ds:uri="http://schemas.microsoft.com/sharepoint/v3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NM-Presentation</Template>
  <TotalTime>22</TotalTime>
  <Words>1346</Words>
  <Application>Microsoft Macintosh PowerPoint</Application>
  <PresentationFormat>Widescreen</PresentationFormat>
  <Paragraphs>253</Paragraphs>
  <Slides>19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Aptos</vt:lpstr>
      <vt:lpstr>Aptos Light</vt:lpstr>
      <vt:lpstr>Arial</vt:lpstr>
      <vt:lpstr>Calibri</vt:lpstr>
      <vt:lpstr>Century Gothic</vt:lpstr>
      <vt:lpstr>NM-Presentation</vt:lpstr>
      <vt:lpstr>Title of the presentation</vt:lpstr>
      <vt:lpstr>Page headline goes here, can be up to two lines</vt:lpstr>
      <vt:lpstr>Page headline goes here</vt:lpstr>
      <vt:lpstr>Page headline goes here,  up to two lines</vt:lpstr>
      <vt:lpstr>Page head goes here, up to two lines</vt:lpstr>
      <vt:lpstr>Page headline goes here, up to two lines</vt:lpstr>
      <vt:lpstr>Page headline up to two lines</vt:lpstr>
      <vt:lpstr>Page headline goes here, up to two lines</vt:lpstr>
      <vt:lpstr>Page headline goes here, up to two lines</vt:lpstr>
      <vt:lpstr>Page headline goes here, up to two lines</vt:lpstr>
      <vt:lpstr>Page headline goes here, up to two lines</vt:lpstr>
      <vt:lpstr>Page headline goes here, up to two lines</vt:lpstr>
      <vt:lpstr>Page headline goes here, up to two lines</vt:lpstr>
      <vt:lpstr>Page headline goes here, up to two lines</vt:lpstr>
      <vt:lpstr>Page headline here, up to two lines</vt:lpstr>
      <vt:lpstr>Divider or Section</vt:lpstr>
      <vt:lpstr>Thank you</vt:lpstr>
      <vt:lpstr>Icons</vt:lpstr>
      <vt:lpstr>Icons, continued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Salinas, Veronika</dc:creator>
  <cp:lastModifiedBy>NM268919@nm.org</cp:lastModifiedBy>
  <cp:revision>6</cp:revision>
  <dcterms:created xsi:type="dcterms:W3CDTF">2024-11-13T20:30:43Z</dcterms:created>
  <dcterms:modified xsi:type="dcterms:W3CDTF">2026-02-22T23:48:40Z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1b86c14-7a6f-495c-8ad3-202986669410_Enabled">
    <vt:lpwstr>true</vt:lpwstr>
  </property>
  <property fmtid="{D5CDD505-2E9C-101B-9397-08002B2CF9AE}" pid="3" name="MSIP_Label_b1b86c14-7a6f-495c-8ad3-202986669410_SetDate">
    <vt:lpwstr>2024-11-13T20:33:01Z</vt:lpwstr>
  </property>
  <property fmtid="{D5CDD505-2E9C-101B-9397-08002B2CF9AE}" pid="4" name="MSIP_Label_b1b86c14-7a6f-495c-8ad3-202986669410_Method">
    <vt:lpwstr>Standard</vt:lpwstr>
  </property>
  <property fmtid="{D5CDD505-2E9C-101B-9397-08002B2CF9AE}" pid="5" name="MSIP_Label_b1b86c14-7a6f-495c-8ad3-202986669410_Name">
    <vt:lpwstr>Internal</vt:lpwstr>
  </property>
  <property fmtid="{D5CDD505-2E9C-101B-9397-08002B2CF9AE}" pid="6" name="MSIP_Label_b1b86c14-7a6f-495c-8ad3-202986669410_SiteId">
    <vt:lpwstr>2596038f-3ea4-4f0c-aed1-066eb6544c3b</vt:lpwstr>
  </property>
  <property fmtid="{D5CDD505-2E9C-101B-9397-08002B2CF9AE}" pid="7" name="MSIP_Label_b1b86c14-7a6f-495c-8ad3-202986669410_ActionId">
    <vt:lpwstr>61a8a19d-48d4-4d35-b2a0-981fa5979271</vt:lpwstr>
  </property>
  <property fmtid="{D5CDD505-2E9C-101B-9397-08002B2CF9AE}" pid="8" name="MSIP_Label_b1b86c14-7a6f-495c-8ad3-202986669410_ContentBits">
    <vt:lpwstr>0</vt:lpwstr>
  </property>
  <property fmtid="{D5CDD505-2E9C-101B-9397-08002B2CF9AE}" pid="9" name="ContentTypeId">
    <vt:lpwstr>0x0101003A4D0429FF8956469A6356D918DA543D</vt:lpwstr>
  </property>
  <property fmtid="{D5CDD505-2E9C-101B-9397-08002B2CF9AE}" pid="10" name="MediaServiceImageTags">
    <vt:lpwstr/>
  </property>
</Properties>
</file>